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1" r:id="rId25"/>
    <p:sldId id="282" r:id="rId26"/>
    <p:sldId id="283" r:id="rId27"/>
    <p:sldId id="284" r:id="rId28"/>
    <p:sldId id="280" r:id="rId29"/>
    <p:sldId id="285" r:id="rId30"/>
    <p:sldId id="286" r:id="rId31"/>
    <p:sldId id="287" r:id="rId32"/>
    <p:sldId id="294" r:id="rId33"/>
    <p:sldId id="288" r:id="rId34"/>
    <p:sldId id="289" r:id="rId35"/>
    <p:sldId id="290" r:id="rId36"/>
    <p:sldId id="297" r:id="rId37"/>
    <p:sldId id="296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66FBF87-6DF1-4B6C-AD15-80585057F163}">
          <p14:sldIdLst>
            <p14:sldId id="256"/>
            <p14:sldId id="257"/>
            <p14:sldId id="258"/>
            <p14:sldId id="259"/>
            <p14:sldId id="260"/>
          </p14:sldIdLst>
        </p14:section>
        <p14:section name="无标题节" id="{C811C6D8-3543-4BCF-AEBC-08918E18C5B0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81"/>
            <p14:sldId id="282"/>
            <p14:sldId id="283"/>
            <p14:sldId id="284"/>
            <p14:sldId id="280"/>
            <p14:sldId id="285"/>
            <p14:sldId id="286"/>
            <p14:sldId id="287"/>
            <p14:sldId id="294"/>
            <p14:sldId id="288"/>
            <p14:sldId id="289"/>
            <p14:sldId id="290"/>
            <p14:sldId id="297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32" autoAdjust="0"/>
    <p:restoredTop sz="63292" autoAdjust="0"/>
  </p:normalViewPr>
  <p:slideViewPr>
    <p:cSldViewPr snapToGrid="0" snapToObjects="1">
      <p:cViewPr varScale="1">
        <p:scale>
          <a:sx n="52" d="100"/>
          <a:sy n="52" d="100"/>
        </p:scale>
        <p:origin x="56" y="228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2893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正确答案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zh-CN" altLang="en-US" dirty="0"/>
            </a:br>
            <a:endParaRPr lang="zh-CN" altLang="en-US" dirty="0"/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题目解析</a:t>
            </a: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核心知识点</a:t>
            </a:r>
          </a:p>
          <a:p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UML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（统一建模语言）是一种为面向对象软件系统的开发设计的、标准化的可视化建模语言，核心服务于软件工程的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需求分析、系统设计阶段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，用于对软件系统的结构、行为、交互逻辑进行可视化表达、规范定义与文档化，是面向对象分析与设计（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OOA/OOD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）的核心工具。</a:t>
            </a: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选项逐一分析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选项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：编写底层的系统业务代码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错误。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UML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是建模语言，并非编程语言，无法直接编写业务代码。业务代码由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C++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等编程语言实现，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UML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仅能辅助代码设计，不能直接生成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编写可执行的业务代码。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选项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：进行数据库底层的性能调优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错误。数据库性能调优的核心是优化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语句、索引、数据库配置、存储结构等，和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UML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的核心能力无关。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UML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不具备数据库底层调优的功能，也不服务于该场景。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选项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：面向对象的软件系统分析与可视化设计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正确。这是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UML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在软件工程中的核心作用。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UML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通过用例图、类图、时序图、活动图等十余种标准化图形，可视化地表达系统的业务需求、静态结构、动态交互逻辑，支撑面向对象的软件系统从需求分析到架构设计、详细设计的全流程建模。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选项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：进行软件代码的自动化测试与集成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错误。软件自动化测试与集成，由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JUnit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Selenium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Postman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Jenkins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等专用工具实现。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UML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聚焦于软件设计阶段，不负责代码的测试、集成相关工作。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它是需求分析的起点，从用户的视角出发，描述系统能提供哪些功能，以及哪些外部实体会与系统交互 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它驱动着整个面向对象开发过程，后续的图表都将围绕用例展开 。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它的核心元素有三个：</a:t>
            </a:r>
            <a:endParaRPr lang="en-US" altLang="zh-CN" dirty="0"/>
          </a:p>
          <a:p>
            <a:r>
              <a:rPr lang="zh-CN" altLang="en-US" dirty="0"/>
              <a:t>参与者（</a:t>
            </a:r>
            <a:r>
              <a:rPr lang="en-US" altLang="zh-CN" dirty="0"/>
              <a:t>Actor</a:t>
            </a:r>
            <a:r>
              <a:rPr lang="zh-CN" altLang="en-US" dirty="0"/>
              <a:t>，系统外部交互的人或系统） </a:t>
            </a:r>
            <a:endParaRPr lang="en-US" altLang="zh-CN" dirty="0"/>
          </a:p>
          <a:p>
            <a:r>
              <a:rPr lang="zh-CN" altLang="en-US" dirty="0"/>
              <a:t>用例（系统提供的完整功能单元）</a:t>
            </a:r>
            <a:endParaRPr lang="en-US" altLang="zh-CN" dirty="0"/>
          </a:p>
          <a:p>
            <a:r>
              <a:rPr lang="zh-CN" altLang="en-US" dirty="0"/>
              <a:t>系统边界（包裹用例的方框，界定功能范围） 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包含关系 </a:t>
            </a:r>
            <a:r>
              <a:rPr lang="en-US" altLang="zh-CN" b="1" dirty="0"/>
              <a:t>(&lt;&lt;include&gt;&gt;)</a:t>
            </a:r>
            <a:r>
              <a:rPr lang="zh-CN" altLang="en-US" dirty="0"/>
              <a:t>：表示基用例必然执行的行为，常用于提取公共步骤，避免重复 。</a:t>
            </a:r>
          </a:p>
          <a:p>
            <a:r>
              <a:rPr lang="zh-CN" altLang="en-US" b="1" dirty="0"/>
              <a:t>扩展关系 </a:t>
            </a:r>
            <a:r>
              <a:rPr lang="en-US" altLang="zh-CN" b="1" dirty="0"/>
              <a:t>(&lt;&lt;extend&gt;&gt;)</a:t>
            </a:r>
            <a:r>
              <a:rPr lang="zh-CN" altLang="en-US" dirty="0"/>
              <a:t>：表示基用例在特定条件满足时才执行的附加行为 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/>
              <a:t>泛化关系</a:t>
            </a:r>
            <a:r>
              <a:rPr lang="zh-CN" altLang="en-US" dirty="0"/>
              <a:t>：代表一般与特殊的关系，类似于面向对象中的继承，可用于参与者之间或用例之间 。</a:t>
            </a:r>
          </a:p>
          <a:p>
            <a:endParaRPr lang="en-US" altLang="zh-CN" dirty="0"/>
          </a:p>
          <a:p>
            <a:r>
              <a:rPr lang="zh-CN" altLang="en-US" dirty="0"/>
              <a:t>电商平台系统：</a:t>
            </a:r>
            <a:br>
              <a:rPr lang="en-US" dirty="0"/>
            </a:br>
            <a:r>
              <a:rPr lang="zh-CN" altLang="en-US" dirty="0"/>
              <a:t>父参与者（抽象 </a:t>
            </a:r>
            <a:r>
              <a:rPr lang="en-US" altLang="zh-CN" dirty="0"/>
              <a:t>/ </a:t>
            </a:r>
            <a:r>
              <a:rPr lang="zh-CN" altLang="en-US" dirty="0"/>
              <a:t>通用）：平台注册用户</a:t>
            </a:r>
            <a:br>
              <a:rPr lang="en-US" altLang="zh-CN" dirty="0"/>
            </a:br>
            <a:r>
              <a:rPr lang="zh-CN" altLang="en-US" dirty="0"/>
              <a:t>子参与者（具体 </a:t>
            </a:r>
            <a:r>
              <a:rPr lang="en-US" altLang="zh-CN" dirty="0"/>
              <a:t>/ </a:t>
            </a:r>
            <a:r>
              <a:rPr lang="zh-CN" altLang="en-US" dirty="0"/>
              <a:t>特殊）：普通买家、</a:t>
            </a:r>
            <a:r>
              <a:rPr lang="en-US" altLang="zh-CN" dirty="0"/>
              <a:t>VIP </a:t>
            </a:r>
            <a:r>
              <a:rPr lang="zh-CN" altLang="en-US" dirty="0"/>
              <a:t>会员买家、入驻商家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父用例（抽象 </a:t>
            </a:r>
            <a:r>
              <a:rPr lang="en-US" altLang="zh-CN" dirty="0"/>
              <a:t>/ </a:t>
            </a:r>
            <a:r>
              <a:rPr lang="zh-CN" altLang="en-US" dirty="0"/>
              <a:t>通用）：订单支付</a:t>
            </a:r>
            <a:br>
              <a:rPr lang="en-US" altLang="zh-CN" dirty="0"/>
            </a:br>
            <a:r>
              <a:rPr lang="zh-CN" altLang="en-US" dirty="0"/>
              <a:t>子用例（具体 </a:t>
            </a:r>
            <a:r>
              <a:rPr lang="en-US" altLang="zh-CN" dirty="0"/>
              <a:t>/ </a:t>
            </a:r>
            <a:r>
              <a:rPr lang="zh-CN" altLang="en-US" dirty="0"/>
              <a:t>特殊）：微信支付、支付宝支付、银行卡快捷支付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正确答案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包含关系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(&lt;&lt;include&gt;&gt;)</a:t>
            </a:r>
            <a:b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分析：</a:t>
            </a:r>
            <a:endParaRPr lang="en-US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扩展关系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(&lt;&lt;extend&gt;&gt;)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错误。扩展关系是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可选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的，基础用例（用户登录）执行时，不一定会触发扩展用例，和题目中 “必定会调用” 的强制要求完全相反。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包含关系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(&lt;&lt;include&gt;&gt;)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正确。题目中明确：「用户登录」执行时，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系统必定会调用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「记录登录日志」，说明记录日志是登录用例完成的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必要、必选步骤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，完全符合包含关系的定义。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泛化关系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(Generalization)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错误。泛化是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is-a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继承关系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，要求两个用例是 “通用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特殊” 的同类事物（比如「订单支付」和「微信支付」），而「用户登录」和「记录登录日志」是主流程与子步骤的关系，不是继承关系。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关联关系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(Association)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错误。关联关系仅用于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参与者（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Actor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）和用例（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Case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）之间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，描述谁能触发用例，不能用于两个用例之间的关系。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类图是面向对象建模中最核心的图表，构成了系统的静态结构骨架 。</a:t>
            </a:r>
            <a:br>
              <a:rPr lang="en-US" altLang="zh-CN" dirty="0"/>
            </a:br>
            <a:endParaRPr lang="zh-CN" altLang="en-US" dirty="0"/>
          </a:p>
          <a:p>
            <a:r>
              <a:rPr lang="zh-CN" altLang="en-US" dirty="0"/>
              <a:t>开发人员通常直接根据类图来搭建代码的框架结构 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类分为三层：顶层是类名，中层是属性，底层是方法 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属性与方法有不同的可见性：</a:t>
            </a:r>
            <a:br>
              <a:rPr lang="en-US" altLang="zh-CN" dirty="0"/>
            </a:br>
            <a:r>
              <a:rPr lang="en-US" altLang="zh-CN" dirty="0"/>
              <a:t>Public</a:t>
            </a:r>
            <a:r>
              <a:rPr lang="zh-CN" altLang="en-US" dirty="0"/>
              <a:t>公有（任何外部可访问）</a:t>
            </a:r>
            <a:br>
              <a:rPr lang="en-US" altLang="zh-CN" dirty="0"/>
            </a:br>
            <a:r>
              <a:rPr lang="en-US" altLang="zh-CN" dirty="0"/>
              <a:t>Private</a:t>
            </a:r>
            <a:r>
              <a:rPr lang="zh-CN" altLang="en-US" dirty="0"/>
              <a:t>私有（仅类自身可访问）</a:t>
            </a:r>
            <a:endParaRPr lang="en-US" altLang="zh-CN" dirty="0"/>
          </a:p>
          <a:p>
            <a:r>
              <a:rPr lang="en-US" altLang="zh-CN" dirty="0"/>
              <a:t>Protected</a:t>
            </a:r>
            <a:r>
              <a:rPr lang="zh-CN" altLang="en-US" dirty="0"/>
              <a:t>受保护（本类及子类可访问）</a:t>
            </a:r>
            <a:endParaRPr lang="en-US" altLang="zh-CN" dirty="0"/>
          </a:p>
          <a:p>
            <a:r>
              <a:rPr lang="en-US" altLang="zh-CN" dirty="0"/>
              <a:t>Package</a:t>
            </a:r>
            <a:r>
              <a:rPr lang="zh-CN" altLang="en-US" dirty="0"/>
              <a:t>包内可见 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类图的核心关系：</a:t>
            </a:r>
            <a:endParaRPr lang="en-US" altLang="zh-CN" dirty="0"/>
          </a:p>
          <a:p>
            <a:r>
              <a:rPr lang="zh-CN" altLang="en-US" dirty="0"/>
              <a:t>泛化（继承）、实现（实现接口）、关联、依赖 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类图的核心关系：</a:t>
            </a:r>
            <a:endParaRPr lang="en-US" altLang="zh-CN" dirty="0"/>
          </a:p>
          <a:p>
            <a:r>
              <a:rPr lang="zh-CN" altLang="en-US" dirty="0"/>
              <a:t>泛化（继承）、实现（实现接口）、关联、依赖 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聚合（</a:t>
            </a:r>
            <a:r>
              <a:rPr lang="en-US" altLang="zh-CN" dirty="0"/>
              <a:t>Aggregation</a:t>
            </a:r>
            <a:r>
              <a:rPr lang="zh-CN" altLang="en-US" dirty="0"/>
              <a:t>）和组合（</a:t>
            </a:r>
            <a:r>
              <a:rPr lang="en-US" altLang="zh-CN" dirty="0"/>
              <a:t>Composition</a:t>
            </a:r>
            <a:r>
              <a:rPr lang="zh-CN" altLang="en-US" dirty="0"/>
              <a:t>）都是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关联关系的特殊形式</a:t>
            </a:r>
            <a:r>
              <a:rPr lang="zh-CN" altLang="en-US" dirty="0"/>
              <a:t>，都用来描述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整体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部分（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whole-part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）的结构关系，核心区别在于「部分」对「整体」的依赖程度（生命周期是否绑定）</a:t>
            </a:r>
            <a:r>
              <a:rPr lang="zh-CN" altLang="en-US" dirty="0"/>
              <a:t>。</a:t>
            </a:r>
            <a:b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关联关系中包含两种特殊的“整体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部分”关系：</a:t>
            </a:r>
            <a:b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聚合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：部分可以脱离整体独立存在，比如汽车与轮胎 。</a:t>
            </a:r>
          </a:p>
          <a:p>
            <a:b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组合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：整体控制部分的生命周期，整体毁灭，部分也毁灭，比如公司与部门 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正确答案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组合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(Composition)</a:t>
            </a:r>
          </a:p>
          <a:p>
            <a:endParaRPr lang="en-US" altLang="zh-CN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整体与部分的关系</a:t>
            </a:r>
            <a:r>
              <a:rPr lang="zh-CN" altLang="en-US" dirty="0"/>
              <a:t>：明确了这是类之间的 **</a:t>
            </a:r>
            <a:r>
              <a:rPr lang="en-US" altLang="zh-CN" dirty="0"/>
              <a:t>whole-part</a:t>
            </a:r>
            <a:r>
              <a:rPr lang="zh-CN" altLang="en-US" dirty="0"/>
              <a:t>（整体 </a:t>
            </a:r>
            <a:r>
              <a:rPr lang="en-US" altLang="zh-CN" dirty="0"/>
              <a:t>- </a:t>
            </a:r>
            <a:r>
              <a:rPr lang="zh-CN" altLang="en-US" dirty="0"/>
              <a:t>部分）** 结构，排除了泛化和依赖。 </a:t>
            </a:r>
            <a:endParaRPr lang="en-US" altLang="zh-CN" dirty="0"/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删除订单，明细行必须随之删除</a:t>
            </a:r>
            <a:r>
              <a:rPr lang="zh-CN" altLang="en-US" dirty="0"/>
              <a:t>：这描述了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强生命周期绑定</a:t>
            </a:r>
            <a:r>
              <a:rPr lang="zh-CN" altLang="en-US" dirty="0"/>
              <a:t>的特性。即 “部分”（订单项）完全依赖于 “整体”（订单），如果整体不存在，部分就失去了独立存在的意义，必须随整体销毁而销毁。</a:t>
            </a:r>
            <a:endParaRPr lang="en-US" altLang="zh-CN" dirty="0"/>
          </a:p>
          <a:p>
            <a:endParaRPr lang="en-US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泛化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(Generalization)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错误。泛化是 **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is-a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（是一种）** 的继承关系（例如：“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VIP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订单” 是 “订单” 的一种），而非整体与部分的包含关系。</a:t>
            </a:r>
            <a:endParaRPr lang="en-US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聚合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(Aggregation)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错误。聚合是 ** 弱拥有（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has-a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）** 的关系。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特征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：整体与部分可分离。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反例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：如果是聚合，删除订单后，订单项可以独立存在或者被转移到其他订单下。这不符合 “必须随之删除” 的强约束。</a:t>
            </a:r>
          </a:p>
          <a:p>
            <a:endParaRPr lang="en-US" altLang="zh-CN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组合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(Composition)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正确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。组合是 ** 强拥有（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contains-a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）** 的关系。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特征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：整体与部分不可分离，生命周期严格一致。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应用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：在订单系统中，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订单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是整体，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订单项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是细节。没有订单就没有订单项，删除订单必然要删除订单项，这是典型的组合关系。</a:t>
            </a:r>
          </a:p>
          <a:p>
            <a:endParaRPr lang="en-US" altLang="zh-CN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依赖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(Dependency)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错误。依赖是 **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use-a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（使用）** 的临时关系。</a:t>
            </a:r>
            <a:b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dirty="0"/>
              <a:t>一个类（使用者）在运行时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临时使用</a:t>
            </a:r>
            <a:r>
              <a:rPr lang="zh-CN" altLang="en-US" dirty="0"/>
              <a:t>另一个类（被使用者）的功能 </a:t>
            </a:r>
            <a:r>
              <a:rPr lang="en-US" altLang="zh-CN" dirty="0"/>
              <a:t>/ </a:t>
            </a:r>
            <a:r>
              <a:rPr lang="zh-CN" altLang="en-US" dirty="0"/>
              <a:t>服务；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特征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：一个类的变化会影响另一个类（例如订单调用了支付服务）。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区别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：依赖通常不代表物理上的包含结构，而题目明确是物理上的整体部分结构。</a:t>
            </a:r>
            <a:endParaRPr lang="en-US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生活化场景：</a:t>
            </a:r>
            <a:b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司机 ↔ 汽车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使用者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Driver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（司机类）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被使用者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（汽车类）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逻辑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endParaRPr lang="en-US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司机开车时临时使用汽车，汽车不是司机的一部分；</a:t>
            </a:r>
            <a:endParaRPr lang="en-US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汽车坏了（被使用者变化），司机就无法开车（使用者受影响）；</a:t>
            </a:r>
            <a:endParaRPr lang="en-US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司机换车，不影响司机的存在；汽车报废，司机依然存在。</a:t>
            </a:r>
          </a:p>
          <a:p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它展示了特定对象在其生命周期中经历的各种状态，以及引起状态转换的事件 。</a:t>
            </a:r>
            <a:br>
              <a:rPr lang="en-US" altLang="zh-CN" dirty="0"/>
            </a:br>
            <a:endParaRPr lang="zh-CN" altLang="en-US" dirty="0"/>
          </a:p>
          <a:p>
            <a:r>
              <a:rPr lang="zh-CN" altLang="en-US" dirty="0"/>
              <a:t>它非常适合用来描述复杂业务对象的行为逻辑，比如订单状态或审批流 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状态之间的转换由三个要素构成：触发条件（事件）、布尔表达式（监护条件）和执行的操作（动作） 。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业务对象（如报销单、订单、贷款申请）从「待审核」到「已批准」的状态流转规则：</a:t>
            </a:r>
            <a:br>
              <a:rPr lang="en-US" altLang="zh-CN" dirty="0"/>
            </a:br>
            <a:r>
              <a:rPr lang="zh-CN" altLang="en-US" dirty="0"/>
              <a:t>事件：</a:t>
            </a:r>
            <a:r>
              <a:rPr lang="en-US" altLang="zh-CN" dirty="0"/>
              <a:t>approve</a:t>
            </a:r>
            <a:r>
              <a:rPr lang="zh-CN" altLang="en-US" dirty="0"/>
              <a:t>（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触发状态转移的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触发动作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：审批人执行「批准」操作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监护条件：</a:t>
            </a:r>
            <a:r>
              <a:rPr lang="en-US" altLang="zh-CN" dirty="0"/>
              <a:t>[</a:t>
            </a:r>
            <a:r>
              <a:rPr lang="zh-CN" altLang="en-US" dirty="0"/>
              <a:t>额度足够</a:t>
            </a:r>
            <a:r>
              <a:rPr lang="en-US" altLang="zh-CN" dirty="0"/>
              <a:t>]</a:t>
            </a:r>
            <a:r>
              <a:rPr lang="zh-CN" altLang="en-US" dirty="0"/>
              <a:t>（转移的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前置约束条件</a:t>
            </a:r>
            <a:r>
              <a:rPr lang="zh-CN" altLang="en-US" dirty="0"/>
              <a:t>：只有满足「额度足够」，才会执行转移；若不满足（如额度不足），即使执行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approve</a:t>
            </a:r>
            <a:r>
              <a:rPr lang="zh-CN" altLang="en-US" dirty="0"/>
              <a:t>操作，状态也不会变更）</a:t>
            </a:r>
            <a:endParaRPr lang="en-US" altLang="zh-CN" dirty="0"/>
          </a:p>
          <a:p>
            <a:r>
              <a:rPr lang="zh-CN" altLang="en-US" dirty="0"/>
              <a:t>动作：</a:t>
            </a:r>
            <a:r>
              <a:rPr lang="en-US" altLang="zh-CN" dirty="0"/>
              <a:t>/ </a:t>
            </a:r>
            <a:r>
              <a:rPr lang="zh-CN" altLang="en-US" dirty="0"/>
              <a:t>记账（转移过程中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同步执行的操作</a:t>
            </a:r>
            <a:r>
              <a:rPr lang="zh-CN" altLang="en-US" dirty="0"/>
              <a:t>：状态切换的同时，系统自动执行「记账」动作（如扣减预算、生成财务凭证））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顺序图</a:t>
            </a:r>
            <a:r>
              <a:rPr lang="zh-CN" altLang="en-US" dirty="0"/>
              <a:t>从时间的维度展示对象如何交互 。</a:t>
            </a:r>
            <a:br>
              <a:rPr lang="en-US" altLang="zh-CN" dirty="0"/>
            </a:br>
            <a:endParaRPr lang="en-US" altLang="zh-CN" dirty="0"/>
          </a:p>
          <a:p>
            <a:r>
              <a:rPr lang="zh-CN" altLang="en-US" dirty="0"/>
              <a:t>它强调消息发送和接收的时间顺序，是程序运行时的动态执行流程图 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其核心元素包括对象、生命线和激活矩形块 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消息类型分为同步消息、异步消息和返回消息 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正确答案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顺序图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(Sequence Diagram)</a:t>
            </a:r>
            <a:endParaRPr lang="en-US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dirty="0"/>
            </a:b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用例图</a:t>
            </a:r>
            <a:endParaRPr lang="zh-CN" altLang="en-US" dirty="0"/>
          </a:p>
          <a:p>
            <a:r>
              <a:rPr lang="zh-CN" altLang="en-US" dirty="0"/>
              <a:t>错误。用例图主要描述系统 “应该提供什么功能”，以及谁使用这些功能。它无法展示具体对象内部的方法调用时序。 </a:t>
            </a:r>
            <a:br>
              <a:rPr lang="en-US" altLang="zh-CN" dirty="0"/>
            </a:br>
            <a:endParaRPr lang="en-US" altLang="zh-CN" dirty="0"/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状态图</a:t>
            </a:r>
            <a:endParaRPr lang="zh-CN" altLang="en-US" dirty="0"/>
          </a:p>
          <a:p>
            <a:r>
              <a:rPr lang="zh-CN" altLang="en-US" dirty="0"/>
              <a:t>错误。状态图描述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单个对象</a:t>
            </a:r>
            <a:r>
              <a:rPr lang="zh-CN" altLang="en-US" dirty="0"/>
              <a:t>在生命周期内的状态变化（比如订单的：待付款→已付款→已发货）。题目要求的是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多个对象</a:t>
            </a:r>
            <a:r>
              <a:rPr lang="zh-CN" altLang="en-US" dirty="0"/>
              <a:t>之间的交互流程，且重点是时间顺序，而非状态流转。 </a:t>
            </a:r>
            <a:endParaRPr lang="en-US" altLang="zh-CN" dirty="0"/>
          </a:p>
          <a:p>
            <a:endParaRPr lang="en-US" altLang="zh-CN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顺序图</a:t>
            </a:r>
            <a:endParaRPr lang="zh-CN" altLang="en-US" dirty="0"/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正确</a:t>
            </a:r>
            <a:r>
              <a:rPr lang="zh-CN" altLang="en-US" dirty="0"/>
              <a:t>。题目明确要求 “强调各个对象之间发送消息的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先后时间顺序</a:t>
            </a:r>
            <a:r>
              <a:rPr lang="zh-CN" altLang="en-US" dirty="0"/>
              <a:t>”，这正是顺序图的核心定位。顺序图通过垂直的时间轴和水平的对象轴，直观展示了前端界面、购物车类、支付网关等对象之间的交互时序。 </a:t>
            </a:r>
            <a:endParaRPr lang="en-US" altLang="zh-CN" dirty="0"/>
          </a:p>
          <a:p>
            <a:endParaRPr lang="en-US" altLang="zh-CN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部署图</a:t>
            </a:r>
            <a:endParaRPr lang="zh-CN" altLang="en-US" dirty="0"/>
          </a:p>
          <a:p>
            <a:r>
              <a:rPr lang="zh-CN" altLang="en-US" dirty="0"/>
              <a:t>错误。部署图描述的是软件系统在硬件环境（服务器、数据库、设备）上的部署拓扑结构，与对象交互的时间顺序无关。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前面的图都在讨论软件逻辑，而部署图描述的是物理架构的蓝图，即系统运行时的物理硬件拓扑结构 。</a:t>
            </a:r>
            <a:br>
              <a:rPr lang="en-US" altLang="zh-CN" dirty="0"/>
            </a:br>
            <a:endParaRPr lang="zh-CN" altLang="en-US" dirty="0"/>
          </a:p>
          <a:p>
            <a:r>
              <a:rPr lang="zh-CN" altLang="en-US" dirty="0"/>
              <a:t>它展示了软件组件如何分配和安装到具体的物理设备上，是架构师与运维工程师沟通的重要工具 。</a:t>
            </a:r>
          </a:p>
          <a:p>
            <a:endParaRPr lang="en-US" dirty="0"/>
          </a:p>
          <a:p>
            <a:r>
              <a:rPr lang="zh-CN" altLang="en-US"/>
              <a:t>核心元素包括：节点（代表物理设备或执行环境）、组件（软件的物理存在形式）以及通信路径 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顺序图：时间维度的 “流程图”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本质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：用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垂直生命线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代表对象的生命周期，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水平消息箭头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代表调用，时间轴从上到下严格递增，完美解决 “先做什么、后做什么” 的问题。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优势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</a:p>
          <a:p>
            <a:pPr lvl="1"/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时序清晰，即使是嵌套调用、异步消息也能直观展示；</a:t>
            </a:r>
          </a:p>
          <a:p>
            <a:pPr lvl="1"/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适合复杂业务流程的详细设计，是开发中最常用的交互图。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局限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：无法直观体现对象间的整体连接关系，难以快速评估耦合度。</a:t>
            </a:r>
            <a:b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协作图（通信图）：空间维度的 “关系图”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本质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：用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自由布局的节点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代表对象，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带数字序号的箭头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代表消息，核心是展示 “谁和谁交互”，而非 “什么时候交互”。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优势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</a:p>
          <a:p>
            <a:pPr lvl="1"/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能一眼看出哪个对象是系统的核心（被多个对象依赖），哪个对象是边缘节点；</a:t>
            </a:r>
          </a:p>
          <a:p>
            <a:pPr lvl="1"/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适合架构设计阶段的耦合度评估、系统结构梳理。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局限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：时序可读性差，步骤多的场景容易混乱，不适合复杂流程。</a:t>
            </a:r>
          </a:p>
          <a:p>
            <a:b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顺序图和协作图是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语义等价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的：</a:t>
            </a: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它们描述的是同一组对象间的同一套交互逻辑，只是展示视角不同；</a:t>
            </a: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几乎所有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UML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建模工具都支持一键互相转换，不会丢失信息。</a:t>
            </a:r>
            <a:b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回到上一题的 “网上结账” 场景：</a:t>
            </a: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需求是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强调对象间消息的先后时间顺序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，因此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顺序图是唯一正确选择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协作图更适合在结账流程设计完成后，用于评估前端、购物车、支付网关等对象的耦合度，优化架构。</a:t>
            </a:r>
          </a:p>
          <a:p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正确答案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对象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zh-CN" altLang="en-US" dirty="0"/>
            </a:br>
            <a:endParaRPr lang="zh-CN" altLang="en-US" dirty="0"/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题目解析</a:t>
            </a: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核心知识点</a:t>
            </a: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协作图（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Collaboration Diagram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UML 2.0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后更名为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通信图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）的核心作用是描述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交互中对象之间的连接关系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及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对象间传递的消息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b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对象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(Object)</a:t>
            </a:r>
            <a:b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表示参与交互的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实体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实例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，是协作图的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主体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，也是表示 “参与交互实体” 的最核心元素。（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核心主体）</a:t>
            </a:r>
            <a:b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zh-CN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链接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(Link)</a:t>
            </a: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链接表示对象之间的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关联关系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（连接路径），是消息传递的通道。（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交互载体）</a:t>
            </a:r>
            <a:endParaRPr lang="en-US" altLang="zh-CN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消息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(Message)</a:t>
            </a: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消息表示对象之间传递的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信息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调用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，是交互的具体内容。（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交互内容）</a:t>
            </a:r>
            <a:endParaRPr lang="en-US" altLang="zh-CN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序号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(Number)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endParaRPr lang="en-US" altLang="zh-CN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序号表示消息的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执行顺序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，是协作图表达时序的辅助手段。（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顺序标识）</a:t>
            </a:r>
            <a:b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链接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(Link)</a:t>
            </a:r>
            <a:endParaRPr lang="zh-CN" altLang="en-US" dirty="0"/>
          </a:p>
          <a:p>
            <a:r>
              <a:rPr lang="zh-CN" altLang="en-US" dirty="0"/>
              <a:t>错误。链接是对象之间的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连接关系</a:t>
            </a:r>
            <a:r>
              <a:rPr lang="zh-CN" altLang="en-US" dirty="0"/>
              <a:t>（路径），用于承载消息传递。它是交互的 “基础设施”，而非表示 “参与交互的实体” 本身。 </a:t>
            </a:r>
            <a:endParaRPr lang="en-US" altLang="zh-CN" dirty="0"/>
          </a:p>
          <a:p>
            <a:endParaRPr lang="en-US" altLang="zh-CN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对象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(Object)</a:t>
            </a:r>
            <a:endParaRPr lang="zh-CN" altLang="en-US" dirty="0"/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正确</a:t>
            </a:r>
            <a:r>
              <a:rPr lang="zh-CN" altLang="en-US" dirty="0"/>
              <a:t>。协作图的核心就是展示 “哪些实体参与了交互”。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对象</a:t>
            </a:r>
            <a:r>
              <a:rPr lang="zh-CN" altLang="en-US" dirty="0"/>
              <a:t>是构成交互的核心实体，所有的交互逻辑都围绕对象展开，因此它是表示参与交互实体的核心元素。 </a:t>
            </a:r>
            <a:endParaRPr lang="en-US" altLang="zh-CN" dirty="0"/>
          </a:p>
          <a:p>
            <a:endParaRPr lang="en-US" altLang="zh-CN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消息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(Message)</a:t>
            </a:r>
            <a:endParaRPr lang="zh-CN" altLang="en-US" dirty="0"/>
          </a:p>
          <a:p>
            <a:r>
              <a:rPr lang="zh-CN" altLang="en-US" dirty="0"/>
              <a:t>错误。消息描述的是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对象之间传递了什么</a:t>
            </a:r>
            <a:r>
              <a:rPr lang="zh-CN" altLang="en-US" dirty="0"/>
              <a:t>，而非 “谁在参与交互”。消息是依赖于对象和链接存在的交互内容。 </a:t>
            </a:r>
            <a:endParaRPr lang="en-US" altLang="zh-CN" dirty="0"/>
          </a:p>
          <a:p>
            <a:endParaRPr lang="en-US" altLang="zh-CN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序号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序号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zh-CN" altLang="en-US" dirty="0"/>
          </a:p>
          <a:p>
            <a:r>
              <a:rPr lang="zh-CN" altLang="en-US" dirty="0"/>
              <a:t>错误。序号是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辅助</a:t>
            </a:r>
            <a:r>
              <a:rPr lang="zh-CN" altLang="en-US" dirty="0"/>
              <a:t>元素，用于标记消息的先后顺序。它不能作为表示交互实体的核心元素。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17A7E-101E-BF18-1864-18379B70B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31C3D4-62CC-BF92-A936-D36E46301D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5B9EBC-9FF7-A28B-4929-12DF62DFD8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0AE175-2839-CBB8-1954-A3637831F7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11738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C0C30-C433-32F1-B4FC-C5936E4E2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5149FF-47BF-6429-5262-5128A70891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C4846C-4084-9125-8EE2-3EB435851B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1D7B2-3DD3-4A34-A28A-763B38B5AB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4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CAA0"/>
          </a:solidFill>
          <a:ln w="12700">
            <a:solidFill>
              <a:srgbClr val="11CA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835640" y="6446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/ 40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055"/>
          </a:solidFill>
          <a:ln w="12700">
            <a:solidFill>
              <a:srgbClr val="0030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9738360" y="548640"/>
            <a:ext cx="2194560" cy="219456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1CAA0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" y="4800600"/>
            <a:ext cx="1828800" cy="18288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1CAA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143000" y="1577837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软件需求分析：UML基础与实践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2286000" y="2355077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11CAA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面向对象建模翻转课堂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069080" y="3635237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50"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2CC34EA2-BA67-9E58-E909-213744D2588B}"/>
              </a:ext>
            </a:extLst>
          </p:cNvPr>
          <p:cNvSpPr/>
          <p:nvPr/>
        </p:nvSpPr>
        <p:spPr>
          <a:xfrm>
            <a:off x="2157648" y="3013445"/>
            <a:ext cx="7876397" cy="13716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  <a:effectLst>
            <a:outerShdw blurRad="12700" dist="50800" dir="2700000" algn="bl" rotWithShape="0">
              <a:srgbClr val="B8C4D4">
                <a:alpha val="18000"/>
              </a:srgbClr>
            </a:outerShdw>
          </a:effectLst>
        </p:spPr>
        <p:txBody>
          <a:bodyPr/>
          <a:lstStyle/>
          <a:p>
            <a:pPr algn="ctr"/>
            <a:r>
              <a:rPr lang="zh-CN" altLang="en-US" sz="18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erif CJK SC" pitchFamily="34" charset="0"/>
                <a:ea typeface="Noto Serif CJK SC" pitchFamily="34" charset="-122"/>
              </a:rPr>
              <a:t>第八组</a:t>
            </a:r>
            <a:endParaRPr lang="en-US" altLang="zh-CN" sz="1850" b="1" dirty="0">
              <a:solidFill>
                <a:schemeClr val="tx1">
                  <a:lumMod val="85000"/>
                  <a:lumOff val="15000"/>
                </a:schemeClr>
              </a:solidFill>
              <a:latin typeface="Noto Serif CJK SC" pitchFamily="34" charset="0"/>
              <a:ea typeface="Noto Serif CJK SC" pitchFamily="34" charset="-122"/>
            </a:endParaRPr>
          </a:p>
          <a:p>
            <a:pPr algn="ctr"/>
            <a:endParaRPr lang="en-US" altLang="zh-CN" sz="1850" b="1" dirty="0">
              <a:solidFill>
                <a:schemeClr val="tx1">
                  <a:lumMod val="85000"/>
                  <a:lumOff val="15000"/>
                </a:schemeClr>
              </a:solidFill>
              <a:latin typeface="Noto Serif CJK SC" pitchFamily="34" charset="0"/>
              <a:ea typeface="Noto Serif CJK SC" pitchFamily="34" charset="-122"/>
            </a:endParaRPr>
          </a:p>
          <a:p>
            <a:pPr algn="ctr"/>
            <a:r>
              <a:rPr lang="zh-CN" altLang="en-US" sz="18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erif CJK SC" pitchFamily="34" charset="0"/>
                <a:ea typeface="Noto Serif CJK SC" pitchFamily="34" charset="-122"/>
              </a:rPr>
              <a:t>小组成员：林立、李烨斌、林永翔、李子骏、罗树敏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0E432EF-6F55-28C0-5D4C-45A613D70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3152" y="3423915"/>
            <a:ext cx="4395216" cy="43952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CAA0"/>
          </a:solidFill>
          <a:ln w="12700">
            <a:solidFill>
              <a:srgbClr val="11CA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835640" y="6446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/ 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本节课核心学习目标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2331720" cy="0"/>
          </a:xfrm>
          <a:prstGeom prst="line">
            <a:avLst/>
          </a:prstGeom>
          <a:noFill/>
          <a:ln w="27940">
            <a:solidFill>
              <a:srgbClr val="11CA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51560" y="165506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320" dirty="0"/>
          </a:p>
        </p:txBody>
      </p:sp>
      <p:sp>
        <p:nvSpPr>
          <p:cNvPr id="7" name="Text 5"/>
          <p:cNvSpPr/>
          <p:nvPr/>
        </p:nvSpPr>
        <p:spPr>
          <a:xfrm>
            <a:off x="1289304" y="1645920"/>
            <a:ext cx="9637776" cy="91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1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理解 UML 在软件工程及需求分析中的关键地位。</a:t>
            </a:r>
            <a:endParaRPr lang="en-US" sz="2120" dirty="0"/>
          </a:p>
        </p:txBody>
      </p:sp>
      <p:sp>
        <p:nvSpPr>
          <p:cNvPr id="9" name="Text 7"/>
          <p:cNvSpPr/>
          <p:nvPr/>
        </p:nvSpPr>
        <p:spPr>
          <a:xfrm>
            <a:off x="1289304" y="2819579"/>
            <a:ext cx="9637776" cy="91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1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准确辨析并应用 用例图、类图、状态图、顺序图、协作图、部署图 。</a:t>
            </a:r>
            <a:endParaRPr lang="en-US" sz="2120" dirty="0"/>
          </a:p>
        </p:txBody>
      </p:sp>
      <p:sp>
        <p:nvSpPr>
          <p:cNvPr id="10" name="Text 8"/>
          <p:cNvSpPr/>
          <p:nvPr/>
        </p:nvSpPr>
        <p:spPr>
          <a:xfrm>
            <a:off x="1051560" y="4002383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320" dirty="0"/>
          </a:p>
        </p:txBody>
      </p:sp>
      <p:sp>
        <p:nvSpPr>
          <p:cNvPr id="11" name="Text 9"/>
          <p:cNvSpPr/>
          <p:nvPr/>
        </p:nvSpPr>
        <p:spPr>
          <a:xfrm>
            <a:off x="1289304" y="3993239"/>
            <a:ext cx="9637776" cy="91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1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掌握不同 UML 图形之间的内在联系与适用场景。</a:t>
            </a:r>
            <a:endParaRPr lang="en-US" sz="2120" dirty="0"/>
          </a:p>
        </p:txBody>
      </p:sp>
      <p:sp>
        <p:nvSpPr>
          <p:cNvPr id="12" name="Text 10"/>
          <p:cNvSpPr/>
          <p:nvPr/>
        </p:nvSpPr>
        <p:spPr>
          <a:xfrm>
            <a:off x="1051560" y="517604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320" dirty="0"/>
          </a:p>
        </p:txBody>
      </p:sp>
      <p:sp>
        <p:nvSpPr>
          <p:cNvPr id="13" name="Text 11"/>
          <p:cNvSpPr/>
          <p:nvPr/>
        </p:nvSpPr>
        <p:spPr>
          <a:xfrm>
            <a:off x="1289304" y="5166898"/>
            <a:ext cx="9637776" cy="91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endParaRPr lang="en-US" sz="2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CAA0"/>
          </a:solidFill>
          <a:ln w="12700">
            <a:solidFill>
              <a:srgbClr val="11CA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835640" y="6446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/ 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什么是 UML？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2331720" cy="0"/>
          </a:xfrm>
          <a:prstGeom prst="line">
            <a:avLst/>
          </a:prstGeom>
          <a:noFill/>
          <a:ln w="27940">
            <a:solidFill>
              <a:srgbClr val="11CA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10469880" cy="35204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  <a:effectLst>
            <a:outerShdw blurRad="12700" dist="50800" dir="2700000" algn="bl" rotWithShape="0">
              <a:srgbClr val="B8C4D4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22960" y="1554480"/>
            <a:ext cx="10469880" cy="82296"/>
          </a:xfrm>
          <a:prstGeom prst="rect">
            <a:avLst/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97280" y="190195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5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Unified Modeling Language (统一建模语言)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1097280" y="23317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UML 是一种开放的方法，用于说明、可视化、构建和编写一个正在开发的、面向对象的、软件密集型系统的制品的标准语言。</a:t>
            </a:r>
            <a:endParaRPr lang="en-US" sz="1820" dirty="0"/>
          </a:p>
        </p:txBody>
      </p:sp>
      <p:sp>
        <p:nvSpPr>
          <p:cNvPr id="10" name="Text 8"/>
          <p:cNvSpPr/>
          <p:nvPr/>
        </p:nvSpPr>
        <p:spPr>
          <a:xfrm>
            <a:off x="1097280" y="299008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注意： UML 是一种 可视化语言 ，而不是编程语言。它提供了一套图形化的词汇表和规则来描述软件系统。</a:t>
            </a:r>
            <a:endParaRPr lang="en-US" sz="1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CAA0"/>
          </a:solidFill>
          <a:ln w="12700">
            <a:solidFill>
              <a:srgbClr val="11CA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835640" y="6446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 / 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为什么要使用 UML？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2331720" cy="0"/>
          </a:xfrm>
          <a:prstGeom prst="line">
            <a:avLst/>
          </a:prstGeom>
          <a:noFill/>
          <a:ln w="27940">
            <a:solidFill>
              <a:srgbClr val="11CA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" dist="50800" dir="2700000" algn="bl" rotWithShape="0">
              <a:srgbClr val="B8C4D4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68680" y="1508760"/>
            <a:ext cx="4983480" cy="73152"/>
          </a:xfrm>
          <a:prstGeom prst="rect">
            <a:avLst/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88136" y="167335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沟通的桥梁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88136" y="203911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消除业务人员（客户）与技术人员（开发）之间的沟通鸿沟。图形比千言万语的代码更容易理解。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172200" y="150876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" dist="50800" dir="2700000" algn="bl" rotWithShape="0">
              <a:srgbClr val="B8C4D4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6172200" y="1508760"/>
            <a:ext cx="4983480" cy="73152"/>
          </a:xfrm>
          <a:prstGeom prst="rect">
            <a:avLst/>
          </a:prstGeom>
          <a:solidFill>
            <a:srgbClr val="11CAA0"/>
          </a:solidFill>
          <a:ln w="12700">
            <a:solidFill>
              <a:srgbClr val="11CA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391656" y="167335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蓝图与文档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91656" y="203911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作为软件系统的建筑蓝图，指导开发人员编写代码，同时作为后续维护的重要技术资产。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68680" y="315468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" dist="50800" dir="2700000" algn="bl" rotWithShape="0">
              <a:srgbClr val="B8C4D4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68680" y="3154680"/>
            <a:ext cx="4983480" cy="73152"/>
          </a:xfrm>
          <a:prstGeom prst="rect">
            <a:avLst/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088136" y="331927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降低复杂性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88136" y="368503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通过抽象化，将复杂的系统拆解为多个易于理解和管理的视图（如静态结构、动态行为）。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172200" y="315468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" dist="50800" dir="2700000" algn="bl" rotWithShape="0">
              <a:srgbClr val="B8C4D4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172200" y="3154680"/>
            <a:ext cx="4983480" cy="73152"/>
          </a:xfrm>
          <a:prstGeom prst="rect">
            <a:avLst/>
          </a:prstGeom>
          <a:solidFill>
            <a:srgbClr val="11CAA0"/>
          </a:solidFill>
          <a:ln w="12700">
            <a:solidFill>
              <a:srgbClr val="11CA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391656" y="331927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支持自动化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91656" y="368503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通过专业的CASE工具（如 PowerDesigner），可以实现模型到代码的自动生成。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CAA0"/>
          </a:solidFill>
          <a:ln w="12700">
            <a:solidFill>
              <a:srgbClr val="11CA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835640" y="6446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 / 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UML 的三大核心基石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2331720" cy="0"/>
          </a:xfrm>
          <a:prstGeom prst="line">
            <a:avLst/>
          </a:prstGeom>
          <a:noFill/>
          <a:ln w="27940">
            <a:solidFill>
              <a:srgbClr val="11CA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1426464" y="1828800"/>
            <a:ext cx="2926080" cy="3017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" dist="50800" dir="2700000" algn="bl" rotWithShape="0">
              <a:srgbClr val="B8C4D4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426464" y="1828800"/>
            <a:ext cx="2926080" cy="73152"/>
          </a:xfrm>
          <a:prstGeom prst="rect">
            <a:avLst/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627632" y="19933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1CAA0"/>
                </a:solidFill>
              </a:rPr>
              <a:t>◼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084832" y="1993392"/>
            <a:ext cx="207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1. </a:t>
            </a:r>
            <a:r>
              <a:rPr lang="en-US" sz="1800" b="1" dirty="0" err="1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事物</a:t>
            </a:r>
            <a:r>
              <a:rPr lang="en-US" sz="1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 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45920" y="2487168"/>
            <a:ext cx="2514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模型中最基本的构成元素。包括构件事物（如类、接口）、行为事物（如交互、状态机）、分组事物和注释事物。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4690872" y="1828800"/>
            <a:ext cx="2926080" cy="3017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" dist="50800" dir="2700000" algn="bl" rotWithShape="0">
              <a:srgbClr val="B8C4D4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690872" y="1828800"/>
            <a:ext cx="2926080" cy="73152"/>
          </a:xfrm>
          <a:prstGeom prst="rect">
            <a:avLst/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892040" y="19933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1CAA0"/>
                </a:solidFill>
              </a:rPr>
              <a:t>⟷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49240" y="1993392"/>
            <a:ext cx="2075688" cy="4220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2. </a:t>
            </a:r>
            <a:r>
              <a:rPr lang="en-US" sz="1800" b="1" dirty="0" err="1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关系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10328" y="2487168"/>
            <a:ext cx="2514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把事物联系在一起的纽带。主要包括依赖、关联、泛化（继承）和实现。</a:t>
            </a:r>
            <a:endParaRPr lang="en-US" sz="1440" dirty="0"/>
          </a:p>
        </p:txBody>
      </p:sp>
      <p:sp>
        <p:nvSpPr>
          <p:cNvPr id="16" name="Shape 14"/>
          <p:cNvSpPr/>
          <p:nvPr/>
        </p:nvSpPr>
        <p:spPr>
          <a:xfrm>
            <a:off x="7955280" y="1828800"/>
            <a:ext cx="2926080" cy="3017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" dist="50800" dir="2700000" algn="bl" rotWithShape="0">
              <a:srgbClr val="B8C4D4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7955280" y="1828800"/>
            <a:ext cx="2926080" cy="73152"/>
          </a:xfrm>
          <a:prstGeom prst="rect">
            <a:avLst/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156448" y="19933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1CAA0"/>
                </a:solidFill>
              </a:rPr>
              <a:t>▦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613648" y="1993392"/>
            <a:ext cx="207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3. 图 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174736" y="2487168"/>
            <a:ext cx="2514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事物和关系的可视化组合。从不同视角（结构、行为、交互）刻画系统。</a:t>
            </a:r>
            <a:endParaRPr lang="en-US" sz="14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6">
            <a:extLst>
              <a:ext uri="{FF2B5EF4-FFF2-40B4-BE49-F238E27FC236}">
                <a16:creationId xmlns:a16="http://schemas.microsoft.com/office/drawing/2014/main" id="{864547EE-5270-15BD-9EC4-1B10156BA69E}"/>
              </a:ext>
            </a:extLst>
          </p:cNvPr>
          <p:cNvSpPr/>
          <p:nvPr/>
        </p:nvSpPr>
        <p:spPr>
          <a:xfrm>
            <a:off x="914400" y="3657600"/>
            <a:ext cx="48006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CAA0"/>
          </a:solidFill>
          <a:ln w="12700">
            <a:solidFill>
              <a:srgbClr val="11CA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835640" y="6446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 / 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随堂测验 1 💡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2331720" cy="0"/>
          </a:xfrm>
          <a:prstGeom prst="line">
            <a:avLst/>
          </a:prstGeom>
          <a:noFill/>
          <a:ln w="27940">
            <a:solidFill>
              <a:srgbClr val="11CA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10195560" cy="896112"/>
          </a:xfrm>
          <a:prstGeom prst="roundRect">
            <a:avLst/>
          </a:prstGeom>
          <a:solidFill>
            <a:srgbClr val="005088"/>
          </a:solidFill>
          <a:ln w="12700">
            <a:solidFill>
              <a:srgbClr val="0050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170432" y="1664208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提问：UML (统一建模语言) 在软件工程中的主要作用是什么？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914400" y="2651760"/>
            <a:ext cx="48006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078992" y="281635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088"/>
                </a:solidFill>
              </a:rPr>
              <a:t>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17904" y="2798064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334155"/>
                </a:solidFill>
              </a:rPr>
              <a:t>编写底层的系统业务代码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080760" y="2651760"/>
            <a:ext cx="48006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245352" y="281635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088"/>
                </a:solidFill>
              </a:rPr>
              <a:t>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84264" y="2798064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334155"/>
                </a:solidFill>
              </a:rPr>
              <a:t>进行数据库底层的性能调优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78992" y="38221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088"/>
                </a:solidFill>
              </a:rPr>
              <a:t>C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17904" y="3803904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/>
              <a:t>面向对象的软件系统分析与可视化设计</a:t>
            </a:r>
          </a:p>
        </p:txBody>
      </p:sp>
      <p:sp>
        <p:nvSpPr>
          <p:cNvPr id="18" name="Shape 16"/>
          <p:cNvSpPr/>
          <p:nvPr/>
        </p:nvSpPr>
        <p:spPr>
          <a:xfrm>
            <a:off x="6080760" y="3657600"/>
            <a:ext cx="48006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245352" y="38221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088"/>
                </a:solidFill>
              </a:rPr>
              <a:t>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84264" y="3803904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334155"/>
                </a:solidFill>
              </a:rPr>
              <a:t>进行软件代码的自动化测试与集成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CAA0"/>
          </a:solidFill>
          <a:ln w="12700">
            <a:solidFill>
              <a:srgbClr val="11CA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835640" y="6446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 / 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1. 用例图 (Use Case Diagram) - 概念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2331720" cy="0"/>
          </a:xfrm>
          <a:prstGeom prst="line">
            <a:avLst/>
          </a:prstGeom>
          <a:noFill/>
          <a:ln w="27940">
            <a:solidFill>
              <a:srgbClr val="11CA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10469880" cy="35204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  <a:effectLst>
            <a:outerShdw blurRad="12700" dist="50800" dir="2700000" algn="bl" rotWithShape="0">
              <a:srgbClr val="B8C4D4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22960" y="1554480"/>
            <a:ext cx="10469880" cy="82296"/>
          </a:xfrm>
          <a:prstGeom prst="rect">
            <a:avLst/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97280" y="190195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5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需求分析的起点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1097280" y="23317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用例图从 用户的视角 出发，描述系统能提供哪些功能，以及哪些外部实体会与系统进行交互。</a:t>
            </a:r>
            <a:endParaRPr lang="en-US" sz="1820" dirty="0"/>
          </a:p>
        </p:txBody>
      </p:sp>
      <p:sp>
        <p:nvSpPr>
          <p:cNvPr id="10" name="Text 8"/>
          <p:cNvSpPr/>
          <p:nvPr/>
        </p:nvSpPr>
        <p:spPr>
          <a:xfrm>
            <a:off x="1097280" y="299008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它是驱动整个面向对象开发过程的核心，后续的类图、顺序图都将围绕用例来展开。</a:t>
            </a:r>
            <a:endParaRPr lang="en-US" sz="1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CAA0"/>
          </a:solidFill>
          <a:ln w="12700">
            <a:solidFill>
              <a:srgbClr val="11CA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835640" y="6446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 / 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1. 用例图 - 核心元素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2331720" cy="0"/>
          </a:xfrm>
          <a:prstGeom prst="line">
            <a:avLst/>
          </a:prstGeom>
          <a:noFill/>
          <a:ln w="27940">
            <a:solidFill>
              <a:srgbClr val="11CA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60120" y="163677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dirty="0">
                <a:solidFill>
                  <a:srgbClr val="11CA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▪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197864" y="1627632"/>
            <a:ext cx="6117336" cy="845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参与者 (Actor)： 在系统外部，与系统发生交互的人、设备或其他系统。通常用小人图标表示。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960120" y="2682957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dirty="0">
                <a:solidFill>
                  <a:srgbClr val="11CA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▪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1197864" y="2673813"/>
            <a:ext cx="6117336" cy="845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用例 (Use Case)： 系统提供的一个完整的功能单元，对参与者有价值。通常用椭圆表示。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960120" y="372913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dirty="0">
                <a:solidFill>
                  <a:srgbClr val="11CA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▪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1197864" y="3719994"/>
            <a:ext cx="6117336" cy="845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系统边界 (System Boundary)： 界定系统包含的功能范围，通常用一个方框将用例包裹起来。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8965708" y="1449096"/>
            <a:ext cx="202082" cy="20208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9066749" y="1651178"/>
            <a:ext cx="0" cy="279806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926846" y="1752220"/>
            <a:ext cx="279806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9066749" y="1923212"/>
            <a:ext cx="0" cy="202082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9066749" y="1923212"/>
            <a:ext cx="139903" cy="202082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716991" y="2334957"/>
            <a:ext cx="699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8" dirty="0">
                <a:solidFill>
                  <a:srgbClr val="334155"/>
                </a:solidFill>
              </a:rPr>
              <a:t>Actor</a:t>
            </a:r>
            <a:endParaRPr lang="en-US" sz="978" dirty="0"/>
          </a:p>
        </p:txBody>
      </p:sp>
      <p:sp>
        <p:nvSpPr>
          <p:cNvPr id="18" name="Shape 16"/>
          <p:cNvSpPr/>
          <p:nvPr/>
        </p:nvSpPr>
        <p:spPr>
          <a:xfrm>
            <a:off x="8732520" y="2944368"/>
            <a:ext cx="1143000" cy="438912"/>
          </a:xfrm>
          <a:prstGeom prst="ellipse">
            <a:avLst/>
          </a:prstGeom>
          <a:solidFill>
            <a:srgbClr val="F8FBFF"/>
          </a:solidFill>
          <a:ln w="13970">
            <a:solidFill>
              <a:srgbClr val="0050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778240" y="308152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Use Case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366760" y="3749040"/>
            <a:ext cx="2057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503920" y="4114800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5088"/>
                </a:solidFill>
              </a:rPr>
              <a:t>System Boundary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CAA0"/>
          </a:solidFill>
          <a:ln w="12700">
            <a:solidFill>
              <a:srgbClr val="11CA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835640" y="6446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 / 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1. 用例图 - 核心关系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2331720" cy="0"/>
          </a:xfrm>
          <a:prstGeom prst="line">
            <a:avLst/>
          </a:prstGeom>
          <a:noFill/>
          <a:ln w="27940">
            <a:solidFill>
              <a:srgbClr val="11CA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60120" y="1691640"/>
            <a:ext cx="502920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" dist="50800" dir="2700000" algn="bl" rotWithShape="0">
              <a:srgbClr val="B8C4D4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960120" y="1691640"/>
            <a:ext cx="5029200" cy="73152"/>
          </a:xfrm>
          <a:prstGeom prst="rect">
            <a:avLst/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79576" y="1856232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包含关系 &lt;&lt;include&gt;&gt;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1179576" y="2221992"/>
            <a:ext cx="4617720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基用例 必然且必须 执行的行为。用于提取公共步骤，避免重复。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例如：【取款】 ---&lt;&lt;include&gt;&gt;---&gt; 【验证密码】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498348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" dist="50800" dir="2700000" algn="bl" rotWithShape="0">
              <a:srgbClr val="B8C4D4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4983480" cy="73152"/>
          </a:xfrm>
          <a:prstGeom prst="rect">
            <a:avLst/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483096" y="185623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扩展关系 &lt;&lt;extend&gt;&gt;</a:t>
            </a:r>
            <a:endParaRPr lang="en-US" sz="1820" dirty="0"/>
          </a:p>
        </p:txBody>
      </p:sp>
      <p:sp>
        <p:nvSpPr>
          <p:cNvPr id="13" name="Text 11"/>
          <p:cNvSpPr/>
          <p:nvPr/>
        </p:nvSpPr>
        <p:spPr>
          <a:xfrm>
            <a:off x="6483096" y="2221992"/>
            <a:ext cx="4572000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基用例在 特定条件满足时 才执行的附加行为。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例如：【借书】 &lt;---&lt;&lt;extend&gt;&gt;--- 【缴纳超期罚款】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注意箭头方向：扩展用例指向基用例。</a:t>
            </a:r>
            <a:endParaRPr lang="en-US" sz="14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CAA0"/>
          </a:solidFill>
          <a:ln w="12700">
            <a:solidFill>
              <a:srgbClr val="11CA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835640" y="6446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/ 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1. 用例图 - 泛化关系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2331720" cy="0"/>
          </a:xfrm>
          <a:prstGeom prst="line">
            <a:avLst/>
          </a:prstGeom>
          <a:noFill/>
          <a:ln w="27940">
            <a:solidFill>
              <a:srgbClr val="11CA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60120" y="165506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dirty="0">
                <a:solidFill>
                  <a:srgbClr val="11CA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▪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202020" y="1645920"/>
            <a:ext cx="7168896" cy="845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泛化 (Generalization)： 代表一般与特殊的关系，类似于面向对象中的继承。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960120" y="2737821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dirty="0">
                <a:solidFill>
                  <a:srgbClr val="11CA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▪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1197864" y="2728677"/>
            <a:ext cx="7168896" cy="845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参与者之间的泛化： 子参与者继承父参与者的所有用例（例如：“VIP会员”泛化自“普通会员”）。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960120" y="382057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dirty="0">
                <a:solidFill>
                  <a:srgbClr val="11CA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▪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1197864" y="3811434"/>
            <a:ext cx="7168896" cy="845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用例之间的泛化： </a:t>
            </a:r>
            <a:r>
              <a:rPr lang="en-US" sz="1850" dirty="0" err="1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子用例继承父用例的行为和含义</a:t>
            </a:r>
            <a:r>
              <a:rPr lang="zh-CN" altLang="en-US" sz="1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（例如：</a:t>
            </a:r>
            <a:r>
              <a:rPr lang="en-US" altLang="zh-CN" sz="1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”</a:t>
            </a:r>
            <a:r>
              <a:rPr lang="zh-CN" altLang="en-US" sz="1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线上缴费</a:t>
            </a:r>
            <a:r>
              <a:rPr lang="en-US" altLang="zh-CN" sz="1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” </a:t>
            </a:r>
            <a:r>
              <a:rPr lang="zh-CN" altLang="en-US" sz="1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和</a:t>
            </a:r>
            <a:r>
              <a:rPr lang="en-US" altLang="zh-CN" sz="1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”</a:t>
            </a:r>
            <a:r>
              <a:rPr lang="zh-CN" altLang="en-US" sz="1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线下缴费</a:t>
            </a:r>
            <a:r>
              <a:rPr lang="en-US" altLang="zh-CN" sz="1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”</a:t>
            </a:r>
            <a:r>
              <a:rPr lang="zh-CN" altLang="en-US" sz="1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泛化自</a:t>
            </a:r>
            <a:r>
              <a:rPr lang="en-US" altLang="zh-CN" sz="1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”</a:t>
            </a:r>
            <a:r>
              <a:rPr lang="zh-CN" altLang="en-US" sz="1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用户缴费</a:t>
            </a:r>
            <a:r>
              <a:rPr lang="en-US" altLang="zh-CN" sz="1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”</a:t>
            </a:r>
            <a:r>
              <a:rPr lang="zh-CN" altLang="en-US" sz="1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）。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366760" y="187452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23960" y="40693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8" name="AutoShape 2" descr="在这里插入图片描述">
            <a:extLst>
              <a:ext uri="{FF2B5EF4-FFF2-40B4-BE49-F238E27FC236}">
                <a16:creationId xmlns:a16="http://schemas.microsoft.com/office/drawing/2014/main" id="{A06677D2-CC91-B7BF-9595-E23DA91340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4CFEB7BE-672C-EE14-712A-3F0DB82E8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403" y="4480445"/>
            <a:ext cx="6373957" cy="20575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CAA0"/>
          </a:solidFill>
          <a:ln w="12700">
            <a:solidFill>
              <a:srgbClr val="11CA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835640" y="6446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 / 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1. 用例图 - 实例分析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2331720" cy="0"/>
          </a:xfrm>
          <a:prstGeom prst="line">
            <a:avLst/>
          </a:prstGeom>
          <a:noFill/>
          <a:ln w="27940">
            <a:solidFill>
              <a:srgbClr val="11CA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32688" y="11430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 err="1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场景</a:t>
            </a:r>
            <a:r>
              <a:rPr lang="en-US" sz="165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：</a:t>
            </a:r>
            <a:r>
              <a:rPr lang="zh-CN" altLang="en-US" sz="165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图书管理系统</a:t>
            </a:r>
            <a:endParaRPr lang="en-US" sz="1650" dirty="0"/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80B8F0D2-206F-4C45-030C-8C3AFB5EE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836" y="1344168"/>
            <a:ext cx="5713869" cy="486660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CAA0"/>
          </a:solidFill>
          <a:ln w="12700">
            <a:solidFill>
              <a:srgbClr val="11CA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835640" y="6446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 / 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随堂测验 2 💡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2331720" cy="0"/>
          </a:xfrm>
          <a:prstGeom prst="line">
            <a:avLst/>
          </a:prstGeom>
          <a:noFill/>
          <a:ln w="27940">
            <a:solidFill>
              <a:srgbClr val="11CA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10195560" cy="896112"/>
          </a:xfrm>
          <a:prstGeom prst="roundRect">
            <a:avLst/>
          </a:prstGeom>
          <a:solidFill>
            <a:srgbClr val="005088"/>
          </a:solidFill>
          <a:ln w="12700">
            <a:solidFill>
              <a:srgbClr val="0050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170432" y="1664208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提问：在绘制用例图时，如果“用户登录”用例执行时，系统必定会调用“记录登录日志”的功能，那么这两个用例之间是什么关系？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914400" y="2651760"/>
            <a:ext cx="48006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078992" y="281635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088"/>
                </a:solidFill>
              </a:rPr>
              <a:t>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17904" y="2798064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334155"/>
                </a:solidFill>
              </a:rPr>
              <a:t>扩展关系 (&lt;&lt;extend&gt;&gt;)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14400" y="3657600"/>
            <a:ext cx="48006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078992" y="38221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088"/>
                </a:solidFill>
              </a:rPr>
              <a:t>C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17904" y="3803904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334155"/>
                </a:solidFill>
              </a:rPr>
              <a:t>泛化关系 (Generalization)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6080760" y="3657600"/>
            <a:ext cx="48006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245352" y="38221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088"/>
                </a:solidFill>
              </a:rPr>
              <a:t>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84264" y="3803904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334155"/>
                </a:solidFill>
              </a:rPr>
              <a:t>关联关系 (Association)</a:t>
            </a:r>
            <a:endParaRPr lang="en-US" sz="1650" dirty="0"/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EE877183-53AB-CACB-52CC-CCA254DB0FEE}"/>
              </a:ext>
            </a:extLst>
          </p:cNvPr>
          <p:cNvSpPr/>
          <p:nvPr/>
        </p:nvSpPr>
        <p:spPr>
          <a:xfrm>
            <a:off x="6080760" y="2670048"/>
            <a:ext cx="48006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2479BEC5-564B-104E-DE66-46F383A94BA2}"/>
              </a:ext>
            </a:extLst>
          </p:cNvPr>
          <p:cNvSpPr/>
          <p:nvPr/>
        </p:nvSpPr>
        <p:spPr>
          <a:xfrm>
            <a:off x="6222334" y="281635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088"/>
                </a:solidFill>
              </a:rPr>
              <a:t>B</a:t>
            </a:r>
            <a:endParaRPr lang="en-US" sz="220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46E3A4AD-A89B-63FB-E358-A68A9374B312}"/>
              </a:ext>
            </a:extLst>
          </p:cNvPr>
          <p:cNvSpPr/>
          <p:nvPr/>
        </p:nvSpPr>
        <p:spPr>
          <a:xfrm>
            <a:off x="6661246" y="2798064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zh-CN" altLang="en-US" sz="1650" b="1" dirty="0">
                <a:solidFill>
                  <a:srgbClr val="334155"/>
                </a:solidFill>
              </a:rPr>
              <a:t>包含</a:t>
            </a:r>
            <a:r>
              <a:rPr lang="en-US" sz="1650" dirty="0" err="1">
                <a:solidFill>
                  <a:srgbClr val="334155"/>
                </a:solidFill>
              </a:rPr>
              <a:t>关系</a:t>
            </a:r>
            <a:r>
              <a:rPr lang="en-US" sz="1650" dirty="0">
                <a:solidFill>
                  <a:srgbClr val="334155"/>
                </a:solidFill>
              </a:rPr>
              <a:t> (&lt;&lt;include&gt;&gt;)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CAA0"/>
          </a:solidFill>
          <a:ln w="12700">
            <a:solidFill>
              <a:srgbClr val="11CA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835640" y="6446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 / 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2. 类图 (Class Diagram) - 概念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2331720" cy="0"/>
          </a:xfrm>
          <a:prstGeom prst="line">
            <a:avLst/>
          </a:prstGeom>
          <a:noFill/>
          <a:ln w="27940">
            <a:solidFill>
              <a:srgbClr val="11CA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10469880" cy="35204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  <a:effectLst>
            <a:outerShdw blurRad="12700" dist="50800" dir="2700000" algn="bl" rotWithShape="0">
              <a:srgbClr val="B8C4D4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22960" y="1554480"/>
            <a:ext cx="10469880" cy="82296"/>
          </a:xfrm>
          <a:prstGeom prst="rect">
            <a:avLst/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97280" y="190195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5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系统的静态结构骨架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1097280" y="23317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类图是面向对象建模中最核心的图表。它不仅展示了系统中的类和接口，还明确了它们内部的属性和方法，以及它们之间错综复杂的静态依赖关系。</a:t>
            </a:r>
            <a:endParaRPr lang="en-US" sz="1820" dirty="0"/>
          </a:p>
        </p:txBody>
      </p:sp>
      <p:sp>
        <p:nvSpPr>
          <p:cNvPr id="10" name="Text 8"/>
          <p:cNvSpPr/>
          <p:nvPr/>
        </p:nvSpPr>
        <p:spPr>
          <a:xfrm>
            <a:off x="1097280" y="299008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开发人员通常直接根据类图来搭建代码的框架结构。</a:t>
            </a:r>
            <a:endParaRPr lang="en-US" sz="18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CAA0"/>
          </a:solidFill>
          <a:ln w="12700">
            <a:solidFill>
              <a:srgbClr val="11CA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835640" y="6446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 / 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2. 类图 - 类的解剖结构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2331720" cy="0"/>
          </a:xfrm>
          <a:prstGeom prst="line">
            <a:avLst/>
          </a:prstGeom>
          <a:noFill/>
          <a:ln w="27940">
            <a:solidFill>
              <a:srgbClr val="11CA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334155"/>
                </a:solidFill>
              </a:rPr>
              <a:t>一个标准的类在UML中被划分为三个由横线隔开的矩形格：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32688" y="220370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80" dirty="0">
                <a:solidFill>
                  <a:srgbClr val="11CA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▪</a:t>
            </a:r>
            <a:endParaRPr lang="en-US" sz="1880" dirty="0"/>
          </a:p>
        </p:txBody>
      </p:sp>
      <p:sp>
        <p:nvSpPr>
          <p:cNvPr id="8" name="Text 6"/>
          <p:cNvSpPr/>
          <p:nvPr/>
        </p:nvSpPr>
        <p:spPr>
          <a:xfrm>
            <a:off x="1170432" y="2194560"/>
            <a:ext cx="4791456" cy="799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顶层：类名 (Class Name) 如果是抽象类，类名使用斜体。</a:t>
            </a:r>
            <a:endParaRPr lang="en-US" sz="1680" dirty="0"/>
          </a:p>
        </p:txBody>
      </p:sp>
      <p:sp>
        <p:nvSpPr>
          <p:cNvPr id="9" name="Text 7"/>
          <p:cNvSpPr/>
          <p:nvPr/>
        </p:nvSpPr>
        <p:spPr>
          <a:xfrm>
            <a:off x="932688" y="3167589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80" dirty="0">
                <a:solidFill>
                  <a:srgbClr val="11CA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▪</a:t>
            </a:r>
            <a:endParaRPr lang="en-US" sz="1880" dirty="0"/>
          </a:p>
        </p:txBody>
      </p:sp>
      <p:sp>
        <p:nvSpPr>
          <p:cNvPr id="10" name="Text 8"/>
          <p:cNvSpPr/>
          <p:nvPr/>
        </p:nvSpPr>
        <p:spPr>
          <a:xfrm>
            <a:off x="1170432" y="3158445"/>
            <a:ext cx="4791456" cy="799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中层：属性 (Attributes) 格式： 可见性 名称 : 类型 (如 - age : int )</a:t>
            </a:r>
            <a:endParaRPr lang="en-US" sz="1680" dirty="0"/>
          </a:p>
        </p:txBody>
      </p:sp>
      <p:sp>
        <p:nvSpPr>
          <p:cNvPr id="11" name="Text 9"/>
          <p:cNvSpPr/>
          <p:nvPr/>
        </p:nvSpPr>
        <p:spPr>
          <a:xfrm>
            <a:off x="932688" y="413147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80" dirty="0">
                <a:solidFill>
                  <a:srgbClr val="11CA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▪</a:t>
            </a:r>
            <a:endParaRPr lang="en-US" sz="1880" dirty="0"/>
          </a:p>
        </p:txBody>
      </p:sp>
      <p:sp>
        <p:nvSpPr>
          <p:cNvPr id="12" name="Text 10"/>
          <p:cNvSpPr/>
          <p:nvPr/>
        </p:nvSpPr>
        <p:spPr>
          <a:xfrm>
            <a:off x="1170432" y="4122330"/>
            <a:ext cx="4791456" cy="799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底层：方法/操作 (Operations) 格式： 可见性 名称(参数表) : 返回类型</a:t>
            </a:r>
            <a:endParaRPr lang="en-US" sz="1680" dirty="0"/>
          </a:p>
        </p:txBody>
      </p:sp>
      <p:sp>
        <p:nvSpPr>
          <p:cNvPr id="13" name="Shape 11"/>
          <p:cNvSpPr/>
          <p:nvPr/>
        </p:nvSpPr>
        <p:spPr>
          <a:xfrm>
            <a:off x="6629400" y="1828800"/>
            <a:ext cx="3840480" cy="2743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7498080" y="2240280"/>
            <a:ext cx="2148840" cy="2103120"/>
          </a:xfrm>
          <a:prstGeom prst="rect">
            <a:avLst/>
          </a:prstGeom>
          <a:solidFill>
            <a:srgbClr val="FFFFFF"/>
          </a:solidFill>
          <a:ln w="165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7498080" y="2624328"/>
            <a:ext cx="2148840" cy="0"/>
          </a:xfrm>
          <a:prstGeom prst="line">
            <a:avLst/>
          </a:prstGeom>
          <a:noFill/>
          <a:ln w="1397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7498080" y="3529584"/>
            <a:ext cx="2148840" cy="0"/>
          </a:xfrm>
          <a:prstGeom prst="line">
            <a:avLst/>
          </a:prstGeom>
          <a:noFill/>
          <a:ln w="1397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543800" y="2322576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Student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571232" y="2679192"/>
            <a:ext cx="200253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 studentId : string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 name : string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571232" y="3584448"/>
            <a:ext cx="200253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 study() : void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 getGrades() : float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CAA0"/>
          </a:solidFill>
          <a:ln w="12700">
            <a:solidFill>
              <a:srgbClr val="11CA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835640" y="6446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 / 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2. 类图 - 属性与方法的可见性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2331720" cy="0"/>
          </a:xfrm>
          <a:prstGeom prst="line">
            <a:avLst/>
          </a:prstGeom>
          <a:noFill/>
          <a:ln w="27940">
            <a:solidFill>
              <a:srgbClr val="11CA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9164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" dist="50800" dir="2700000" algn="bl" rotWithShape="0">
              <a:srgbClr val="B8C4D4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68680" y="1691640"/>
            <a:ext cx="5257800" cy="73152"/>
          </a:xfrm>
          <a:prstGeom prst="rect">
            <a:avLst/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88136" y="185623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8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+ Public (公有)</a:t>
            </a:r>
            <a:endParaRPr lang="en-US" sz="1780" dirty="0"/>
          </a:p>
        </p:txBody>
      </p:sp>
      <p:sp>
        <p:nvSpPr>
          <p:cNvPr id="9" name="Text 7"/>
          <p:cNvSpPr/>
          <p:nvPr/>
        </p:nvSpPr>
        <p:spPr>
          <a:xfrm>
            <a:off x="1088136" y="2221992"/>
            <a:ext cx="4846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任何外部类都可以访问该属性或方法。封装性最弱。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6035040" y="169164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" dist="50800" dir="2700000" algn="bl" rotWithShape="0">
              <a:srgbClr val="B8C4D4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6035040" y="1691640"/>
            <a:ext cx="5257800" cy="73152"/>
          </a:xfrm>
          <a:prstGeom prst="rect">
            <a:avLst/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254496" y="185623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8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- Private (私有)</a:t>
            </a:r>
            <a:endParaRPr lang="en-US" sz="1780" dirty="0"/>
          </a:p>
        </p:txBody>
      </p:sp>
      <p:sp>
        <p:nvSpPr>
          <p:cNvPr id="13" name="Text 11"/>
          <p:cNvSpPr/>
          <p:nvPr/>
        </p:nvSpPr>
        <p:spPr>
          <a:xfrm>
            <a:off x="6254496" y="2221992"/>
            <a:ext cx="4846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只有该类自身可以访问。封装性最强，最常用作属性的修饰符。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868680" y="338328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" dist="50800" dir="2700000" algn="bl" rotWithShape="0">
              <a:srgbClr val="B8C4D4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68680" y="3383280"/>
            <a:ext cx="5257800" cy="73152"/>
          </a:xfrm>
          <a:prstGeom prst="rect">
            <a:avLst/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088136" y="354787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8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# Protected (受保护)</a:t>
            </a:r>
            <a:endParaRPr lang="en-US" sz="1780" dirty="0"/>
          </a:p>
        </p:txBody>
      </p:sp>
      <p:sp>
        <p:nvSpPr>
          <p:cNvPr id="17" name="Text 15"/>
          <p:cNvSpPr/>
          <p:nvPr/>
        </p:nvSpPr>
        <p:spPr>
          <a:xfrm>
            <a:off x="1088136" y="3913632"/>
            <a:ext cx="4846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只有该类及其子类（派生类）可以访问。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6035040" y="338328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" dist="50800" dir="2700000" algn="bl" rotWithShape="0">
              <a:srgbClr val="B8C4D4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035040" y="3383280"/>
            <a:ext cx="5257800" cy="73152"/>
          </a:xfrm>
          <a:prstGeom prst="rect">
            <a:avLst/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254496" y="354787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8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~ Package (包内可见)</a:t>
            </a:r>
            <a:endParaRPr lang="en-US" sz="1780" dirty="0"/>
          </a:p>
        </p:txBody>
      </p:sp>
      <p:sp>
        <p:nvSpPr>
          <p:cNvPr id="21" name="Text 19"/>
          <p:cNvSpPr/>
          <p:nvPr/>
        </p:nvSpPr>
        <p:spPr>
          <a:xfrm>
            <a:off x="6254496" y="3913632"/>
            <a:ext cx="4846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在同一个包（命名空间）内的类可以互相访问。</a:t>
            </a:r>
            <a:endParaRPr lang="en-US" sz="14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CAA0"/>
          </a:solidFill>
          <a:ln w="12700">
            <a:solidFill>
              <a:srgbClr val="11CA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835640" y="6446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 / 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2. 类图 - 核心关系 (1)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2331720" cy="0"/>
          </a:xfrm>
          <a:prstGeom prst="line">
            <a:avLst/>
          </a:prstGeom>
          <a:noFill/>
          <a:ln w="27940">
            <a:solidFill>
              <a:srgbClr val="11CA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14400" y="174650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20" dirty="0">
                <a:solidFill>
                  <a:srgbClr val="11CA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▪</a:t>
            </a:r>
            <a:endParaRPr lang="en-US" sz="2020" dirty="0"/>
          </a:p>
        </p:txBody>
      </p:sp>
      <p:sp>
        <p:nvSpPr>
          <p:cNvPr id="7" name="Text 5"/>
          <p:cNvSpPr/>
          <p:nvPr/>
        </p:nvSpPr>
        <p:spPr>
          <a:xfrm>
            <a:off x="1029947" y="1679709"/>
            <a:ext cx="6894576" cy="836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泛化 (Generalization)： 表示继承关系（is-a）。使用 实线 + 空心三角箭头 表示。箭头指向父类。</a:t>
            </a:r>
            <a:endParaRPr lang="en-US" sz="1820" dirty="0"/>
          </a:p>
        </p:txBody>
      </p:sp>
      <p:sp>
        <p:nvSpPr>
          <p:cNvPr id="8" name="Text 6"/>
          <p:cNvSpPr/>
          <p:nvPr/>
        </p:nvSpPr>
        <p:spPr>
          <a:xfrm>
            <a:off x="914400" y="2839481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20" dirty="0">
                <a:solidFill>
                  <a:srgbClr val="11CA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▪</a:t>
            </a:r>
            <a:endParaRPr lang="en-US" sz="2020" dirty="0"/>
          </a:p>
        </p:txBody>
      </p:sp>
      <p:sp>
        <p:nvSpPr>
          <p:cNvPr id="9" name="Text 7"/>
          <p:cNvSpPr/>
          <p:nvPr/>
        </p:nvSpPr>
        <p:spPr>
          <a:xfrm>
            <a:off x="1152144" y="2830337"/>
            <a:ext cx="6894576" cy="836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 (Realization)： 表示类与接口之间的关系。类实现了接口的方法。使用 虚线 + 空心三角箭头 表示。箭头指向接口。</a:t>
            </a:r>
            <a:endParaRPr lang="en-US" sz="18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CAA0"/>
          </a:solidFill>
          <a:ln w="12700">
            <a:solidFill>
              <a:srgbClr val="11CA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835640" y="6446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 / 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2. 类图 - 核心关系 (2)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2331720" cy="0"/>
          </a:xfrm>
          <a:prstGeom prst="line">
            <a:avLst/>
          </a:prstGeom>
          <a:noFill/>
          <a:ln w="27940">
            <a:solidFill>
              <a:srgbClr val="11CA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14400" y="174650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20" dirty="0">
                <a:solidFill>
                  <a:srgbClr val="11CA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▪</a:t>
            </a:r>
            <a:endParaRPr lang="en-US" sz="2020" dirty="0"/>
          </a:p>
        </p:txBody>
      </p:sp>
      <p:sp>
        <p:nvSpPr>
          <p:cNvPr id="7" name="Text 5"/>
          <p:cNvSpPr/>
          <p:nvPr/>
        </p:nvSpPr>
        <p:spPr>
          <a:xfrm>
            <a:off x="1152144" y="1737360"/>
            <a:ext cx="6894576" cy="836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关联 (Association)： 类与类之间的结构化连接，表示对象之间存在业务联系。实线连接，可带单向箭头或多重性（如 1..*）。</a:t>
            </a:r>
            <a:endParaRPr lang="en-US" sz="1820" dirty="0"/>
          </a:p>
        </p:txBody>
      </p:sp>
      <p:sp>
        <p:nvSpPr>
          <p:cNvPr id="8" name="Text 6"/>
          <p:cNvSpPr/>
          <p:nvPr/>
        </p:nvSpPr>
        <p:spPr>
          <a:xfrm>
            <a:off x="914400" y="2839481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20" dirty="0">
                <a:solidFill>
                  <a:srgbClr val="11CA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▪</a:t>
            </a:r>
            <a:endParaRPr lang="en-US" sz="2020" dirty="0"/>
          </a:p>
        </p:txBody>
      </p:sp>
      <p:sp>
        <p:nvSpPr>
          <p:cNvPr id="9" name="Text 7"/>
          <p:cNvSpPr/>
          <p:nvPr/>
        </p:nvSpPr>
        <p:spPr>
          <a:xfrm>
            <a:off x="1152144" y="2830337"/>
            <a:ext cx="6894576" cy="836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依赖 (Dependency)： 一种弱关系，表示一个类使用了另一个类（如作为方法的参数）。使用 虚线 + 实心箭头 表示。</a:t>
            </a:r>
            <a:endParaRPr lang="en-US" sz="1820" dirty="0"/>
          </a:p>
        </p:txBody>
      </p:sp>
      <p:sp>
        <p:nvSpPr>
          <p:cNvPr id="10" name="Shape 8"/>
          <p:cNvSpPr/>
          <p:nvPr/>
        </p:nvSpPr>
        <p:spPr>
          <a:xfrm>
            <a:off x="8356159" y="1173812"/>
            <a:ext cx="1554480" cy="1298448"/>
          </a:xfrm>
          <a:prstGeom prst="rect">
            <a:avLst/>
          </a:prstGeom>
          <a:solidFill>
            <a:srgbClr val="FFFFFF"/>
          </a:solidFill>
          <a:ln w="165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8356159" y="1580719"/>
            <a:ext cx="1554480" cy="0"/>
          </a:xfrm>
          <a:prstGeom prst="line">
            <a:avLst/>
          </a:prstGeom>
          <a:noFill/>
          <a:ln w="1397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8356159" y="2083639"/>
            <a:ext cx="1554480" cy="0"/>
          </a:xfrm>
          <a:prstGeom prst="line">
            <a:avLst/>
          </a:prstGeom>
          <a:noFill/>
          <a:ln w="1397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401879" y="1278967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3415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Customer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429311" y="1635583"/>
            <a:ext cx="140817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429311" y="2138503"/>
            <a:ext cx="140817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184959" y="1196671"/>
            <a:ext cx="1554480" cy="1298448"/>
          </a:xfrm>
          <a:prstGeom prst="rect">
            <a:avLst/>
          </a:prstGeom>
          <a:solidFill>
            <a:srgbClr val="FFFFFF"/>
          </a:solidFill>
          <a:ln w="165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0184959" y="1580719"/>
            <a:ext cx="1554480" cy="0"/>
          </a:xfrm>
          <a:prstGeom prst="line">
            <a:avLst/>
          </a:prstGeom>
          <a:noFill/>
          <a:ln w="1397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10184959" y="2083639"/>
            <a:ext cx="1554480" cy="0"/>
          </a:xfrm>
          <a:prstGeom prst="line">
            <a:avLst/>
          </a:prstGeom>
          <a:noFill/>
          <a:ln w="1397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0230679" y="1278967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3415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Order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258111" y="1635583"/>
            <a:ext cx="140817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258111" y="2138503"/>
            <a:ext cx="140817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910639" y="1882471"/>
            <a:ext cx="27432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453439" y="1544143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356159" y="2934031"/>
            <a:ext cx="1554480" cy="1499616"/>
          </a:xfrm>
          <a:prstGeom prst="rect">
            <a:avLst/>
          </a:prstGeom>
          <a:solidFill>
            <a:srgbClr val="FFFFFF"/>
          </a:solidFill>
          <a:ln w="165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356159" y="3318079"/>
            <a:ext cx="1554480" cy="0"/>
          </a:xfrm>
          <a:prstGeom prst="line">
            <a:avLst/>
          </a:prstGeom>
          <a:noFill/>
          <a:ln w="1397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356159" y="3820999"/>
            <a:ext cx="1554480" cy="0"/>
          </a:xfrm>
          <a:prstGeom prst="line">
            <a:avLst/>
          </a:prstGeom>
          <a:noFill/>
          <a:ln w="1397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401879" y="3016327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3415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Service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429311" y="3372943"/>
            <a:ext cx="140817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429311" y="3875863"/>
            <a:ext cx="1408176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 send(msg)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184959" y="2934031"/>
            <a:ext cx="1554480" cy="1298448"/>
          </a:xfrm>
          <a:prstGeom prst="rect">
            <a:avLst/>
          </a:prstGeom>
          <a:solidFill>
            <a:srgbClr val="FFFFFF"/>
          </a:solidFill>
          <a:ln w="165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10184959" y="3318079"/>
            <a:ext cx="1554480" cy="0"/>
          </a:xfrm>
          <a:prstGeom prst="line">
            <a:avLst/>
          </a:prstGeom>
          <a:noFill/>
          <a:ln w="1397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10184959" y="3820999"/>
            <a:ext cx="1554480" cy="0"/>
          </a:xfrm>
          <a:prstGeom prst="line">
            <a:avLst/>
          </a:prstGeom>
          <a:noFill/>
          <a:ln w="1397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0230679" y="3016327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3415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Email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0258111" y="3372943"/>
            <a:ext cx="140817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258111" y="3875863"/>
            <a:ext cx="140817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910639" y="3226639"/>
            <a:ext cx="274320" cy="0"/>
          </a:xfrm>
          <a:prstGeom prst="line">
            <a:avLst/>
          </a:prstGeom>
          <a:noFill/>
          <a:ln w="15240">
            <a:solidFill>
              <a:srgbClr val="E11D48"/>
            </a:solidFill>
            <a:prstDash val="dash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9453439" y="3043759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CAA0"/>
          </a:solidFill>
          <a:ln w="12700">
            <a:solidFill>
              <a:srgbClr val="11CA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835640" y="6446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 / 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2. 类图 - 实例分析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2331720" cy="0"/>
          </a:xfrm>
          <a:prstGeom prst="line">
            <a:avLst/>
          </a:prstGeom>
          <a:noFill/>
          <a:ln w="27940">
            <a:solidFill>
              <a:srgbClr val="11CA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7E53E040-DE9D-F08B-A1EE-CD9C0C2AF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663" y="1022224"/>
            <a:ext cx="10316954" cy="514283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CAA0"/>
          </a:solidFill>
          <a:ln w="12700">
            <a:solidFill>
              <a:srgbClr val="11CA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835640" y="6446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 / 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2. 类图 - 聚合与组合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2331720" cy="0"/>
          </a:xfrm>
          <a:prstGeom prst="line">
            <a:avLst/>
          </a:prstGeom>
          <a:noFill/>
          <a:ln w="27940">
            <a:solidFill>
              <a:srgbClr val="11CA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498348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" dist="50800" dir="2700000" algn="bl" rotWithShape="0">
              <a:srgbClr val="B8C4D4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914400" y="1691640"/>
            <a:ext cx="4983480" cy="73152"/>
          </a:xfrm>
          <a:prstGeom prst="rect">
            <a:avLst/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33856" y="185623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聚合 (Aggregation)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1133856" y="2221992"/>
            <a:ext cx="4572000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表示"整体-部分"关系（has-a），但部分可以脱离整体独立存在。生命周期不同步。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符号：空心菱形 + 实线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例如：【汽车】与【轮胎】。汽车报废了，轮胎可以拆下来给别的车用。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36208" y="1691640"/>
            <a:ext cx="498348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" dist="50800" dir="2700000" algn="bl" rotWithShape="0">
              <a:srgbClr val="B8C4D4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6236208" y="1691640"/>
            <a:ext cx="4983480" cy="73152"/>
          </a:xfrm>
          <a:prstGeom prst="rect">
            <a:avLst/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455664" y="185623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组合 (Composition)</a:t>
            </a:r>
            <a:endParaRPr lang="en-US" sz="1820" dirty="0"/>
          </a:p>
        </p:txBody>
      </p:sp>
      <p:sp>
        <p:nvSpPr>
          <p:cNvPr id="13" name="Text 11"/>
          <p:cNvSpPr/>
          <p:nvPr/>
        </p:nvSpPr>
        <p:spPr>
          <a:xfrm>
            <a:off x="6455664" y="2221992"/>
            <a:ext cx="4572000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强烈的"整体-部分"关系（contains-a）。整体控制部分的生命周期，整体毁灭，部分也毁灭。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符号：实心菱形 + 实线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例如：【公司】与【部门】。公司倒闭了，其内部的研发部自然也不存在了。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16">
            <a:extLst>
              <a:ext uri="{FF2B5EF4-FFF2-40B4-BE49-F238E27FC236}">
                <a16:creationId xmlns:a16="http://schemas.microsoft.com/office/drawing/2014/main" id="{0141FB04-E230-894E-DC69-EED8331C9D0B}"/>
              </a:ext>
            </a:extLst>
          </p:cNvPr>
          <p:cNvSpPr/>
          <p:nvPr/>
        </p:nvSpPr>
        <p:spPr>
          <a:xfrm>
            <a:off x="914400" y="3675888"/>
            <a:ext cx="48006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CAA0"/>
          </a:solidFill>
          <a:ln w="12700">
            <a:solidFill>
              <a:srgbClr val="11CA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835640" y="6446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 / 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随堂测验 3 💡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2331720" cy="0"/>
          </a:xfrm>
          <a:prstGeom prst="line">
            <a:avLst/>
          </a:prstGeom>
          <a:noFill/>
          <a:ln w="27940">
            <a:solidFill>
              <a:srgbClr val="11CA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10195560" cy="896112"/>
          </a:xfrm>
          <a:prstGeom prst="roundRect">
            <a:avLst/>
          </a:prstGeom>
          <a:solidFill>
            <a:srgbClr val="005088"/>
          </a:solidFill>
          <a:ln w="12700">
            <a:solidFill>
              <a:srgbClr val="0050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170432" y="1664208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提问：在设计“订单系统”时，“订单(Order)”和“订单明细行(OrderItem)”之间是整体与部分的关系，且删除了订单，其明细行必须随之删除。这在类图中应表示为哪种关系？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914400" y="2651760"/>
            <a:ext cx="48006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078992" y="281635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088"/>
                </a:solidFill>
              </a:rPr>
              <a:t>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17904" y="2798064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334155"/>
                </a:solidFill>
              </a:rPr>
              <a:t>泛化 (Generalization)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080760" y="2651760"/>
            <a:ext cx="48006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245352" y="281635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088"/>
                </a:solidFill>
              </a:rPr>
              <a:t>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84264" y="2798064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334155"/>
                </a:solidFill>
              </a:rPr>
              <a:t>聚合 (Aggregation)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78992" y="38221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088"/>
                </a:solidFill>
              </a:rPr>
              <a:t>C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17904" y="3803904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 err="1"/>
              <a:t>组合</a:t>
            </a:r>
            <a:r>
              <a:rPr lang="en-US" sz="1650" dirty="0"/>
              <a:t> (Composition)</a:t>
            </a:r>
          </a:p>
        </p:txBody>
      </p:sp>
      <p:sp>
        <p:nvSpPr>
          <p:cNvPr id="18" name="Shape 16"/>
          <p:cNvSpPr/>
          <p:nvPr/>
        </p:nvSpPr>
        <p:spPr>
          <a:xfrm>
            <a:off x="6080760" y="3657600"/>
            <a:ext cx="48006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245352" y="38221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088"/>
                </a:solidFill>
              </a:rPr>
              <a:t>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84264" y="3803904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334155"/>
                </a:solidFill>
              </a:rPr>
              <a:t>依赖 (Dependency)</a:t>
            </a:r>
            <a:endParaRPr lang="en-US" sz="1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CAA0"/>
          </a:solidFill>
          <a:ln w="12700">
            <a:solidFill>
              <a:srgbClr val="11CA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835640" y="6446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 / 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3. 状态图 (State Diagram) - 概念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2331720" cy="0"/>
          </a:xfrm>
          <a:prstGeom prst="line">
            <a:avLst/>
          </a:prstGeom>
          <a:noFill/>
          <a:ln w="27940">
            <a:solidFill>
              <a:srgbClr val="11CA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10469880" cy="35204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  <a:effectLst>
            <a:outerShdw blurRad="12700" dist="50800" dir="2700000" algn="bl" rotWithShape="0">
              <a:srgbClr val="B8C4D4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22960" y="1554480"/>
            <a:ext cx="10469880" cy="82296"/>
          </a:xfrm>
          <a:prstGeom prst="rect">
            <a:avLst/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97280" y="190195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5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对象的生命周期轨迹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1097280" y="23317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状态图展示了一个特定对象在其生命周期中所经历的各种状态，以及引起状态转换的事件。</a:t>
            </a:r>
            <a:endParaRPr lang="en-US" sz="1820" dirty="0"/>
          </a:p>
        </p:txBody>
      </p:sp>
      <p:sp>
        <p:nvSpPr>
          <p:cNvPr id="10" name="Text 8"/>
          <p:cNvSpPr/>
          <p:nvPr/>
        </p:nvSpPr>
        <p:spPr>
          <a:xfrm>
            <a:off x="1097280" y="299008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它非常适合用来描述复杂业务对象的行为逻辑，例如：订单状态、请假审批流、游戏角色的生命状态等。</a:t>
            </a:r>
            <a:endParaRPr lang="en-US" sz="18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CAA0"/>
          </a:solidFill>
          <a:ln w="12700">
            <a:solidFill>
              <a:srgbClr val="11CA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835640" y="6446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 / 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3. 状态图 - 状态与伪状态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2331720" cy="0"/>
          </a:xfrm>
          <a:prstGeom prst="line">
            <a:avLst/>
          </a:prstGeom>
          <a:noFill/>
          <a:ln w="27940">
            <a:solidFill>
              <a:srgbClr val="11CA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14400" y="170992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dirty="0">
                <a:solidFill>
                  <a:srgbClr val="11CA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▪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152144" y="1700784"/>
            <a:ext cx="6894576" cy="845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 (State)： 对象满足某一条件、执行某项活动或等待某一事件的状况。用圆角矩形表示。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914400" y="2774397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dirty="0">
                <a:solidFill>
                  <a:srgbClr val="11CA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▪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1152144" y="2765253"/>
            <a:ext cx="6894576" cy="845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初始状态 (Initial State)： 状态机的起点，一个图只能有一个。用实心圆表示。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914400" y="383886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dirty="0">
                <a:solidFill>
                  <a:srgbClr val="11CA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▪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1152144" y="3829722"/>
            <a:ext cx="6894576" cy="845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结束状态 (Final State)： 状态机的终点，一个图可以有多个。用牛眼（实心圆外套一个空心圆）表示。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8229600" y="2743200"/>
            <a:ext cx="182880" cy="18288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110728" y="2971800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初始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869680" y="2542032"/>
            <a:ext cx="1188720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50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869680" y="270662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状态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0" y="324612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事件 / 动作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412480" y="2834640"/>
            <a:ext cx="457200" cy="0"/>
          </a:xfrm>
          <a:prstGeom prst="line">
            <a:avLst/>
          </a:prstGeom>
          <a:noFill/>
          <a:ln w="15240">
            <a:solidFill>
              <a:srgbClr val="005088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10058400" y="2834640"/>
            <a:ext cx="548640" cy="0"/>
          </a:xfrm>
          <a:prstGeom prst="line">
            <a:avLst/>
          </a:prstGeom>
          <a:noFill/>
          <a:ln w="15240">
            <a:solidFill>
              <a:srgbClr val="005088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10607040" y="274320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10650931" y="2787091"/>
            <a:ext cx="113386" cy="113386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0497312" y="2971800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结束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CAA0"/>
          </a:solidFill>
          <a:ln w="12700">
            <a:solidFill>
              <a:srgbClr val="11CA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835640" y="6446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23 / 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3. 状态图 - 转换 (Transition)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2331720" cy="0"/>
          </a:xfrm>
          <a:prstGeom prst="line">
            <a:avLst/>
          </a:prstGeom>
          <a:noFill/>
          <a:ln w="27940">
            <a:solidFill>
              <a:srgbClr val="11CA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14400" y="16276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4155"/>
                </a:solidFill>
              </a:rPr>
              <a:t>转换是从一个状态到另一个状态的路径。通常包含三个部分：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206654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dirty="0">
                <a:solidFill>
                  <a:srgbClr val="11CA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▪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70432" y="2057400"/>
            <a:ext cx="6803136" cy="818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事件 (Event)： 触发转换的发生条件（如：用户点击按钮）。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32688" y="3067543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dirty="0">
                <a:solidFill>
                  <a:srgbClr val="11CA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▪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170432" y="3058399"/>
            <a:ext cx="6803136" cy="818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监护条件 (Guard)： 布尔表达式，为真时转换才发生，放在中括号 [] 中。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32688" y="406854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dirty="0">
                <a:solidFill>
                  <a:srgbClr val="11CA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▪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70432" y="4059398"/>
            <a:ext cx="6803136" cy="818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动作 (Action)： 转换发生时执行的计算或操作，放在斜杠 / 后。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0120" y="5074920"/>
            <a:ext cx="3566160" cy="50292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170432" y="5230368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155"/>
                </a:solidFill>
              </a:rPr>
              <a:t>格式： 事件 [条件] / 动作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92440" y="2743200"/>
            <a:ext cx="1188720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50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092440" y="2907792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待审核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829800" y="2743200"/>
            <a:ext cx="1188720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50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829800" y="2907792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已批准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81160" y="2990088"/>
            <a:ext cx="548640" cy="0"/>
          </a:xfrm>
          <a:prstGeom prst="line">
            <a:avLst/>
          </a:prstGeom>
          <a:noFill/>
          <a:ln w="17780">
            <a:solidFill>
              <a:srgbClr val="005088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641080" y="23957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E11D48"/>
                </a:solidFill>
              </a:rPr>
              <a:t>approve [额度足够] / 记账</a:t>
            </a:r>
            <a:endParaRPr lang="en-US" sz="9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CAA0"/>
          </a:solidFill>
          <a:ln w="12700">
            <a:solidFill>
              <a:srgbClr val="11CA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835640" y="6446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26 / 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4. 顺序图 (Sequence Diagram) - 概念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2331720" cy="0"/>
          </a:xfrm>
          <a:prstGeom prst="line">
            <a:avLst/>
          </a:prstGeom>
          <a:noFill/>
          <a:ln w="27940">
            <a:solidFill>
              <a:srgbClr val="11CA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10469880" cy="35204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  <a:effectLst>
            <a:outerShdw blurRad="12700" dist="50800" dir="2700000" algn="bl" rotWithShape="0">
              <a:srgbClr val="B8C4D4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22960" y="1554480"/>
            <a:ext cx="10469880" cy="82296"/>
          </a:xfrm>
          <a:prstGeom prst="rect">
            <a:avLst/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97280" y="190195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5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时间的维度：对象如何交互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1097280" y="23317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顺序图展示了对象之间交互的细节，尤其强调消息发送和接收的 时间顺序 。</a:t>
            </a:r>
            <a:endParaRPr lang="en-US" sz="1820" dirty="0"/>
          </a:p>
        </p:txBody>
      </p:sp>
      <p:sp>
        <p:nvSpPr>
          <p:cNvPr id="10" name="Text 8"/>
          <p:cNvSpPr/>
          <p:nvPr/>
        </p:nvSpPr>
        <p:spPr>
          <a:xfrm>
            <a:off x="1097280" y="299008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如果说类图是静态的代码结构，那么顺序图就是程序运行时的动态执行流程图。它通常用于将“用例图”中的一个特定场景细化为代码级别的调用逻辑。</a:t>
            </a:r>
            <a:endParaRPr lang="en-US" sz="18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CAA0"/>
          </a:solidFill>
          <a:ln w="12700">
            <a:solidFill>
              <a:srgbClr val="11CA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835640" y="6446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27 / 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4. 顺序图 - 核心元素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2331720" cy="0"/>
          </a:xfrm>
          <a:prstGeom prst="line">
            <a:avLst/>
          </a:prstGeom>
          <a:noFill/>
          <a:ln w="27940">
            <a:solidFill>
              <a:srgbClr val="11CA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14400" y="174650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20" dirty="0">
                <a:solidFill>
                  <a:srgbClr val="11CA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▪</a:t>
            </a:r>
            <a:endParaRPr lang="en-US" sz="2020" dirty="0"/>
          </a:p>
        </p:txBody>
      </p:sp>
      <p:sp>
        <p:nvSpPr>
          <p:cNvPr id="7" name="Text 5"/>
          <p:cNvSpPr/>
          <p:nvPr/>
        </p:nvSpPr>
        <p:spPr>
          <a:xfrm>
            <a:off x="1152144" y="1737360"/>
            <a:ext cx="7031736" cy="836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对象 (Object)： 位于图的顶部，代表参与交互的实例。</a:t>
            </a:r>
            <a:endParaRPr lang="en-US" sz="1820" dirty="0"/>
          </a:p>
        </p:txBody>
      </p:sp>
      <p:sp>
        <p:nvSpPr>
          <p:cNvPr id="8" name="Text 6"/>
          <p:cNvSpPr/>
          <p:nvPr/>
        </p:nvSpPr>
        <p:spPr>
          <a:xfrm>
            <a:off x="914400" y="2821193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20" dirty="0">
                <a:solidFill>
                  <a:srgbClr val="11CA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▪</a:t>
            </a:r>
            <a:endParaRPr lang="en-US" sz="2020" dirty="0"/>
          </a:p>
        </p:txBody>
      </p:sp>
      <p:sp>
        <p:nvSpPr>
          <p:cNvPr id="9" name="Text 7"/>
          <p:cNvSpPr/>
          <p:nvPr/>
        </p:nvSpPr>
        <p:spPr>
          <a:xfrm>
            <a:off x="1152144" y="2812049"/>
            <a:ext cx="7031736" cy="836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生命线 (Lifeline)： 从对象向下延伸的虚线，表示对象在时间序列中的存在。</a:t>
            </a:r>
            <a:endParaRPr lang="en-US" sz="1820" dirty="0"/>
          </a:p>
        </p:txBody>
      </p:sp>
      <p:sp>
        <p:nvSpPr>
          <p:cNvPr id="10" name="Text 8"/>
          <p:cNvSpPr/>
          <p:nvPr/>
        </p:nvSpPr>
        <p:spPr>
          <a:xfrm>
            <a:off x="914400" y="389588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20" dirty="0">
                <a:solidFill>
                  <a:srgbClr val="11CA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▪</a:t>
            </a:r>
            <a:endParaRPr lang="en-US" sz="2020" dirty="0"/>
          </a:p>
        </p:txBody>
      </p:sp>
      <p:sp>
        <p:nvSpPr>
          <p:cNvPr id="11" name="Text 9"/>
          <p:cNvSpPr/>
          <p:nvPr/>
        </p:nvSpPr>
        <p:spPr>
          <a:xfrm>
            <a:off x="1152144" y="3886738"/>
            <a:ext cx="7031736" cy="836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激活/控制焦点 (Activation)： 生命线上的长方形矩形块，表示对象在这段时间内正在执行某项操作或占用CPU资源。</a:t>
            </a:r>
            <a:endParaRPr lang="en-US" sz="1820" dirty="0"/>
          </a:p>
        </p:txBody>
      </p:sp>
      <p:sp>
        <p:nvSpPr>
          <p:cNvPr id="12" name="Shape 10"/>
          <p:cNvSpPr/>
          <p:nvPr/>
        </p:nvSpPr>
        <p:spPr>
          <a:xfrm>
            <a:off x="8229600" y="2103120"/>
            <a:ext cx="594360" cy="301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0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247888" y="2194560"/>
            <a:ext cx="5577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526780" y="2404872"/>
            <a:ext cx="0" cy="219456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9372600" y="2103120"/>
            <a:ext cx="594360" cy="301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0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390888" y="2194560"/>
            <a:ext cx="5577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669780" y="2404872"/>
            <a:ext cx="0" cy="219456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10515600" y="2103120"/>
            <a:ext cx="594360" cy="301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0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0533888" y="2194560"/>
            <a:ext cx="5577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812780" y="2404872"/>
            <a:ext cx="0" cy="219456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1" name="Shape 19"/>
          <p:cNvSpPr/>
          <p:nvPr/>
        </p:nvSpPr>
        <p:spPr>
          <a:xfrm>
            <a:off x="8526779" y="2788920"/>
            <a:ext cx="1165857" cy="0"/>
          </a:xfrm>
          <a:prstGeom prst="line">
            <a:avLst/>
          </a:prstGeom>
          <a:noFill/>
          <a:ln w="15240">
            <a:solidFill>
              <a:srgbClr val="005088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9669780" y="3383280"/>
            <a:ext cx="1165860" cy="0"/>
          </a:xfrm>
          <a:prstGeom prst="line">
            <a:avLst/>
          </a:prstGeom>
          <a:noFill/>
          <a:ln w="15240">
            <a:solidFill>
              <a:srgbClr val="005088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 flipH="1">
            <a:off x="9669780" y="4000622"/>
            <a:ext cx="1143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805672" y="260604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msg1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893808" y="3172968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msg2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886950" y="3831874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return</a:t>
            </a:r>
            <a:endParaRPr lang="en-US" sz="950" dirty="0"/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54DF9D77-4252-3BF7-FD88-592A504EB5B8}"/>
              </a:ext>
            </a:extLst>
          </p:cNvPr>
          <p:cNvSpPr/>
          <p:nvPr/>
        </p:nvSpPr>
        <p:spPr>
          <a:xfrm flipH="1">
            <a:off x="8526779" y="4285243"/>
            <a:ext cx="1143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6E33A3B-B53C-6934-19DE-F2F75846788A}"/>
              </a:ext>
            </a:extLst>
          </p:cNvPr>
          <p:cNvSpPr txBox="1"/>
          <p:nvPr/>
        </p:nvSpPr>
        <p:spPr>
          <a:xfrm>
            <a:off x="8765770" y="4012553"/>
            <a:ext cx="6650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zh-CN" sz="1400" dirty="0">
                <a:solidFill>
                  <a:srgbClr val="64748B"/>
                </a:solidFill>
              </a:rPr>
              <a:t>return</a:t>
            </a:r>
            <a:endParaRPr lang="en-US" altLang="zh-CN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CAA0"/>
          </a:solidFill>
          <a:ln w="12700">
            <a:solidFill>
              <a:srgbClr val="11CA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835640" y="6446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28 / 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4. 顺序图 - 消息类型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2331720" cy="0"/>
          </a:xfrm>
          <a:prstGeom prst="line">
            <a:avLst/>
          </a:prstGeom>
          <a:noFill/>
          <a:ln w="27940">
            <a:solidFill>
              <a:srgbClr val="11CA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68680" y="1828800"/>
            <a:ext cx="2834640" cy="292608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" dist="50800" dir="2700000" algn="bl" rotWithShape="0">
              <a:srgbClr val="B8C4D4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68680" y="1828800"/>
            <a:ext cx="2834640" cy="73152"/>
          </a:xfrm>
          <a:prstGeom prst="rect">
            <a:avLst/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88136" y="199339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72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同步消息 (Synchronous)</a:t>
            </a:r>
            <a:endParaRPr lang="en-US" sz="1720" dirty="0"/>
          </a:p>
        </p:txBody>
      </p:sp>
      <p:sp>
        <p:nvSpPr>
          <p:cNvPr id="9" name="Text 7"/>
          <p:cNvSpPr/>
          <p:nvPr/>
        </p:nvSpPr>
        <p:spPr>
          <a:xfrm>
            <a:off x="1088136" y="2359152"/>
            <a:ext cx="242316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发送方发出消息后，必须等待接收方响应并返回后，才能继续执行后续操作。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符号：实线 + 实心三角箭头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4160520" y="1828800"/>
            <a:ext cx="2834640" cy="292608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" dist="50800" dir="2700000" algn="bl" rotWithShape="0">
              <a:srgbClr val="B8C4D4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160520" y="1828800"/>
            <a:ext cx="2834640" cy="73152"/>
          </a:xfrm>
          <a:prstGeom prst="rect">
            <a:avLst/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379976" y="199339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72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异步消息 (Asynchronous)</a:t>
            </a:r>
            <a:endParaRPr lang="en-US" sz="1720" dirty="0"/>
          </a:p>
        </p:txBody>
      </p:sp>
      <p:sp>
        <p:nvSpPr>
          <p:cNvPr id="13" name="Text 11"/>
          <p:cNvSpPr/>
          <p:nvPr/>
        </p:nvSpPr>
        <p:spPr>
          <a:xfrm>
            <a:off x="4379976" y="2359152"/>
            <a:ext cx="242316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发送方发出消息后，不等待响应即可继续执行（如发送邮件、触发消息队列）。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符号：实线 + 开放/半个箭头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7452360" y="1828800"/>
            <a:ext cx="2834640" cy="292608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" dist="50800" dir="2700000" algn="bl" rotWithShape="0">
              <a:srgbClr val="B8C4D4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7452360" y="1828800"/>
            <a:ext cx="2834640" cy="73152"/>
          </a:xfrm>
          <a:prstGeom prst="rect">
            <a:avLst/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671816" y="199339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返回消息 (Return)</a:t>
            </a:r>
            <a:endParaRPr lang="en-US" sz="1720" dirty="0"/>
          </a:p>
        </p:txBody>
      </p:sp>
      <p:sp>
        <p:nvSpPr>
          <p:cNvPr id="17" name="Text 15"/>
          <p:cNvSpPr/>
          <p:nvPr/>
        </p:nvSpPr>
        <p:spPr>
          <a:xfrm>
            <a:off x="7671816" y="2359152"/>
            <a:ext cx="242316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表示方法调用的结果返回给调用者。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符号：虚线 + 开放箭头</a:t>
            </a:r>
            <a:endParaRPr lang="en-US" sz="13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CAA0"/>
          </a:solidFill>
          <a:ln w="12700">
            <a:solidFill>
              <a:srgbClr val="11CA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835640" y="6446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29 / 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4. 顺序图 - 实例分析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2331720" cy="0"/>
          </a:xfrm>
          <a:prstGeom prst="line">
            <a:avLst/>
          </a:prstGeom>
          <a:noFill/>
          <a:ln w="27940">
            <a:solidFill>
              <a:srgbClr val="11CA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10332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 err="1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场景</a:t>
            </a:r>
            <a:r>
              <a:rPr lang="en-US" sz="165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：</a:t>
            </a:r>
            <a:r>
              <a:rPr lang="zh-CN" altLang="en-US" sz="165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借书</a:t>
            </a:r>
            <a:endParaRPr lang="en-US" sz="1650" dirty="0"/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80C541FC-B303-FF8A-9EA7-AC90C6610A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49"/>
          <a:stretch>
            <a:fillRect/>
          </a:stretch>
        </p:blipFill>
        <p:spPr>
          <a:xfrm>
            <a:off x="1716157" y="1296405"/>
            <a:ext cx="8173083" cy="515011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16">
            <a:extLst>
              <a:ext uri="{FF2B5EF4-FFF2-40B4-BE49-F238E27FC236}">
                <a16:creationId xmlns:a16="http://schemas.microsoft.com/office/drawing/2014/main" id="{5574CD51-AE8C-6418-3207-57CAC359218E}"/>
              </a:ext>
            </a:extLst>
          </p:cNvPr>
          <p:cNvSpPr/>
          <p:nvPr/>
        </p:nvSpPr>
        <p:spPr>
          <a:xfrm>
            <a:off x="914400" y="3622075"/>
            <a:ext cx="48006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CAA0"/>
          </a:solidFill>
          <a:ln w="12700">
            <a:solidFill>
              <a:srgbClr val="11CA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835640" y="6446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 / 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随堂测验 4 💡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2331720" cy="0"/>
          </a:xfrm>
          <a:prstGeom prst="line">
            <a:avLst/>
          </a:prstGeom>
          <a:noFill/>
          <a:ln w="27940">
            <a:solidFill>
              <a:srgbClr val="11CA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10195560" cy="896112"/>
          </a:xfrm>
          <a:prstGeom prst="roundRect">
            <a:avLst/>
          </a:prstGeom>
          <a:solidFill>
            <a:srgbClr val="005088"/>
          </a:solidFill>
          <a:ln w="12700">
            <a:solidFill>
              <a:srgbClr val="0050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170432" y="1664208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提问：在设计“网上结账”业务时，我们需要强烈强调各个对象（如前端界面、购物车类、支付网关）之间发送消息的先后 时间顺序 。应选用哪种图？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914400" y="2651760"/>
            <a:ext cx="48006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078992" y="281635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088"/>
                </a:solidFill>
              </a:rPr>
              <a:t>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17904" y="2798064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334155"/>
                </a:solidFill>
              </a:rPr>
              <a:t>用例图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080760" y="2651760"/>
            <a:ext cx="48006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245352" y="281635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088"/>
                </a:solidFill>
              </a:rPr>
              <a:t>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84264" y="2798064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334155"/>
                </a:solidFill>
              </a:rPr>
              <a:t>状态图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78992" y="38221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088"/>
                </a:solidFill>
              </a:rPr>
              <a:t>C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17904" y="3803904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/>
              <a:t>顺序图</a:t>
            </a:r>
          </a:p>
        </p:txBody>
      </p:sp>
      <p:sp>
        <p:nvSpPr>
          <p:cNvPr id="18" name="Shape 16"/>
          <p:cNvSpPr/>
          <p:nvPr/>
        </p:nvSpPr>
        <p:spPr>
          <a:xfrm>
            <a:off x="6080760" y="3657600"/>
            <a:ext cx="48006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245352" y="38221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088"/>
                </a:solidFill>
              </a:rPr>
              <a:t>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84264" y="3803904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334155"/>
                </a:solidFill>
              </a:rPr>
              <a:t>部署图</a:t>
            </a:r>
            <a:endParaRPr lang="en-US" sz="1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CAA0"/>
          </a:solidFill>
          <a:ln w="12700">
            <a:solidFill>
              <a:srgbClr val="11CA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835640" y="6446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 / 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5. 协作图 / 通信图 - 概念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2331720" cy="0"/>
          </a:xfrm>
          <a:prstGeom prst="line">
            <a:avLst/>
          </a:prstGeom>
          <a:noFill/>
          <a:ln w="27940">
            <a:solidFill>
              <a:srgbClr val="11CA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10469880" cy="35204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  <a:effectLst>
            <a:outerShdw blurRad="12700" dist="50800" dir="2700000" algn="bl" rotWithShape="0">
              <a:srgbClr val="B8C4D4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22960" y="1554480"/>
            <a:ext cx="10469880" cy="82296"/>
          </a:xfrm>
          <a:prstGeom prst="rect">
            <a:avLst/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97280" y="190195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5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空间的维度：对象的网络连接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1097280" y="23317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协作图（在 UML 2.0 中改名为通信图 Communication Diagram），其表达的语义与顺序图完全等价。</a:t>
            </a:r>
            <a:endParaRPr lang="en-US" sz="1820" dirty="0"/>
          </a:p>
        </p:txBody>
      </p:sp>
      <p:sp>
        <p:nvSpPr>
          <p:cNvPr id="10" name="Text 8"/>
          <p:cNvSpPr/>
          <p:nvPr/>
        </p:nvSpPr>
        <p:spPr>
          <a:xfrm>
            <a:off x="1097280" y="299008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区别在于：协作图不强调时间的垂直流逝，而是强调参与交互的对象之间的 组织结构、空间布局和连接关系 。</a:t>
            </a:r>
            <a:endParaRPr lang="en-US" sz="18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CAA0"/>
          </a:solidFill>
          <a:ln w="12700">
            <a:solidFill>
              <a:srgbClr val="11CA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835640" y="6446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31 / 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5. 协作图 - 核心元素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2331720" cy="0"/>
          </a:xfrm>
          <a:prstGeom prst="line">
            <a:avLst/>
          </a:prstGeom>
          <a:noFill/>
          <a:ln w="27940">
            <a:solidFill>
              <a:srgbClr val="11CA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14400" y="170992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20" dirty="0">
                <a:solidFill>
                  <a:srgbClr val="11CA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▪</a:t>
            </a:r>
            <a:endParaRPr lang="en-US" sz="1920" dirty="0"/>
          </a:p>
        </p:txBody>
      </p:sp>
      <p:sp>
        <p:nvSpPr>
          <p:cNvPr id="7" name="Text 5"/>
          <p:cNvSpPr/>
          <p:nvPr/>
        </p:nvSpPr>
        <p:spPr>
          <a:xfrm>
            <a:off x="1152144" y="1700784"/>
            <a:ext cx="5248656" cy="81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对象 (Object)： 参与交互的实体。</a:t>
            </a:r>
            <a:endParaRPr lang="en-US" sz="1720" dirty="0"/>
          </a:p>
        </p:txBody>
      </p:sp>
      <p:sp>
        <p:nvSpPr>
          <p:cNvPr id="8" name="Text 6"/>
          <p:cNvSpPr/>
          <p:nvPr/>
        </p:nvSpPr>
        <p:spPr>
          <a:xfrm>
            <a:off x="914400" y="2684571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20" dirty="0">
                <a:solidFill>
                  <a:srgbClr val="11CA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▪</a:t>
            </a:r>
            <a:endParaRPr lang="en-US" sz="1920" dirty="0"/>
          </a:p>
        </p:txBody>
      </p:sp>
      <p:sp>
        <p:nvSpPr>
          <p:cNvPr id="9" name="Text 7"/>
          <p:cNvSpPr/>
          <p:nvPr/>
        </p:nvSpPr>
        <p:spPr>
          <a:xfrm>
            <a:off x="1152144" y="2675427"/>
            <a:ext cx="5248656" cy="81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链接 (Link)： 对象之间的连接线，表示对象间存在一条可以传递消息的路径。</a:t>
            </a:r>
            <a:endParaRPr lang="en-US" sz="1720" dirty="0"/>
          </a:p>
        </p:txBody>
      </p:sp>
      <p:sp>
        <p:nvSpPr>
          <p:cNvPr id="10" name="Text 8"/>
          <p:cNvSpPr/>
          <p:nvPr/>
        </p:nvSpPr>
        <p:spPr>
          <a:xfrm>
            <a:off x="914400" y="365921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20" dirty="0">
                <a:solidFill>
                  <a:srgbClr val="11CA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▪</a:t>
            </a:r>
            <a:endParaRPr lang="en-US" sz="1920" dirty="0"/>
          </a:p>
        </p:txBody>
      </p:sp>
      <p:sp>
        <p:nvSpPr>
          <p:cNvPr id="11" name="Text 9"/>
          <p:cNvSpPr/>
          <p:nvPr/>
        </p:nvSpPr>
        <p:spPr>
          <a:xfrm>
            <a:off x="1152144" y="3650070"/>
            <a:ext cx="5248656" cy="81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消息 (Message)： 附着在链接线上的带箭头文本，箭头指明方向。</a:t>
            </a:r>
            <a:endParaRPr lang="en-US" sz="1720" dirty="0"/>
          </a:p>
        </p:txBody>
      </p:sp>
      <p:sp>
        <p:nvSpPr>
          <p:cNvPr id="12" name="Text 10"/>
          <p:cNvSpPr/>
          <p:nvPr/>
        </p:nvSpPr>
        <p:spPr>
          <a:xfrm>
            <a:off x="914400" y="463385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20" dirty="0">
                <a:solidFill>
                  <a:srgbClr val="11CA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▪</a:t>
            </a:r>
            <a:endParaRPr lang="en-US" sz="1920" dirty="0"/>
          </a:p>
        </p:txBody>
      </p:sp>
      <p:sp>
        <p:nvSpPr>
          <p:cNvPr id="13" name="Text 11"/>
          <p:cNvSpPr/>
          <p:nvPr/>
        </p:nvSpPr>
        <p:spPr>
          <a:xfrm>
            <a:off x="1152144" y="4624712"/>
            <a:ext cx="5248656" cy="1272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序号 (Sequence Numbers)： 由于没有时间轴，必须依靠数字序号（如 1, 1.1, 1.2, 2）来标明消息执行的先后顺序。</a:t>
            </a:r>
            <a:endParaRPr lang="en-US" sz="172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CAA0"/>
          </a:solidFill>
          <a:ln w="12700">
            <a:solidFill>
              <a:srgbClr val="11CA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835640" y="6446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32 / 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顺序图与协作图的对比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2331720" cy="0"/>
          </a:xfrm>
          <a:prstGeom prst="line">
            <a:avLst/>
          </a:prstGeom>
          <a:noFill/>
          <a:ln w="27940">
            <a:solidFill>
              <a:srgbClr val="11CA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50749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" dist="50800" dir="2700000" algn="bl" rotWithShape="0">
              <a:srgbClr val="B8C4D4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914400" y="1691640"/>
            <a:ext cx="5074920" cy="73152"/>
          </a:xfrm>
          <a:prstGeom prst="rect">
            <a:avLst/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33856" y="185623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顺序图 (Sequence)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1133856" y="2221992"/>
            <a:ext cx="466344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9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侧重：**时间顺序**。</a:t>
            </a:r>
            <a:endParaRPr lang="en-US" sz="1390" dirty="0"/>
          </a:p>
          <a:p>
            <a:pPr marL="0" indent="0">
              <a:buNone/>
            </a:pPr>
            <a:r>
              <a:rPr lang="en-US" sz="139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阅读体验：从上到下阅读，极其直观。</a:t>
            </a:r>
            <a:endParaRPr lang="en-US" sz="1390" dirty="0"/>
          </a:p>
          <a:p>
            <a:pPr marL="0" indent="0">
              <a:buNone/>
            </a:pPr>
            <a:r>
              <a:rPr lang="en-US" sz="139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场景：当判断逻辑复杂、步骤繁多时首选。</a:t>
            </a:r>
            <a:endParaRPr lang="en-US" sz="1390" dirty="0"/>
          </a:p>
          <a:p>
            <a:pPr marL="0" indent="0">
              <a:buNone/>
            </a:pPr>
            <a:r>
              <a:rPr lang="en-US" sz="139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工具支持：几乎所有建模工具都支持两者一键相互转换。</a:t>
            </a:r>
            <a:endParaRPr lang="en-US" sz="1390" dirty="0"/>
          </a:p>
        </p:txBody>
      </p:sp>
      <p:sp>
        <p:nvSpPr>
          <p:cNvPr id="10" name="Shape 8"/>
          <p:cNvSpPr/>
          <p:nvPr/>
        </p:nvSpPr>
        <p:spPr>
          <a:xfrm>
            <a:off x="6199632" y="1691640"/>
            <a:ext cx="50749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" dist="50800" dir="2700000" algn="bl" rotWithShape="0">
              <a:srgbClr val="B8C4D4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6199632" y="1691640"/>
            <a:ext cx="5074920" cy="73152"/>
          </a:xfrm>
          <a:prstGeom prst="rect">
            <a:avLst/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419088" y="185623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协作图 (Collaboration)</a:t>
            </a:r>
            <a:endParaRPr lang="en-US" sz="1820" dirty="0"/>
          </a:p>
        </p:txBody>
      </p:sp>
      <p:sp>
        <p:nvSpPr>
          <p:cNvPr id="13" name="Text 11"/>
          <p:cNvSpPr/>
          <p:nvPr/>
        </p:nvSpPr>
        <p:spPr>
          <a:xfrm>
            <a:off x="6419088" y="2221992"/>
            <a:ext cx="466344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9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侧重：**空间组织与连接关系**。</a:t>
            </a:r>
            <a:endParaRPr lang="en-US" sz="1390" dirty="0"/>
          </a:p>
          <a:p>
            <a:pPr marL="0" indent="0">
              <a:buNone/>
            </a:pPr>
            <a:r>
              <a:rPr lang="en-US" sz="139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阅读体验：像地图一样，需要根据数字序号追踪。</a:t>
            </a:r>
            <a:endParaRPr lang="en-US" sz="1390" dirty="0"/>
          </a:p>
          <a:p>
            <a:pPr marL="0" indent="0">
              <a:buNone/>
            </a:pPr>
            <a:r>
              <a:rPr lang="en-US" sz="139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场景：当需要评估某个对象被多少其他对象依赖（耦合度评估）时更直观。</a:t>
            </a:r>
            <a:endParaRPr lang="en-US" sz="139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6">
            <a:extLst>
              <a:ext uri="{FF2B5EF4-FFF2-40B4-BE49-F238E27FC236}">
                <a16:creationId xmlns:a16="http://schemas.microsoft.com/office/drawing/2014/main" id="{1561B9AD-B610-795E-3751-36315077DA09}"/>
              </a:ext>
            </a:extLst>
          </p:cNvPr>
          <p:cNvSpPr/>
          <p:nvPr/>
        </p:nvSpPr>
        <p:spPr>
          <a:xfrm>
            <a:off x="6062472" y="2651760"/>
            <a:ext cx="48006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r>
              <a:rPr lang="en-US" altLang="zh-CN" dirty="0"/>
              <a:t>         </a:t>
            </a:r>
            <a:r>
              <a:rPr lang="zh-CN" altLang="en-US" dirty="0"/>
              <a:t>对象</a:t>
            </a: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CAA0"/>
          </a:solidFill>
          <a:ln w="12700">
            <a:solidFill>
              <a:srgbClr val="11CA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835640" y="6446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39 / 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随堂测验 5 💡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2331720" cy="0"/>
          </a:xfrm>
          <a:prstGeom prst="line">
            <a:avLst/>
          </a:prstGeom>
          <a:noFill/>
          <a:ln w="27940">
            <a:solidFill>
              <a:srgbClr val="11CA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10195560" cy="896112"/>
          </a:xfrm>
          <a:prstGeom prst="roundRect">
            <a:avLst/>
          </a:prstGeom>
          <a:solidFill>
            <a:srgbClr val="005088"/>
          </a:solidFill>
          <a:ln w="12700">
            <a:solidFill>
              <a:srgbClr val="005088"/>
            </a:solidFill>
            <a:prstDash val="solid"/>
          </a:ln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在 </a:t>
            </a:r>
            <a:r>
              <a:rPr lang="en-US" altLang="zh-CN" dirty="0">
                <a:solidFill>
                  <a:schemeClr val="bg1"/>
                </a:solidFill>
              </a:rPr>
              <a:t>UML </a:t>
            </a:r>
            <a:r>
              <a:rPr lang="zh-CN" altLang="en-US" dirty="0">
                <a:solidFill>
                  <a:schemeClr val="bg1"/>
                </a:solidFill>
              </a:rPr>
              <a:t>协作图（</a:t>
            </a:r>
            <a:r>
              <a:rPr lang="en-US" altLang="zh-CN" dirty="0">
                <a:solidFill>
                  <a:schemeClr val="bg1"/>
                </a:solidFill>
              </a:rPr>
              <a:t>Collaboration Diagram</a:t>
            </a:r>
            <a:r>
              <a:rPr lang="zh-CN" altLang="en-US" dirty="0">
                <a:solidFill>
                  <a:schemeClr val="bg1"/>
                </a:solidFill>
              </a:rPr>
              <a:t>）中，用于表示参与交互实体的核心元素是？（）</a:t>
            </a:r>
          </a:p>
        </p:txBody>
      </p:sp>
      <p:sp>
        <p:nvSpPr>
          <p:cNvPr id="7" name="Text 5"/>
          <p:cNvSpPr/>
          <p:nvPr/>
        </p:nvSpPr>
        <p:spPr>
          <a:xfrm>
            <a:off x="1170432" y="1664208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914400" y="2651760"/>
            <a:ext cx="48006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078992" y="281635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088"/>
                </a:solidFill>
              </a:rPr>
              <a:t>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17904" y="2798064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zh-CN" altLang="en-US" sz="1600" dirty="0"/>
              <a:t>链接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245352" y="281635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088"/>
                </a:solidFill>
              </a:rPr>
              <a:t>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84264" y="2798064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14400" y="3657600"/>
            <a:ext cx="48006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078992" y="38221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088"/>
                </a:solidFill>
              </a:rPr>
              <a:t>C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17904" y="3803904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650" dirty="0">
                <a:solidFill>
                  <a:srgbClr val="334155"/>
                </a:solidFill>
              </a:rPr>
              <a:t>消息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6080760" y="3657600"/>
            <a:ext cx="48006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245352" y="38221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088"/>
                </a:solidFill>
              </a:rPr>
              <a:t>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84264" y="3803904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650" dirty="0">
                <a:solidFill>
                  <a:srgbClr val="334155"/>
                </a:solidFill>
              </a:rPr>
              <a:t>序号</a:t>
            </a:r>
            <a:endParaRPr lang="en-US" sz="16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CAA0"/>
          </a:solidFill>
          <a:ln w="12700">
            <a:solidFill>
              <a:srgbClr val="11CA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835640" y="6446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33 / 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6. 部署图 (Deployment Diagram) - 概念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2331720" cy="0"/>
          </a:xfrm>
          <a:prstGeom prst="line">
            <a:avLst/>
          </a:prstGeom>
          <a:noFill/>
          <a:ln w="27940">
            <a:solidFill>
              <a:srgbClr val="11CA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10469880" cy="35204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  <a:effectLst>
            <a:outerShdw blurRad="12700" dist="50800" dir="2700000" algn="bl" rotWithShape="0">
              <a:srgbClr val="B8C4D4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22960" y="1554480"/>
            <a:ext cx="10469880" cy="82296"/>
          </a:xfrm>
          <a:prstGeom prst="rect">
            <a:avLst/>
          </a:prstGeom>
          <a:solidFill>
            <a:srgbClr val="005088"/>
          </a:solidFill>
          <a:ln w="12700">
            <a:solidFill>
              <a:srgbClr val="0050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97280" y="190195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5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物理架构的蓝图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1097280" y="23317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前面的图都在讨论软件逻辑，而部署图描述的是系统运行时的 物理硬件拓扑结构 。</a:t>
            </a:r>
            <a:endParaRPr lang="en-US" sz="1820" dirty="0"/>
          </a:p>
        </p:txBody>
      </p:sp>
      <p:sp>
        <p:nvSpPr>
          <p:cNvPr id="10" name="Text 8"/>
          <p:cNvSpPr/>
          <p:nvPr/>
        </p:nvSpPr>
        <p:spPr>
          <a:xfrm>
            <a:off x="1097280" y="299008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它展示了软件组件是如何被分配、安装和部署到具体的物理硬件（服务器、移动设备）上的，是系统架构师和运维工程师沟通的重要工具。</a:t>
            </a:r>
            <a:endParaRPr lang="en-US" sz="182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CAA0"/>
          </a:solidFill>
          <a:ln w="12700">
            <a:solidFill>
              <a:srgbClr val="11CA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835640" y="6446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34 / 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6. 部署图 - 核心元素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2331720" cy="0"/>
          </a:xfrm>
          <a:prstGeom prst="line">
            <a:avLst/>
          </a:prstGeom>
          <a:noFill/>
          <a:ln w="27940">
            <a:solidFill>
              <a:srgbClr val="11CA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14400" y="170992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80" dirty="0">
                <a:solidFill>
                  <a:srgbClr val="11CA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▪</a:t>
            </a:r>
            <a:endParaRPr lang="en-US" sz="1980" dirty="0"/>
          </a:p>
        </p:txBody>
      </p:sp>
      <p:sp>
        <p:nvSpPr>
          <p:cNvPr id="7" name="Text 5"/>
          <p:cNvSpPr/>
          <p:nvPr/>
        </p:nvSpPr>
        <p:spPr>
          <a:xfrm>
            <a:off x="1152144" y="1700784"/>
            <a:ext cx="6940296" cy="8261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节点 (Node)： 代表一个物理设备或执行环境。通常用三维立方体表示。分为设备节点（如物理服务器）和执行环境节点（如 Tomcat, OS）。</a:t>
            </a:r>
            <a:endParaRPr lang="en-US" sz="1780" dirty="0"/>
          </a:p>
        </p:txBody>
      </p:sp>
      <p:sp>
        <p:nvSpPr>
          <p:cNvPr id="8" name="Text 6"/>
          <p:cNvSpPr/>
          <p:nvPr/>
        </p:nvSpPr>
        <p:spPr>
          <a:xfrm>
            <a:off x="914400" y="2737283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80" dirty="0">
                <a:solidFill>
                  <a:srgbClr val="11CA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▪</a:t>
            </a:r>
            <a:endParaRPr lang="en-US" sz="1980" dirty="0"/>
          </a:p>
        </p:txBody>
      </p:sp>
      <p:sp>
        <p:nvSpPr>
          <p:cNvPr id="9" name="Text 7"/>
          <p:cNvSpPr/>
          <p:nvPr/>
        </p:nvSpPr>
        <p:spPr>
          <a:xfrm>
            <a:off x="1152144" y="2728139"/>
            <a:ext cx="6940296" cy="8261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组件 (Artifact / Component)： 软件产品的物理存在形式，如 .jar 包、.exe 文件、数据库脚本。驻留在节点内部。</a:t>
            </a:r>
            <a:endParaRPr lang="en-US" sz="1780" dirty="0"/>
          </a:p>
        </p:txBody>
      </p:sp>
      <p:sp>
        <p:nvSpPr>
          <p:cNvPr id="10" name="Text 8"/>
          <p:cNvSpPr/>
          <p:nvPr/>
        </p:nvSpPr>
        <p:spPr>
          <a:xfrm>
            <a:off x="914400" y="3764639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80" dirty="0">
                <a:solidFill>
                  <a:srgbClr val="11CA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▪</a:t>
            </a:r>
            <a:endParaRPr lang="en-US" sz="1980" dirty="0"/>
          </a:p>
        </p:txBody>
      </p:sp>
      <p:sp>
        <p:nvSpPr>
          <p:cNvPr id="11" name="Text 9"/>
          <p:cNvSpPr/>
          <p:nvPr/>
        </p:nvSpPr>
        <p:spPr>
          <a:xfrm>
            <a:off x="1152144" y="3755495"/>
            <a:ext cx="6940296" cy="8261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8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通信路径 (Communication Path)： 节点之间的连接实线，通常用版型 &lt;&lt;protocol&gt;&gt; 标注网络协议（如 HTTP, TCP/IP）。</a:t>
            </a:r>
            <a:endParaRPr lang="en-US" sz="1780" dirty="0"/>
          </a:p>
        </p:txBody>
      </p:sp>
      <p:sp>
        <p:nvSpPr>
          <p:cNvPr id="12" name="Shape 10"/>
          <p:cNvSpPr/>
          <p:nvPr/>
        </p:nvSpPr>
        <p:spPr>
          <a:xfrm>
            <a:off x="8138160" y="2606040"/>
            <a:ext cx="1143000" cy="1051560"/>
          </a:xfrm>
          <a:prstGeom prst="cube">
            <a:avLst/>
          </a:prstGeom>
          <a:solidFill>
            <a:srgbClr val="F8FBFF"/>
          </a:solidFill>
          <a:ln w="12700">
            <a:solidFill>
              <a:srgbClr val="0050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321040" y="2971800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5088"/>
                </a:solidFill>
              </a:rPr>
              <a:t>Node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829800" y="2834640"/>
            <a:ext cx="91440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9875520" y="2962656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Artifact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281160" y="3127248"/>
            <a:ext cx="54864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290304" y="2761488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TCP/IP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CAA0"/>
          </a:solidFill>
          <a:ln w="12700">
            <a:solidFill>
              <a:srgbClr val="11CA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835640" y="6446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35 / 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6. 部署图 - 实例分析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2331720" cy="0"/>
          </a:xfrm>
          <a:prstGeom prst="line">
            <a:avLst/>
          </a:prstGeom>
          <a:noFill/>
          <a:ln w="27940">
            <a:solidFill>
              <a:srgbClr val="11CA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32688" y="11430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场景：经典 Web 架构部署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2331720" y="3054096"/>
            <a:ext cx="155448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2679192" y="283464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HTTPS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801868" y="2995076"/>
            <a:ext cx="150876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847588" y="273904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HTTP / REST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988552" y="2980113"/>
            <a:ext cx="105156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171432" y="2776451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JDBC / TCP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2432304"/>
            <a:ext cx="1508760" cy="1499616"/>
          </a:xfrm>
          <a:prstGeom prst="cube">
            <a:avLst/>
          </a:prstGeom>
          <a:solidFill>
            <a:srgbClr val="F8FBFF"/>
          </a:solidFill>
          <a:ln w="15240">
            <a:solidFill>
              <a:srgbClr val="0050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024128" y="2542032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5088"/>
                </a:solidFill>
              </a:rPr>
              <a:t>浏览器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155192" y="3008376"/>
            <a:ext cx="688294" cy="21031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90600" y="3041627"/>
            <a:ext cx="1014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334155"/>
                </a:solidFill>
              </a:rPr>
              <a:t>Chrome / Edge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3934414" y="2194560"/>
            <a:ext cx="1920240" cy="1828800"/>
          </a:xfrm>
          <a:prstGeom prst="cube">
            <a:avLst/>
          </a:prstGeom>
          <a:solidFill>
            <a:srgbClr val="F8FBFF"/>
          </a:solidFill>
          <a:ln w="15240">
            <a:solidFill>
              <a:srgbClr val="0050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3995928" y="2313432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5088"/>
                </a:solidFill>
              </a:rPr>
              <a:t>Web 服务器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181302" y="2766060"/>
            <a:ext cx="1062366" cy="169164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3953533" y="2807208"/>
            <a:ext cx="15179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334155"/>
                </a:solidFill>
              </a:rPr>
              <a:t>Nginx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181302" y="3008376"/>
            <a:ext cx="1062366" cy="192024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087368" y="3054096"/>
            <a:ext cx="15179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334155"/>
                </a:solidFill>
              </a:rPr>
              <a:t>静态资源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7296496" y="1977183"/>
            <a:ext cx="1783080" cy="2057400"/>
          </a:xfrm>
          <a:prstGeom prst="cube">
            <a:avLst/>
          </a:prstGeom>
          <a:solidFill>
            <a:srgbClr val="F8FBFF"/>
          </a:solidFill>
          <a:ln w="15240">
            <a:solidFill>
              <a:srgbClr val="0050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424928" y="2084832"/>
            <a:ext cx="1563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5088"/>
                </a:solidFill>
              </a:rPr>
              <a:t>应用服务器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480866" y="3065526"/>
            <a:ext cx="1046572" cy="26974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7420356" y="3154325"/>
            <a:ext cx="1167593" cy="125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334155"/>
                </a:solidFill>
              </a:rPr>
              <a:t>Tomcat / JVM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7480866" y="2634718"/>
            <a:ext cx="1046572" cy="250629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7365908" y="2684180"/>
            <a:ext cx="1380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334155"/>
                </a:solidFill>
              </a:rPr>
              <a:t>bookshop.war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10058400" y="2310939"/>
            <a:ext cx="1143000" cy="1463040"/>
          </a:xfrm>
          <a:prstGeom prst="cube">
            <a:avLst/>
          </a:prstGeom>
          <a:solidFill>
            <a:srgbClr val="F8FBFF"/>
          </a:solidFill>
          <a:ln w="15240">
            <a:solidFill>
              <a:srgbClr val="0050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0113264" y="2385752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5088"/>
                </a:solidFill>
              </a:rPr>
              <a:t>数据库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10168128" y="3023339"/>
            <a:ext cx="685800" cy="195349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0113264" y="3044597"/>
            <a:ext cx="7406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334155"/>
                </a:solidFill>
              </a:rPr>
              <a:t>MySQL</a:t>
            </a:r>
            <a:endParaRPr lang="en-US" sz="98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F98ECB-2118-22B7-61FC-3851EDA8E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04E5DC9-94B0-7869-A069-9D239312444C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CAA0"/>
          </a:solidFill>
          <a:ln w="12700">
            <a:solidFill>
              <a:srgbClr val="11CA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B74DC23-8196-1791-E5D3-0A1899556CFC}"/>
              </a:ext>
            </a:extLst>
          </p:cNvPr>
          <p:cNvSpPr/>
          <p:nvPr/>
        </p:nvSpPr>
        <p:spPr>
          <a:xfrm>
            <a:off x="10835640" y="6446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36 / 40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4DC8C2D-7760-912A-F415-0ECDF18F8182}"/>
              </a:ext>
            </a:extLst>
          </p:cNvPr>
          <p:cNvSpPr/>
          <p:nvPr/>
        </p:nvSpPr>
        <p:spPr>
          <a:xfrm>
            <a:off x="73152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</a:rPr>
              <a:t>参考文献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1117C3C-C766-3C33-D25A-2D808F4DAC93}"/>
              </a:ext>
            </a:extLst>
          </p:cNvPr>
          <p:cNvSpPr/>
          <p:nvPr/>
        </p:nvSpPr>
        <p:spPr>
          <a:xfrm>
            <a:off x="731520" y="896112"/>
            <a:ext cx="2331720" cy="0"/>
          </a:xfrm>
          <a:prstGeom prst="line">
            <a:avLst/>
          </a:prstGeom>
          <a:noFill/>
          <a:ln w="27940">
            <a:solidFill>
              <a:srgbClr val="11CA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AEA0A99-63F9-8FCF-921D-1396C727EA2D}"/>
              </a:ext>
            </a:extLst>
          </p:cNvPr>
          <p:cNvSpPr/>
          <p:nvPr/>
        </p:nvSpPr>
        <p:spPr>
          <a:xfrm>
            <a:off x="731520" y="1293877"/>
            <a:ext cx="10232269" cy="4270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650" dirty="0"/>
              <a:t>[1]</a:t>
            </a:r>
            <a:r>
              <a:rPr lang="zh-CN" altLang="en-US" sz="1650" dirty="0"/>
              <a:t>戴莉萍</a:t>
            </a:r>
            <a:r>
              <a:rPr lang="en-US" altLang="zh-CN" sz="1650" dirty="0"/>
              <a:t>,</a:t>
            </a:r>
            <a:r>
              <a:rPr lang="zh-CN" altLang="en-US" sz="1650" dirty="0"/>
              <a:t>王文乐</a:t>
            </a:r>
            <a:r>
              <a:rPr lang="en-US" altLang="zh-CN" sz="1650" dirty="0"/>
              <a:t>. UML</a:t>
            </a:r>
            <a:r>
              <a:rPr lang="zh-CN" altLang="en-US" sz="1650" dirty="0"/>
              <a:t>实验中点放式建模与编程式建模探讨 </a:t>
            </a:r>
            <a:r>
              <a:rPr lang="en-US" altLang="zh-CN" sz="1650" dirty="0"/>
              <a:t>[J]. </a:t>
            </a:r>
            <a:r>
              <a:rPr lang="zh-CN" altLang="en-US" sz="1650" dirty="0"/>
              <a:t>软件导刊</a:t>
            </a:r>
            <a:r>
              <a:rPr lang="en-US" altLang="zh-CN" sz="1650" dirty="0"/>
              <a:t>, 2021, 20 (08): 221-225.</a:t>
            </a:r>
          </a:p>
          <a:p>
            <a:pPr marL="0" indent="0">
              <a:buNone/>
            </a:pPr>
            <a:endParaRPr lang="en-US" altLang="zh-CN" sz="1650" dirty="0"/>
          </a:p>
          <a:p>
            <a:pPr marL="0" indent="0">
              <a:buNone/>
            </a:pPr>
            <a:r>
              <a:rPr lang="en-US" altLang="zh-CN" sz="1650" dirty="0"/>
              <a:t>[2]</a:t>
            </a:r>
            <a:r>
              <a:rPr lang="zh-CN" altLang="en-US" sz="1650" dirty="0"/>
              <a:t>郭艳燕</a:t>
            </a:r>
            <a:r>
              <a:rPr lang="en-US" altLang="zh-CN" sz="1650" dirty="0"/>
              <a:t>,</a:t>
            </a:r>
            <a:r>
              <a:rPr lang="zh-CN" altLang="en-US" sz="1650" dirty="0"/>
              <a:t>杨军</a:t>
            </a:r>
            <a:r>
              <a:rPr lang="en-US" altLang="zh-CN" sz="1650" dirty="0"/>
              <a:t>,</a:t>
            </a:r>
            <a:r>
              <a:rPr lang="zh-CN" altLang="en-US" sz="1650" dirty="0"/>
              <a:t>毕远伟</a:t>
            </a:r>
            <a:r>
              <a:rPr lang="en-US" altLang="zh-CN" sz="1650" dirty="0"/>
              <a:t>,</a:t>
            </a:r>
            <a:r>
              <a:rPr lang="zh-CN" altLang="en-US" sz="1650" dirty="0"/>
              <a:t>等</a:t>
            </a:r>
            <a:r>
              <a:rPr lang="en-US" altLang="zh-CN" sz="1650" dirty="0"/>
              <a:t>. UML</a:t>
            </a:r>
            <a:r>
              <a:rPr lang="zh-CN" altLang="en-US" sz="1650" dirty="0"/>
              <a:t>在面向对象课程体系实践教学中的应用 </a:t>
            </a:r>
            <a:r>
              <a:rPr lang="en-US" altLang="zh-CN" sz="1650" dirty="0"/>
              <a:t>[J]. </a:t>
            </a:r>
            <a:r>
              <a:rPr lang="zh-CN" altLang="en-US" sz="1650" dirty="0"/>
              <a:t>计算机教育</a:t>
            </a:r>
            <a:r>
              <a:rPr lang="en-US" altLang="zh-CN" sz="1650" dirty="0"/>
              <a:t>, 2019, (03): 126-132. DOI:10.16512/j.cnki.jsjjy.2019.03.032.</a:t>
            </a:r>
          </a:p>
          <a:p>
            <a:pPr marL="0" indent="0">
              <a:buNone/>
            </a:pPr>
            <a:endParaRPr lang="en-US" altLang="zh-CN" sz="1650" dirty="0"/>
          </a:p>
          <a:p>
            <a:pPr marL="0" indent="0">
              <a:buNone/>
            </a:pPr>
            <a:r>
              <a:rPr lang="en-US" altLang="zh-CN" sz="1650" dirty="0"/>
              <a:t>[3]</a:t>
            </a:r>
            <a:r>
              <a:rPr lang="zh-CN" altLang="en-US" sz="1650" dirty="0"/>
              <a:t>陈娟</a:t>
            </a:r>
            <a:r>
              <a:rPr lang="en-US" altLang="zh-CN" sz="1650" dirty="0"/>
              <a:t>. </a:t>
            </a:r>
            <a:r>
              <a:rPr lang="zh-CN" altLang="en-US" sz="1650" dirty="0"/>
              <a:t>基于</a:t>
            </a:r>
            <a:r>
              <a:rPr lang="en-US" altLang="zh-CN" sz="1650" dirty="0"/>
              <a:t>UML</a:t>
            </a:r>
            <a:r>
              <a:rPr lang="zh-CN" altLang="en-US" sz="1650" dirty="0"/>
              <a:t>的面向对象的系统分析与设计</a:t>
            </a:r>
            <a:r>
              <a:rPr lang="en-US" altLang="zh-CN" sz="1650" dirty="0"/>
              <a:t>[D]. </a:t>
            </a:r>
            <a:r>
              <a:rPr lang="zh-CN" altLang="en-US" sz="1650" dirty="0"/>
              <a:t>武汉理工大学</a:t>
            </a:r>
            <a:r>
              <a:rPr lang="en-US" altLang="zh-CN" sz="1650" dirty="0"/>
              <a:t>, 2005.</a:t>
            </a:r>
          </a:p>
          <a:p>
            <a:pPr marL="0" indent="0">
              <a:buNone/>
            </a:pPr>
            <a:endParaRPr lang="en-US" altLang="zh-CN" sz="1650" dirty="0"/>
          </a:p>
          <a:p>
            <a:pPr marL="0" indent="0">
              <a:buNone/>
            </a:pPr>
            <a:r>
              <a:rPr lang="en-US" altLang="zh-CN" sz="1650" dirty="0"/>
              <a:t>[4]</a:t>
            </a:r>
            <a:r>
              <a:rPr lang="zh-CN" altLang="en-US" sz="1650" dirty="0"/>
              <a:t>王云</a:t>
            </a:r>
            <a:r>
              <a:rPr lang="en-US" altLang="zh-CN" sz="1650" dirty="0"/>
              <a:t>,</a:t>
            </a:r>
            <a:r>
              <a:rPr lang="zh-CN" altLang="en-US" sz="1650" dirty="0"/>
              <a:t>周伯生</a:t>
            </a:r>
            <a:r>
              <a:rPr lang="en-US" altLang="zh-CN" sz="1650" dirty="0"/>
              <a:t>. </a:t>
            </a:r>
            <a:r>
              <a:rPr lang="zh-CN" altLang="en-US" sz="1650" dirty="0"/>
              <a:t>标准建模语言</a:t>
            </a:r>
            <a:r>
              <a:rPr lang="en-US" altLang="zh-CN" sz="1650" dirty="0"/>
              <a:t>UML</a:t>
            </a:r>
            <a:r>
              <a:rPr lang="zh-CN" altLang="en-US" sz="1650" dirty="0"/>
              <a:t>简介 </a:t>
            </a:r>
            <a:r>
              <a:rPr lang="en-US" altLang="zh-CN" sz="1650" dirty="0"/>
              <a:t>[J]. </a:t>
            </a:r>
            <a:r>
              <a:rPr lang="zh-CN" altLang="en-US" sz="1650" dirty="0"/>
              <a:t>计算机应用研究</a:t>
            </a:r>
            <a:r>
              <a:rPr lang="en-US" altLang="zh-CN" sz="1650" dirty="0"/>
              <a:t>, 1999, (12): 44-49.</a:t>
            </a:r>
          </a:p>
          <a:p>
            <a:pPr marL="0" indent="0">
              <a:buNone/>
            </a:pPr>
            <a:endParaRPr lang="en-US" altLang="zh-CN" sz="1650" dirty="0"/>
          </a:p>
          <a:p>
            <a:pPr marL="0" indent="0">
              <a:buNone/>
            </a:pPr>
            <a:r>
              <a:rPr lang="en-US" altLang="zh-CN" sz="1650" dirty="0"/>
              <a:t>[5]</a:t>
            </a:r>
            <a:r>
              <a:rPr lang="zh-CN" altLang="en-US" sz="1650" dirty="0"/>
              <a:t>王文玲</a:t>
            </a:r>
            <a:r>
              <a:rPr lang="en-US" altLang="zh-CN" sz="1650" dirty="0"/>
              <a:t>,</a:t>
            </a:r>
            <a:r>
              <a:rPr lang="zh-CN" altLang="en-US" sz="1650" dirty="0"/>
              <a:t>金茂忠</a:t>
            </a:r>
            <a:r>
              <a:rPr lang="en-US" altLang="zh-CN" sz="1650" dirty="0"/>
              <a:t>. UML</a:t>
            </a:r>
            <a:r>
              <a:rPr lang="zh-CN" altLang="en-US" sz="1650" dirty="0"/>
              <a:t>模型及其应用 </a:t>
            </a:r>
            <a:r>
              <a:rPr lang="en-US" altLang="zh-CN" sz="1650" dirty="0"/>
              <a:t>[J]. </a:t>
            </a:r>
            <a:r>
              <a:rPr lang="zh-CN" altLang="en-US" sz="1650" dirty="0"/>
              <a:t>计算机工程与应用</a:t>
            </a:r>
            <a:r>
              <a:rPr lang="en-US" altLang="zh-CN" sz="1650" dirty="0"/>
              <a:t>, 1999, (11): 47-50.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19925311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A39537-21FB-AB0F-494E-43873394D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DC40EE4-BFCF-D8ED-BE4E-44E693BB6C89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CAA0"/>
          </a:solidFill>
          <a:ln w="12700">
            <a:solidFill>
              <a:srgbClr val="11CA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405DCD0-BB9A-823F-AF24-E3A38F2466E1}"/>
              </a:ext>
            </a:extLst>
          </p:cNvPr>
          <p:cNvSpPr/>
          <p:nvPr/>
        </p:nvSpPr>
        <p:spPr>
          <a:xfrm>
            <a:off x="10835640" y="6446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37/ 40</a:t>
            </a:r>
            <a:endParaRPr lang="en-US" sz="1000" dirty="0"/>
          </a:p>
        </p:txBody>
      </p:sp>
      <p:graphicFrame>
        <p:nvGraphicFramePr>
          <p:cNvPr id="35" name="表格 34">
            <a:extLst>
              <a:ext uri="{FF2B5EF4-FFF2-40B4-BE49-F238E27FC236}">
                <a16:creationId xmlns:a16="http://schemas.microsoft.com/office/drawing/2014/main" id="{6BEA8512-F7B2-BB9F-3AF0-76147EC4EA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200396"/>
              </p:ext>
            </p:extLst>
          </p:nvPr>
        </p:nvGraphicFramePr>
        <p:xfrm>
          <a:off x="2484783" y="2316480"/>
          <a:ext cx="803081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7705">
                  <a:extLst>
                    <a:ext uri="{9D8B030D-6E8A-4147-A177-3AD203B41FA5}">
                      <a16:colId xmlns:a16="http://schemas.microsoft.com/office/drawing/2014/main" val="2084206234"/>
                    </a:ext>
                  </a:extLst>
                </a:gridCol>
                <a:gridCol w="2007705">
                  <a:extLst>
                    <a:ext uri="{9D8B030D-6E8A-4147-A177-3AD203B41FA5}">
                      <a16:colId xmlns:a16="http://schemas.microsoft.com/office/drawing/2014/main" val="2870051738"/>
                    </a:ext>
                  </a:extLst>
                </a:gridCol>
                <a:gridCol w="4015408">
                  <a:extLst>
                    <a:ext uri="{9D8B030D-6E8A-4147-A177-3AD203B41FA5}">
                      <a16:colId xmlns:a16="http://schemas.microsoft.com/office/drawing/2014/main" val="3004714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姓名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分工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分数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9379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林立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ppt</a:t>
                      </a:r>
                      <a:r>
                        <a:rPr lang="zh-CN" altLang="en-US" dirty="0"/>
                        <a:t>优化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93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7732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林永翔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ppt</a:t>
                      </a:r>
                      <a:r>
                        <a:rPr lang="zh-CN" altLang="en-US" dirty="0"/>
                        <a:t>制作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96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085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罗树敏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ppt</a:t>
                      </a:r>
                      <a:r>
                        <a:rPr lang="zh-CN" altLang="en-US" dirty="0"/>
                        <a:t>制作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94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1379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李烨斌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ppt</a:t>
                      </a:r>
                      <a:r>
                        <a:rPr lang="zh-CN" altLang="en-US" dirty="0"/>
                        <a:t>制作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95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2188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李子骏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ppt</a:t>
                      </a:r>
                      <a:r>
                        <a:rPr lang="zh-CN" altLang="en-US" dirty="0"/>
                        <a:t>优化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92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0128800"/>
                  </a:ext>
                </a:extLst>
              </a:tr>
            </a:tbl>
          </a:graphicData>
        </a:graphic>
      </p:graphicFrame>
      <p:sp>
        <p:nvSpPr>
          <p:cNvPr id="36" name="Text 2">
            <a:extLst>
              <a:ext uri="{FF2B5EF4-FFF2-40B4-BE49-F238E27FC236}">
                <a16:creationId xmlns:a16="http://schemas.microsoft.com/office/drawing/2014/main" id="{6347C743-EF64-D5A6-0C56-442AD7E8AC97}"/>
              </a:ext>
            </a:extLst>
          </p:cNvPr>
          <p:cNvSpPr/>
          <p:nvPr/>
        </p:nvSpPr>
        <p:spPr>
          <a:xfrm>
            <a:off x="731520" y="4206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005088"/>
                </a:solidFill>
                <a:latin typeface="Noto Serif CJK SC" pitchFamily="34" charset="0"/>
                <a:ea typeface="Noto Serif CJK SC" pitchFamily="34" charset="-122"/>
              </a:rPr>
              <a:t>分工评分</a:t>
            </a:r>
            <a:endParaRPr lang="en-US" sz="2800" dirty="0"/>
          </a:p>
        </p:txBody>
      </p:sp>
      <p:sp>
        <p:nvSpPr>
          <p:cNvPr id="37" name="Shape 3">
            <a:extLst>
              <a:ext uri="{FF2B5EF4-FFF2-40B4-BE49-F238E27FC236}">
                <a16:creationId xmlns:a16="http://schemas.microsoft.com/office/drawing/2014/main" id="{ABF5132B-4F06-C546-11B1-8175557CEC51}"/>
              </a:ext>
            </a:extLst>
          </p:cNvPr>
          <p:cNvSpPr/>
          <p:nvPr/>
        </p:nvSpPr>
        <p:spPr>
          <a:xfrm>
            <a:off x="731520" y="896112"/>
            <a:ext cx="2331720" cy="0"/>
          </a:xfrm>
          <a:prstGeom prst="line">
            <a:avLst/>
          </a:prstGeom>
          <a:noFill/>
          <a:ln w="27940">
            <a:solidFill>
              <a:srgbClr val="11CAA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410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4237</Words>
  <Application>Microsoft Office PowerPoint</Application>
  <PresentationFormat>宽屏</PresentationFormat>
  <Paragraphs>528</Paragraphs>
  <Slides>37</Slides>
  <Notes>37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1" baseType="lpstr">
      <vt:lpstr>Noto Sans CJK SC</vt:lpstr>
      <vt:lpstr>Noto Serif CJK SC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软件需求分析：UML基础与实践</dc:title>
  <dc:subject>根据代码生成的 UML 课程 PPT</dc:subject>
  <dc:creator>OpenAI</dc:creator>
  <cp:lastModifiedBy>moil li</cp:lastModifiedBy>
  <cp:revision>33</cp:revision>
  <dcterms:created xsi:type="dcterms:W3CDTF">2026-04-05T06:33:05Z</dcterms:created>
  <dcterms:modified xsi:type="dcterms:W3CDTF">2026-04-07T03:07:50Z</dcterms:modified>
</cp:coreProperties>
</file>