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6" r:id="rId39"/>
    <p:sldId id="295" r:id="rId40"/>
    <p:sldId id="294" r:id="rId41"/>
  </p:sldIdLst>
  <p:sldSz cx="12192000" cy="6858000"/>
  <p:notesSz cx="6858000" cy="9144000"/>
  <p:embeddedFontLst>
    <p:embeddedFont>
      <p:font typeface="Inter" panose="02010600030101010101" charset="0"/>
      <p:regular r:id="rId43"/>
      <p:bold r:id="rId44"/>
      <p:italic r:id="rId45"/>
      <p:boldItalic r:id="rId46"/>
    </p:embeddedFont>
    <p:embeddedFont>
      <p:font typeface="Inter Medium" panose="02010600030101010101" charset="0"/>
      <p:regular r:id="rId47"/>
      <p:bold r:id="rId48"/>
      <p:italic r:id="rId49"/>
      <p:boldItalic r:id="rId50"/>
    </p:embeddedFont>
    <p:embeddedFont>
      <p:font typeface="Inter SemiBold" panose="02010600030101010101" charset="0"/>
      <p:regular r:id="rId51"/>
      <p:bold r:id="rId52"/>
      <p:italic r:id="rId53"/>
      <p:boldItalic r:id="rId54"/>
    </p:embeddedFont>
    <p:embeddedFont>
      <p:font typeface="Poppins" panose="00000500000000000000" pitchFamily="2" charset="0"/>
      <p:regular r:id="rId55"/>
      <p:bold r:id="rId56"/>
      <p:italic r:id="rId57"/>
      <p:boldItalic r:id="rId58"/>
    </p:embeddedFont>
    <p:embeddedFont>
      <p:font typeface="Poppins SemiBold" panose="00000700000000000000" pitchFamily="2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B701AD-0AF5-4CFC-AD54-4D51CC808986}">
  <a:tblStyle styleId="{E6B701AD-0AF5-4CFC-AD54-4D51CC80898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font" Target="fonts/font13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3.fntdata"/><Relationship Id="rId53" Type="http://schemas.openxmlformats.org/officeDocument/2006/relationships/font" Target="fonts/font11.fntdata"/><Relationship Id="rId58" Type="http://schemas.openxmlformats.org/officeDocument/2006/relationships/font" Target="fonts/font16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font" Target="fonts/font1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openxmlformats.org/officeDocument/2006/relationships/font" Target="fonts/font14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4.fntdata"/><Relationship Id="rId59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2.fntdata"/><Relationship Id="rId62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7.fntdata"/><Relationship Id="rId57" Type="http://schemas.openxmlformats.org/officeDocument/2006/relationships/font" Target="fonts/font1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2.fntdata"/><Relationship Id="rId52" Type="http://schemas.openxmlformats.org/officeDocument/2006/relationships/font" Target="fonts/font10.fntdata"/><Relationship Id="rId60" Type="http://schemas.openxmlformats.org/officeDocument/2006/relationships/font" Target="fonts/font18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大家好，今天我汇报的内容是</a:t>
            </a:r>
            <a:r>
              <a:rPr lang="en-US" altLang="zh-CN" dirty="0"/>
              <a:t>《UML</a:t>
            </a:r>
            <a:r>
              <a:rPr lang="zh-CN" altLang="en-US" dirty="0"/>
              <a:t>基础</a:t>
            </a:r>
            <a:r>
              <a:rPr lang="en-US" altLang="zh-CN" dirty="0"/>
              <a:t>II</a:t>
            </a:r>
            <a:r>
              <a:rPr lang="zh-CN" altLang="en-US" dirty="0"/>
              <a:t>：界面原型</a:t>
            </a:r>
            <a:r>
              <a:rPr lang="en-US" altLang="zh-CN" dirty="0"/>
              <a:t>》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本次主要讲的是如何从</a:t>
            </a:r>
            <a:r>
              <a:rPr lang="en-US" altLang="zh-CN" dirty="0"/>
              <a:t>UML</a:t>
            </a:r>
            <a:r>
              <a:rPr lang="zh-CN" altLang="en-US" dirty="0"/>
              <a:t>模型出发，设计出可用、可验证的界面原型。</a:t>
            </a: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本次内容主要分为六个部分：</a:t>
            </a:r>
            <a:br>
              <a:rPr lang="zh-CN" altLang="en-US" dirty="0"/>
            </a:br>
            <a:r>
              <a:rPr lang="zh-CN" altLang="en-US" dirty="0"/>
              <a:t>首先介绍界面原型的基本概念，其次讲</a:t>
            </a:r>
            <a:r>
              <a:rPr lang="en-US" altLang="zh-CN" dirty="0"/>
              <a:t>UML</a:t>
            </a:r>
            <a:r>
              <a:rPr lang="zh-CN" altLang="en-US" dirty="0"/>
              <a:t>如何驱动界面生成，</a:t>
            </a:r>
            <a:br>
              <a:rPr lang="zh-CN" altLang="en-US" dirty="0"/>
            </a:br>
            <a:r>
              <a:rPr lang="zh-CN" altLang="en-US" dirty="0"/>
              <a:t>然后是界面设计原则、需求验证方法，</a:t>
            </a:r>
            <a:br>
              <a:rPr lang="zh-CN" altLang="en-US" dirty="0"/>
            </a:br>
            <a:r>
              <a:rPr lang="zh-CN" altLang="en-US" dirty="0"/>
              <a:t>接着是设计方法与实战，最后是工程交付和前沿技术。</a:t>
            </a: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很多人会问，既然已经有</a:t>
            </a:r>
            <a:r>
              <a:rPr lang="en-US" altLang="zh-CN" dirty="0"/>
              <a:t>UML</a:t>
            </a:r>
            <a:r>
              <a:rPr lang="zh-CN" altLang="en-US" dirty="0"/>
              <a:t>图，为什么还需要界面原型？</a:t>
            </a:r>
          </a:p>
          <a:p>
            <a:r>
              <a:rPr lang="zh-CN" altLang="en-US" dirty="0"/>
              <a:t>原因是：</a:t>
            </a:r>
            <a:br>
              <a:rPr lang="zh-CN" altLang="en-US" dirty="0"/>
            </a:br>
            <a:r>
              <a:rPr lang="en-US" altLang="zh-CN" dirty="0"/>
              <a:t>UML</a:t>
            </a:r>
            <a:r>
              <a:rPr lang="zh-CN" altLang="en-US" dirty="0"/>
              <a:t>虽然严谨，但偏技术化，业务人员很难理解。</a:t>
            </a:r>
            <a:br>
              <a:rPr lang="zh-CN" altLang="en-US" dirty="0"/>
            </a:br>
            <a:r>
              <a:rPr lang="zh-CN" altLang="en-US" dirty="0"/>
              <a:t>而界面原型可以把抽象逻辑转化成“可点击、可感知”的界面。</a:t>
            </a:r>
          </a:p>
          <a:p>
            <a:r>
              <a:rPr lang="zh-CN" altLang="en-US" dirty="0"/>
              <a:t>另外，原型可以在开发前提前发现问题，</a:t>
            </a:r>
            <a:br>
              <a:rPr lang="zh-CN" altLang="en-US" dirty="0"/>
            </a:br>
            <a:r>
              <a:rPr lang="zh-CN" altLang="en-US" dirty="0"/>
              <a:t>修改成本远低于写完代码再改。</a:t>
            </a:r>
          </a:p>
          <a:p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所以，在现代软件工程中，</a:t>
            </a:r>
            <a:br>
              <a:rPr lang="zh-CN" altLang="en-US" dirty="0"/>
            </a:br>
            <a:r>
              <a:rPr lang="zh-CN" altLang="en-US" dirty="0"/>
              <a:t>通常采用“</a:t>
            </a:r>
            <a:r>
              <a:rPr lang="en-US" altLang="zh-CN" dirty="0"/>
              <a:t>UML + </a:t>
            </a:r>
            <a:r>
              <a:rPr lang="zh-CN" altLang="en-US" dirty="0"/>
              <a:t>界面原型”的组合方式。</a:t>
            </a:r>
          </a:p>
          <a:p>
            <a:r>
              <a:rPr lang="en-US" altLang="zh-CN" dirty="0"/>
              <a:t>UML</a:t>
            </a:r>
            <a:r>
              <a:rPr lang="zh-CN" altLang="en-US" dirty="0"/>
              <a:t>负责表达逻辑，</a:t>
            </a:r>
            <a:br>
              <a:rPr lang="zh-CN" altLang="en-US" dirty="0"/>
            </a:br>
            <a:r>
              <a:rPr lang="zh-CN" altLang="en-US" dirty="0"/>
              <a:t>原型负责表达用户体验，</a:t>
            </a:r>
            <a:br>
              <a:rPr lang="zh-CN" altLang="en-US" dirty="0"/>
            </a:br>
            <a:r>
              <a:rPr lang="zh-CN" altLang="en-US" dirty="0"/>
              <a:t>两者结合才能真正减少沟通成本。</a:t>
            </a:r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界面原型有不同的“保真度”。</a:t>
            </a:r>
          </a:p>
          <a:p>
            <a:r>
              <a:rPr lang="zh-CN" altLang="en-US" dirty="0"/>
              <a:t>低保真：草图，用于头脑风暴</a:t>
            </a:r>
            <a:br>
              <a:rPr lang="zh-CN" altLang="en-US" dirty="0"/>
            </a:br>
            <a:r>
              <a:rPr lang="zh-CN" altLang="en-US" dirty="0"/>
              <a:t>中保真：线框图，关注结构和逻辑</a:t>
            </a:r>
            <a:br>
              <a:rPr lang="zh-CN" altLang="en-US" dirty="0"/>
            </a:br>
            <a:r>
              <a:rPr lang="zh-CN" altLang="en-US" dirty="0"/>
              <a:t>高保真：接近真实产品，用于交付</a:t>
            </a:r>
          </a:p>
          <a:p>
            <a:r>
              <a:rPr lang="zh-CN" altLang="en-US" dirty="0"/>
              <a:t>在不同阶段要选用不同类型，而不是一开始就追求精美。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这里有一个问题：</a:t>
            </a:r>
            <a:br>
              <a:rPr lang="zh-CN" altLang="en-US" dirty="0"/>
            </a:br>
            <a:r>
              <a:rPr lang="zh-CN" altLang="en-US" dirty="0"/>
              <a:t>在需求初期，应该用哪种原型来验证流程？</a:t>
            </a:r>
          </a:p>
          <a:p>
            <a:r>
              <a:rPr lang="zh-CN" altLang="en-US" dirty="0"/>
              <a:t>大家可以想一下。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答案是：低保真原型（线框图）。</a:t>
            </a:r>
          </a:p>
          <a:p>
            <a:r>
              <a:rPr lang="zh-CN" altLang="en-US" dirty="0"/>
              <a:t>因为这个阶段重点是流程，而不是视觉效果。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接下来进入第二部分：模型驱动。</a:t>
            </a:r>
          </a:p>
          <a:p>
            <a:r>
              <a:rPr lang="zh-CN" altLang="en-US" dirty="0"/>
              <a:t>这里有一个非常重要的思想</a:t>
            </a:r>
            <a:r>
              <a:rPr lang="en-US" altLang="zh-CN" dirty="0"/>
              <a:t>——</a:t>
            </a:r>
            <a:br>
              <a:rPr lang="en-US" altLang="zh-CN" dirty="0"/>
            </a:br>
            <a:r>
              <a:rPr lang="zh-CN" altLang="en-US" b="1" dirty="0"/>
              <a:t>界面不是设计师拍脑袋画出来的，而是从</a:t>
            </a:r>
            <a:r>
              <a:rPr lang="en-US" altLang="zh-CN" b="1" dirty="0"/>
              <a:t>UML</a:t>
            </a:r>
            <a:r>
              <a:rPr lang="zh-CN" altLang="en-US" b="1" dirty="0"/>
              <a:t>模型“推导”出来的。</a:t>
            </a:r>
            <a:endParaRPr lang="zh-CN" altLang="en-US" dirty="0"/>
          </a:p>
          <a:p>
            <a:r>
              <a:rPr lang="zh-CN" altLang="en-US" dirty="0"/>
              <a:t>也就是说：</a:t>
            </a:r>
            <a:br>
              <a:rPr lang="zh-CN" altLang="en-US" dirty="0"/>
            </a:br>
            <a:r>
              <a:rPr lang="zh-CN" altLang="en-US" dirty="0"/>
              <a:t>👉 先有模型，再有界面</a:t>
            </a:r>
          </a:p>
          <a:p>
            <a:r>
              <a:rPr lang="zh-CN" altLang="en-US" dirty="0"/>
              <a:t>如果没有模型支撑，界面很容易出现：</a:t>
            </a:r>
          </a:p>
          <a:p>
            <a:r>
              <a:rPr lang="zh-CN" altLang="en-US" dirty="0"/>
              <a:t>功能缺失 </a:t>
            </a:r>
          </a:p>
          <a:p>
            <a:r>
              <a:rPr lang="zh-CN" altLang="en-US" dirty="0"/>
              <a:t>字段不完整 </a:t>
            </a:r>
          </a:p>
          <a:p>
            <a:r>
              <a:rPr lang="zh-CN" altLang="en-US" dirty="0"/>
              <a:t>或者逻辑错误 </a:t>
            </a:r>
          </a:p>
          <a:p>
            <a:r>
              <a:rPr lang="zh-CN" altLang="en-US" dirty="0"/>
              <a:t>所以在规范的软件工程中，</a:t>
            </a:r>
            <a:br>
              <a:rPr lang="zh-CN" altLang="en-US" dirty="0"/>
            </a:br>
            <a:r>
              <a:rPr lang="en-US" altLang="zh-CN" dirty="0"/>
              <a:t>UI</a:t>
            </a:r>
            <a:r>
              <a:rPr lang="zh-CN" altLang="en-US" dirty="0"/>
              <a:t>其实是“业务模型的可视化结果”。</a:t>
            </a:r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三种核心映射关系：</a:t>
            </a:r>
          </a:p>
          <a:p>
            <a:r>
              <a:rPr lang="zh-CN" altLang="en-US" dirty="0"/>
              <a:t>用例图 → 页面入口和权限</a:t>
            </a:r>
            <a:br>
              <a:rPr lang="zh-CN" altLang="en-US" dirty="0"/>
            </a:br>
            <a:r>
              <a:rPr lang="zh-CN" altLang="en-US" dirty="0"/>
              <a:t>类图 → 表单和数据结构</a:t>
            </a:r>
            <a:br>
              <a:rPr lang="zh-CN" altLang="en-US" dirty="0"/>
            </a:br>
            <a:r>
              <a:rPr lang="zh-CN" altLang="en-US" dirty="0"/>
              <a:t>活动图 → 页面流程</a:t>
            </a:r>
          </a:p>
          <a:p>
            <a:r>
              <a:rPr lang="zh-CN" altLang="en-US" dirty="0"/>
              <a:t>也就是说：界面是“模型的可视化”。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8" name="Google Shape;2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这里是一个典型的“用户管理列表页”。</a:t>
            </a:r>
          </a:p>
          <a:p>
            <a:r>
              <a:rPr lang="zh-CN" altLang="en-US" dirty="0"/>
              <a:t>可以看到：</a:t>
            </a:r>
            <a:br>
              <a:rPr lang="zh-CN" altLang="en-US" dirty="0"/>
            </a:br>
            <a:r>
              <a:rPr lang="zh-CN" altLang="en-US" dirty="0"/>
              <a:t>表格的每一列，其实都来自类图中的属性</a:t>
            </a:r>
            <a:br>
              <a:rPr lang="zh-CN" altLang="en-US" dirty="0"/>
            </a:br>
            <a:r>
              <a:rPr lang="zh-CN" altLang="en-US" dirty="0"/>
              <a:t>而“编辑、删除”按钮，来自类的方法</a:t>
            </a:r>
          </a:p>
          <a:p>
            <a:r>
              <a:rPr lang="zh-CN" altLang="en-US" dirty="0"/>
              <a:t>所以一个后台管理系统，本质就是：</a:t>
            </a:r>
            <a:br>
              <a:rPr lang="zh-CN" altLang="en-US" dirty="0"/>
            </a:br>
            <a:r>
              <a:rPr lang="zh-CN" altLang="en-US" dirty="0"/>
              <a:t>👉 类图 </a:t>
            </a:r>
            <a:r>
              <a:rPr lang="en-US" altLang="zh-CN" dirty="0"/>
              <a:t>+ </a:t>
            </a:r>
            <a:r>
              <a:rPr lang="zh-CN" altLang="en-US" dirty="0"/>
              <a:t>表格展示 </a:t>
            </a:r>
            <a:r>
              <a:rPr lang="en-US" altLang="zh-CN" dirty="0"/>
              <a:t>+ </a:t>
            </a:r>
            <a:r>
              <a:rPr lang="zh-CN" altLang="en-US" dirty="0"/>
              <a:t>操作按钮</a:t>
            </a:r>
          </a:p>
          <a:p>
            <a:r>
              <a:rPr lang="zh-CN" altLang="en-US" dirty="0"/>
              <a:t>这也是为什么很多后台系统长得都很像。</a:t>
            </a:r>
          </a:p>
          <a:p>
            <a:endParaRPr lang="zh-CN" altLang="en-US" dirty="0"/>
          </a:p>
        </p:txBody>
      </p:sp>
      <p:sp>
        <p:nvSpPr>
          <p:cNvPr id="231" name="Google Shape;2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这里有个问题大家可以想一下：</a:t>
            </a:r>
          </a:p>
          <a:p>
            <a:r>
              <a:rPr lang="zh-CN" altLang="en-US" dirty="0"/>
              <a:t>如果我要设计一个“商品发布表单”，</a:t>
            </a:r>
            <a:br>
              <a:rPr lang="zh-CN" altLang="en-US" dirty="0"/>
            </a:br>
            <a:r>
              <a:rPr lang="zh-CN" altLang="en-US" dirty="0"/>
              <a:t>需要有哪些输入框，比如名称、价格、库存，</a:t>
            </a:r>
          </a:p>
          <a:p>
            <a:r>
              <a:rPr lang="zh-CN" altLang="en-US" dirty="0"/>
              <a:t>👉 应该参考哪种</a:t>
            </a:r>
            <a:r>
              <a:rPr lang="en-US" altLang="zh-CN" dirty="0"/>
              <a:t>UML</a:t>
            </a:r>
            <a:r>
              <a:rPr lang="zh-CN" altLang="en-US" dirty="0"/>
              <a:t>图？</a:t>
            </a:r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答案是：类图。</a:t>
            </a:r>
          </a:p>
          <a:p>
            <a:r>
              <a:rPr lang="zh-CN" altLang="en-US" dirty="0"/>
              <a:t>因为所有字段，本质上都是“类的属性”。</a:t>
            </a:r>
          </a:p>
          <a:p>
            <a:r>
              <a:rPr lang="zh-CN" altLang="en-US" dirty="0"/>
              <a:t>所以如果类图没定义“价格”，</a:t>
            </a:r>
            <a:br>
              <a:rPr lang="zh-CN" altLang="en-US" dirty="0"/>
            </a:br>
            <a:r>
              <a:rPr lang="en-US" altLang="zh-CN" dirty="0"/>
              <a:t>UI</a:t>
            </a:r>
            <a:r>
              <a:rPr lang="zh-CN" altLang="en-US" dirty="0"/>
              <a:t>里就不应该出现这个输入框。</a:t>
            </a:r>
          </a:p>
          <a:p>
            <a:r>
              <a:rPr lang="zh-CN" altLang="en-US" dirty="0"/>
              <a:t>👉 这就是“模型驱动”的严谨性。</a:t>
            </a:r>
          </a:p>
        </p:txBody>
      </p:sp>
      <p:sp>
        <p:nvSpPr>
          <p:cNvPr id="276" name="Google Shape;27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前面讲的是“静态结构”，</a:t>
            </a:r>
            <a:br>
              <a:rPr lang="zh-CN" altLang="en-US" dirty="0"/>
            </a:br>
            <a:r>
              <a:rPr lang="zh-CN" altLang="en-US" dirty="0"/>
              <a:t>现在来看“动态交互”。</a:t>
            </a:r>
          </a:p>
          <a:p>
            <a:r>
              <a:rPr lang="zh-CN" altLang="en-US" dirty="0"/>
              <a:t>顺序图描述的是：</a:t>
            </a:r>
            <a:br>
              <a:rPr lang="zh-CN" altLang="en-US" dirty="0"/>
            </a:br>
            <a:r>
              <a:rPr lang="zh-CN" altLang="en-US" dirty="0"/>
              <a:t>👉 前端和后端之间是怎么通信的</a:t>
            </a:r>
          </a:p>
          <a:p>
            <a:r>
              <a:rPr lang="zh-CN" altLang="en-US" dirty="0"/>
              <a:t>比如：</a:t>
            </a:r>
            <a:br>
              <a:rPr lang="zh-CN" altLang="en-US" dirty="0"/>
            </a:br>
            <a:r>
              <a:rPr lang="zh-CN" altLang="en-US" dirty="0"/>
              <a:t>用户点击按钮 → 发送请求 → 后端处理 → 返回结果</a:t>
            </a:r>
          </a:p>
          <a:p>
            <a:r>
              <a:rPr lang="zh-CN" altLang="en-US" dirty="0"/>
              <a:t>这个过程中会有“时间差”，</a:t>
            </a:r>
            <a:br>
              <a:rPr lang="zh-CN" altLang="en-US" dirty="0"/>
            </a:br>
            <a:r>
              <a:rPr lang="zh-CN" altLang="en-US" dirty="0"/>
              <a:t>而</a:t>
            </a:r>
            <a:r>
              <a:rPr lang="en-US" altLang="zh-CN" dirty="0"/>
              <a:t>UI</a:t>
            </a:r>
            <a:r>
              <a:rPr lang="zh-CN" altLang="en-US" dirty="0"/>
              <a:t>必须处理这个时间差。</a:t>
            </a:r>
          </a:p>
        </p:txBody>
      </p:sp>
      <p:sp>
        <p:nvSpPr>
          <p:cNvPr id="314" name="Google Shape;31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接下来进入第三部分：界面设计原则。</a:t>
            </a:r>
          </a:p>
          <a:p>
            <a:r>
              <a:rPr lang="zh-CN" altLang="en-US" dirty="0"/>
              <a:t>这些原则不是拍脑袋想的，</a:t>
            </a:r>
            <a:br>
              <a:rPr lang="zh-CN" altLang="en-US" dirty="0"/>
            </a:br>
            <a:r>
              <a:rPr lang="zh-CN" altLang="en-US" dirty="0"/>
              <a:t>而是来自心理学和可用性研究。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0" name="Google Shape;3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界面设计必须符合人的阅读习惯。</a:t>
            </a:r>
          </a:p>
          <a:p>
            <a:r>
              <a:rPr lang="zh-CN" altLang="en-US" dirty="0"/>
              <a:t>大多数人浏览页面是：</a:t>
            </a:r>
            <a:br>
              <a:rPr lang="zh-CN" altLang="en-US" dirty="0"/>
            </a:br>
            <a:r>
              <a:rPr lang="zh-CN" altLang="en-US" dirty="0"/>
              <a:t>👉 从左到右，从上到下</a:t>
            </a:r>
          </a:p>
          <a:p>
            <a:r>
              <a:rPr lang="zh-CN" altLang="en-US" dirty="0"/>
              <a:t>所以：</a:t>
            </a:r>
          </a:p>
          <a:p>
            <a:r>
              <a:rPr lang="en-US" altLang="zh-CN" dirty="0"/>
              <a:t>Logo</a:t>
            </a:r>
            <a:r>
              <a:rPr lang="zh-CN" altLang="en-US" dirty="0"/>
              <a:t>放左上角 </a:t>
            </a:r>
          </a:p>
          <a:p>
            <a:r>
              <a:rPr lang="zh-CN" altLang="en-US" dirty="0"/>
              <a:t>重要按钮放视觉终点 </a:t>
            </a:r>
          </a:p>
          <a:p>
            <a:r>
              <a:rPr lang="zh-CN" altLang="en-US" dirty="0"/>
              <a:t>另外还有一个原则叫“亲密性”：</a:t>
            </a:r>
            <a:br>
              <a:rPr lang="zh-CN" altLang="en-US" dirty="0"/>
            </a:br>
            <a:r>
              <a:rPr lang="zh-CN" altLang="en-US" dirty="0"/>
              <a:t>👉 相关的东西要放在一起</a:t>
            </a:r>
          </a:p>
          <a:p>
            <a:r>
              <a:rPr lang="zh-CN" altLang="en-US" dirty="0"/>
              <a:t>比如：输入框和错误提示一定要靠近。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9" name="Google Shape;3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系统必须给用户“及时反馈”。</a:t>
            </a:r>
          </a:p>
          <a:p>
            <a:r>
              <a:rPr lang="zh-CN" altLang="en-US" dirty="0"/>
              <a:t>举个例子：</a:t>
            </a:r>
            <a:br>
              <a:rPr lang="zh-CN" altLang="en-US" dirty="0"/>
            </a:br>
            <a:r>
              <a:rPr lang="zh-CN" altLang="en-US" dirty="0"/>
              <a:t>点击保存之后，如果没有任何提示，</a:t>
            </a:r>
          </a:p>
          <a:p>
            <a:r>
              <a:rPr lang="zh-CN" altLang="en-US" dirty="0"/>
              <a:t>用户会觉得：</a:t>
            </a:r>
            <a:br>
              <a:rPr lang="zh-CN" altLang="en-US" dirty="0"/>
            </a:br>
            <a:r>
              <a:rPr lang="zh-CN" altLang="en-US" dirty="0"/>
              <a:t>👉 “我点了吗？成功了吗？”</a:t>
            </a:r>
          </a:p>
          <a:p>
            <a:r>
              <a:rPr lang="zh-CN" altLang="en-US" dirty="0"/>
              <a:t>所以必须设计提示，比如：</a:t>
            </a:r>
            <a:br>
              <a:rPr lang="zh-CN" altLang="en-US" dirty="0"/>
            </a:br>
            <a:r>
              <a:rPr lang="zh-CN" altLang="en-US" dirty="0"/>
              <a:t>“保存成功”。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转账成功后出现一个提示页面，</a:t>
            </a:r>
            <a:br>
              <a:rPr lang="zh-CN" altLang="en-US" dirty="0"/>
            </a:br>
            <a:r>
              <a:rPr lang="zh-CN" altLang="en-US" dirty="0"/>
              <a:t>这体现了什么原则？</a:t>
            </a:r>
            <a:endParaRPr dirty="0"/>
          </a:p>
        </p:txBody>
      </p:sp>
      <p:sp>
        <p:nvSpPr>
          <p:cNvPr id="370" name="Google Shape;3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答案是：系统反馈原则。</a:t>
            </a:r>
          </a:p>
          <a:p>
            <a:r>
              <a:rPr lang="zh-CN" altLang="en-US" dirty="0"/>
              <a:t>本质就是让用户明确知道：操作已完成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9" name="Google Shape;3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接下来一个关键问题：</a:t>
            </a:r>
          </a:p>
          <a:p>
            <a:r>
              <a:rPr lang="zh-CN" altLang="en-US" dirty="0"/>
              <a:t>👉 怎么证明你画的原型是“对的”？</a:t>
            </a:r>
          </a:p>
          <a:p>
            <a:r>
              <a:rPr lang="zh-CN" altLang="en-US" dirty="0"/>
              <a:t>不能靠感觉，必须有方法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8" name="Google Shape;4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这个方法叫：需求跟踪矩阵（</a:t>
            </a:r>
            <a:r>
              <a:rPr lang="en-US" altLang="zh-CN" dirty="0"/>
              <a:t>RTM</a:t>
            </a:r>
            <a:r>
              <a:rPr lang="zh-CN" altLang="en-US" dirty="0"/>
              <a:t>）。</a:t>
            </a:r>
          </a:p>
          <a:p>
            <a:r>
              <a:rPr lang="zh-CN" altLang="en-US" dirty="0"/>
              <a:t>它做两件事：</a:t>
            </a:r>
            <a:br>
              <a:rPr lang="zh-CN" altLang="en-US" dirty="0"/>
            </a:br>
            <a:r>
              <a:rPr lang="en-US" altLang="zh-CN" dirty="0"/>
              <a:t>1️⃣ </a:t>
            </a:r>
            <a:r>
              <a:rPr lang="zh-CN" altLang="en-US" dirty="0"/>
              <a:t>每个需求必须有对应页面</a:t>
            </a:r>
            <a:br>
              <a:rPr lang="zh-CN" altLang="en-US" dirty="0"/>
            </a:br>
            <a:r>
              <a:rPr lang="en-US" altLang="zh-CN" dirty="0"/>
              <a:t>2️⃣ </a:t>
            </a:r>
            <a:r>
              <a:rPr lang="zh-CN" altLang="en-US" dirty="0"/>
              <a:t>每个页面必须有需求来源</a:t>
            </a:r>
          </a:p>
          <a:p>
            <a:r>
              <a:rPr lang="zh-CN" altLang="en-US" dirty="0"/>
              <a:t>否则就说明设计有问题。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7" name="Google Shape;4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这里介绍几个经典原则：</a:t>
            </a:r>
          </a:p>
          <a:p>
            <a:r>
              <a:rPr lang="zh-CN" altLang="en-US" dirty="0"/>
              <a:t>状态可见：必须告诉用户发生了什么 </a:t>
            </a:r>
          </a:p>
          <a:p>
            <a:r>
              <a:rPr lang="zh-CN" altLang="en-US" dirty="0"/>
              <a:t>用户可控：可以撤销操作 </a:t>
            </a:r>
          </a:p>
          <a:p>
            <a:r>
              <a:rPr lang="zh-CN" altLang="en-US" dirty="0"/>
              <a:t>一致性：同样的按钮要一致 </a:t>
            </a:r>
          </a:p>
          <a:p>
            <a:r>
              <a:rPr lang="zh-CN" altLang="en-US" dirty="0"/>
              <a:t>这些是评估</a:t>
            </a:r>
            <a:r>
              <a:rPr lang="en-US" altLang="zh-CN" dirty="0"/>
              <a:t>UI</a:t>
            </a:r>
            <a:r>
              <a:rPr lang="zh-CN" altLang="en-US" dirty="0"/>
              <a:t>好坏的标准。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9" name="Google Shape;4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进入第五部分：设计方法</a:t>
            </a:r>
          </a:p>
          <a:p>
            <a:r>
              <a:rPr lang="zh-CN" altLang="en-US" dirty="0"/>
              <a:t>这一部分解决：</a:t>
            </a:r>
            <a:br>
              <a:rPr lang="zh-CN" altLang="en-US" dirty="0"/>
            </a:br>
            <a:r>
              <a:rPr lang="zh-CN" altLang="en-US" dirty="0"/>
              <a:t>👉 “怎么画原型更高效、更专业”</a:t>
            </a:r>
          </a:p>
          <a:p>
            <a:r>
              <a:rPr lang="zh-CN" altLang="en-US" dirty="0"/>
              <a:t>核心思想：</a:t>
            </a:r>
            <a:br>
              <a:rPr lang="zh-CN" altLang="en-US" dirty="0"/>
            </a:br>
            <a:r>
              <a:rPr lang="zh-CN" altLang="en-US" dirty="0"/>
              <a:t>👉 不要从</a:t>
            </a:r>
            <a:r>
              <a:rPr lang="en-US" altLang="zh-CN" dirty="0"/>
              <a:t>0</a:t>
            </a:r>
            <a:r>
              <a:rPr lang="zh-CN" altLang="en-US" dirty="0"/>
              <a:t>开始画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53" name="Google Shape;45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这一页非常关键（工程思维）。</a:t>
            </a:r>
          </a:p>
          <a:p>
            <a:r>
              <a:rPr lang="zh-CN" altLang="en-US" dirty="0"/>
              <a:t>现代</a:t>
            </a:r>
            <a:r>
              <a:rPr lang="en-US" altLang="zh-CN" dirty="0"/>
              <a:t>UI</a:t>
            </a:r>
            <a:r>
              <a:rPr lang="zh-CN" altLang="en-US" dirty="0"/>
              <a:t>设计是：</a:t>
            </a:r>
            <a:br>
              <a:rPr lang="zh-CN" altLang="en-US" dirty="0"/>
            </a:br>
            <a:r>
              <a:rPr lang="zh-CN" altLang="en-US" dirty="0"/>
              <a:t>👉 “拼组件”，不是“画界面”</a:t>
            </a:r>
          </a:p>
          <a:p>
            <a:r>
              <a:rPr lang="zh-CN" altLang="en-US" dirty="0"/>
              <a:t>三大类组件：</a:t>
            </a:r>
          </a:p>
          <a:p>
            <a:r>
              <a:rPr lang="en-US" altLang="zh-CN" b="1" dirty="0"/>
              <a:t>1️⃣ </a:t>
            </a:r>
            <a:r>
              <a:rPr lang="zh-CN" altLang="en-US" b="1" dirty="0"/>
              <a:t>布局类</a:t>
            </a:r>
          </a:p>
          <a:p>
            <a:r>
              <a:rPr lang="en-US" altLang="zh-CN" dirty="0"/>
              <a:t>Tabs</a:t>
            </a:r>
            <a:r>
              <a:rPr lang="zh-CN" altLang="en-US" dirty="0"/>
              <a:t>、分页、弹窗</a:t>
            </a:r>
          </a:p>
          <a:p>
            <a:r>
              <a:rPr lang="en-US" altLang="zh-CN" b="1" dirty="0"/>
              <a:t>2️⃣ </a:t>
            </a:r>
            <a:r>
              <a:rPr lang="zh-CN" altLang="en-US" b="1" dirty="0"/>
              <a:t>输入类</a:t>
            </a:r>
          </a:p>
          <a:p>
            <a:r>
              <a:rPr lang="en-US" altLang="zh-CN" dirty="0"/>
              <a:t>Input</a:t>
            </a:r>
            <a:r>
              <a:rPr lang="zh-CN" altLang="en-US" dirty="0"/>
              <a:t>、</a:t>
            </a:r>
            <a:r>
              <a:rPr lang="en-US" altLang="zh-CN" dirty="0"/>
              <a:t>Select</a:t>
            </a:r>
            <a:r>
              <a:rPr lang="zh-CN" altLang="en-US" dirty="0"/>
              <a:t>、</a:t>
            </a:r>
            <a:r>
              <a:rPr lang="en-US" altLang="zh-CN" dirty="0"/>
              <a:t>Checkbox</a:t>
            </a:r>
          </a:p>
          <a:p>
            <a:r>
              <a:rPr lang="en-US" altLang="zh-CN" b="1" dirty="0"/>
              <a:t>3️⃣ </a:t>
            </a:r>
            <a:r>
              <a:rPr lang="zh-CN" altLang="en-US" b="1" dirty="0"/>
              <a:t>展示类</a:t>
            </a:r>
          </a:p>
          <a:p>
            <a:r>
              <a:rPr lang="en-US" altLang="zh-CN" dirty="0"/>
              <a:t>Table</a:t>
            </a:r>
            <a:r>
              <a:rPr lang="zh-CN" altLang="en-US" dirty="0"/>
              <a:t>、</a:t>
            </a:r>
            <a:r>
              <a:rPr lang="en-US" altLang="zh-CN" dirty="0"/>
              <a:t>Card</a:t>
            </a:r>
            <a:r>
              <a:rPr lang="zh-CN" altLang="en-US" dirty="0"/>
              <a:t>、</a:t>
            </a:r>
            <a:r>
              <a:rPr lang="en-US" altLang="zh-CN" dirty="0"/>
              <a:t>Tree</a:t>
            </a:r>
          </a:p>
          <a:p>
            <a:r>
              <a:rPr lang="zh-CN" altLang="en-US" dirty="0"/>
              <a:t>👉 好处：</a:t>
            </a:r>
          </a:p>
          <a:p>
            <a:r>
              <a:rPr lang="zh-CN" altLang="en-US" dirty="0"/>
              <a:t>提高效率 </a:t>
            </a:r>
          </a:p>
          <a:p>
            <a:r>
              <a:rPr lang="zh-CN" altLang="en-US" dirty="0"/>
              <a:t>保持统一 </a:t>
            </a:r>
          </a:p>
          <a:p>
            <a:r>
              <a:rPr lang="zh-CN" altLang="en-US" dirty="0"/>
              <a:t>易于开发对接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2" name="Google Shape;46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这一页是实战细节</a:t>
            </a:r>
          </a:p>
          <a:p>
            <a:r>
              <a:rPr lang="zh-CN" altLang="en-US" dirty="0"/>
              <a:t>重点讲</a:t>
            </a:r>
            <a:r>
              <a:rPr lang="en-US" altLang="zh-CN" dirty="0"/>
              <a:t>3</a:t>
            </a:r>
            <a:r>
              <a:rPr lang="zh-CN" altLang="en-US" dirty="0"/>
              <a:t>点：</a:t>
            </a:r>
          </a:p>
          <a:p>
            <a:r>
              <a:rPr lang="en-US" altLang="zh-CN" b="1" dirty="0"/>
              <a:t>1️⃣ </a:t>
            </a:r>
            <a:r>
              <a:rPr lang="zh-CN" altLang="en-US" b="1" dirty="0"/>
              <a:t>必填标识</a:t>
            </a:r>
          </a:p>
          <a:p>
            <a:r>
              <a:rPr lang="zh-CN" altLang="en-US" dirty="0"/>
              <a:t>必须用 * 标出</a:t>
            </a:r>
          </a:p>
          <a:p>
            <a:r>
              <a:rPr lang="en-US" altLang="zh-CN" b="1" dirty="0"/>
              <a:t>2️⃣ </a:t>
            </a:r>
            <a:r>
              <a:rPr lang="zh-CN" altLang="en-US" b="1" dirty="0"/>
              <a:t>控件匹配数据类型</a:t>
            </a:r>
          </a:p>
          <a:p>
            <a:r>
              <a:rPr lang="zh-CN" altLang="en-US" dirty="0"/>
              <a:t>类别 → 下拉框 </a:t>
            </a:r>
          </a:p>
          <a:p>
            <a:r>
              <a:rPr lang="zh-CN" altLang="en-US" dirty="0"/>
              <a:t>日期 → 日期选择器 </a:t>
            </a:r>
          </a:p>
          <a:p>
            <a:r>
              <a:rPr lang="en-US" altLang="zh-CN" b="1" dirty="0"/>
              <a:t>3️⃣ </a:t>
            </a:r>
            <a:r>
              <a:rPr lang="zh-CN" altLang="en-US" b="1" dirty="0"/>
              <a:t>主次操作区分</a:t>
            </a:r>
          </a:p>
          <a:p>
            <a:r>
              <a:rPr lang="en-US" altLang="zh-CN" dirty="0"/>
              <a:t>Submit → </a:t>
            </a:r>
            <a:r>
              <a:rPr lang="zh-CN" altLang="en-US" dirty="0"/>
              <a:t>强调色 </a:t>
            </a:r>
          </a:p>
          <a:p>
            <a:r>
              <a:rPr lang="en-US" altLang="zh-CN" dirty="0"/>
              <a:t>Cancel → </a:t>
            </a:r>
            <a:r>
              <a:rPr lang="zh-CN" altLang="en-US" dirty="0"/>
              <a:t>弱化 </a:t>
            </a:r>
          </a:p>
          <a:p>
            <a:r>
              <a:rPr lang="zh-CN" altLang="en-US" dirty="0"/>
              <a:t>👉 本质：</a:t>
            </a:r>
            <a:br>
              <a:rPr lang="zh-CN" altLang="en-US" dirty="0"/>
            </a:br>
            <a:r>
              <a:rPr lang="zh-CN" altLang="en-US" b="1" dirty="0"/>
              <a:t>降低用户认知负担</a:t>
            </a:r>
            <a:endParaRPr lang="zh-CN" alt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9" name="Google Shape;4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这一题的核心还是：</a:t>
            </a:r>
            <a:br>
              <a:rPr lang="zh-CN" altLang="en-US" dirty="0"/>
            </a:br>
            <a:r>
              <a:rPr lang="zh-CN" altLang="en-US" dirty="0"/>
              <a:t>👉 如何证明设计没有偏离需求</a:t>
            </a:r>
          </a:p>
          <a:p>
            <a:r>
              <a:rPr lang="zh-CN" altLang="en-US" dirty="0"/>
              <a:t>答案就是：</a:t>
            </a:r>
            <a:br>
              <a:rPr lang="zh-CN" altLang="en-US" dirty="0"/>
            </a:br>
            <a:r>
              <a:rPr lang="zh-CN" altLang="en-US" dirty="0"/>
              <a:t>👉 </a:t>
            </a:r>
            <a:r>
              <a:rPr lang="zh-CN" altLang="en-US" b="1" dirty="0"/>
              <a:t>需求跟踪矩阵（</a:t>
            </a:r>
            <a:r>
              <a:rPr lang="en-US" altLang="zh-CN" b="1" dirty="0"/>
              <a:t>RTM</a:t>
            </a:r>
            <a:r>
              <a:rPr lang="zh-CN" altLang="en-US" b="1" dirty="0"/>
              <a:t>）</a:t>
            </a:r>
            <a:endParaRPr lang="zh-CN" altLang="en-US" dirty="0"/>
          </a:p>
          <a:p>
            <a:r>
              <a:rPr lang="zh-CN" altLang="en-US" dirty="0"/>
              <a:t>你可以补一句总结：</a:t>
            </a:r>
            <a:br>
              <a:rPr lang="zh-CN" altLang="en-US" dirty="0"/>
            </a:br>
            <a:r>
              <a:rPr lang="zh-CN" altLang="en-US" dirty="0"/>
              <a:t>👉 </a:t>
            </a:r>
            <a:r>
              <a:rPr lang="en-US" altLang="zh-CN" dirty="0"/>
              <a:t>RTM</a:t>
            </a:r>
            <a:r>
              <a:rPr lang="zh-CN" altLang="en-US" dirty="0"/>
              <a:t>是“防止乱设计”的工具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04" name="Google Shape;50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这一页其实讲的是一个非常容易被忽略，但非常重要的问题</a:t>
            </a:r>
            <a:r>
              <a:rPr lang="en-US" altLang="zh-CN" dirty="0"/>
              <a:t>——</a:t>
            </a:r>
            <a:r>
              <a:rPr lang="zh-CN" altLang="en-US" dirty="0"/>
              <a:t>异常状态设计。</a:t>
            </a:r>
          </a:p>
          <a:p>
            <a:r>
              <a:rPr lang="zh-CN" altLang="en-US" dirty="0"/>
              <a:t>很多新手在画原型的时候，只会画一种情况，就是所谓的“理想路径”，也就是一切都顺利的情况，比如用户正常输入、正常提交、正常返回结果。</a:t>
            </a:r>
          </a:p>
          <a:p>
            <a:r>
              <a:rPr lang="zh-CN" altLang="en-US" dirty="0"/>
              <a:t>但是在真实系统中，这种情况其实只是少数。更多时候，会遇到各种边界情况。</a:t>
            </a:r>
          </a:p>
          <a:p>
            <a:r>
              <a:rPr lang="zh-CN" altLang="en-US" dirty="0"/>
              <a:t>比如，第一个就是“空状态”。当系统没有数据的时候，比如一个新用户刚进入系统，或者搜索没有结果，这个页面应该显示什么？如果你什么都不设计，用户就会看到一片空白，会非常困惑。</a:t>
            </a:r>
          </a:p>
          <a:p>
            <a:r>
              <a:rPr lang="zh-CN" altLang="en-US" dirty="0"/>
              <a:t>所以我们需要明确设计，比如显示“暂无数据”，同时给一个引导按钮，比如“立即创建”。</a:t>
            </a:r>
          </a:p>
          <a:p>
            <a:r>
              <a:rPr lang="zh-CN" altLang="en-US" dirty="0"/>
              <a:t>第二个是“错误状态”。比如网络超时、表单校验失败，这时候系统必须明确告诉用户哪里出问题了，而且要尽量做到精准提示，比如直接在出错的输入框下面显示红色提示，而不是弹一个模糊的错误。</a:t>
            </a:r>
          </a:p>
          <a:p>
            <a:r>
              <a:rPr lang="zh-CN" altLang="en-US" dirty="0"/>
              <a:t>所以这一页你可以总结一句话：</a:t>
            </a:r>
          </a:p>
          <a:p>
            <a:r>
              <a:rPr lang="zh-CN" altLang="en-US" dirty="0"/>
              <a:t>👉 一个专业的原型，不只是画“顺利情况”，而是要覆盖“所有可能情况”。</a:t>
            </a:r>
          </a:p>
        </p:txBody>
      </p:sp>
      <p:sp>
        <p:nvSpPr>
          <p:cNvPr id="542" name="Google Shape;5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接下来进入第六部分：工程交付。</a:t>
            </a:r>
          </a:p>
          <a:p>
            <a:r>
              <a:rPr lang="zh-CN" altLang="en-US" dirty="0"/>
              <a:t>这一页其实是在回答一个问题：</a:t>
            </a:r>
          </a:p>
          <a:p>
            <a:r>
              <a:rPr lang="zh-CN" altLang="en-US" dirty="0"/>
              <a:t>👉 原型画完之后，接下来做什么？</a:t>
            </a:r>
          </a:p>
          <a:p>
            <a:r>
              <a:rPr lang="zh-CN" altLang="en-US" dirty="0"/>
              <a:t>很多人会误以为，原型画完就结束了，但其实不是。</a:t>
            </a:r>
          </a:p>
          <a:p>
            <a:r>
              <a:rPr lang="zh-CN" altLang="en-US" dirty="0"/>
              <a:t>原型本质上只是一个“中间产物”，它的真正目标，是服务开发。</a:t>
            </a:r>
          </a:p>
          <a:p>
            <a:r>
              <a:rPr lang="zh-CN" altLang="en-US" dirty="0"/>
              <a:t>也就是说，我们最终是要把这个原型交给前端工程师，让他们把它变成真正的系统界面。</a:t>
            </a:r>
          </a:p>
          <a:p>
            <a:r>
              <a:rPr lang="zh-CN" altLang="en-US" dirty="0"/>
              <a:t>所以问题就来了：</a:t>
            </a:r>
          </a:p>
          <a:p>
            <a:r>
              <a:rPr lang="zh-CN" altLang="en-US" dirty="0"/>
              <a:t>👉 开发人员到底需要什么？</a:t>
            </a:r>
          </a:p>
          <a:p>
            <a:r>
              <a:rPr lang="zh-CN" altLang="en-US" dirty="0"/>
              <a:t>答案并不是一张“好看的图”，而是可以直接用于实现的“规范”。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0" name="Google Shape;56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这一页讲的是设计交付的具体方式。</a:t>
            </a:r>
          </a:p>
          <a:p>
            <a:r>
              <a:rPr lang="zh-CN" altLang="en-US" dirty="0"/>
              <a:t>前端开发在实现界面的时候，需要的其实是非常精确的信息，比如：</a:t>
            </a:r>
          </a:p>
          <a:p>
            <a:r>
              <a:rPr lang="zh-CN" altLang="en-US" dirty="0"/>
              <a:t>每个元素的尺寸是多少 </a:t>
            </a:r>
          </a:p>
          <a:p>
            <a:r>
              <a:rPr lang="zh-CN" altLang="en-US" dirty="0"/>
              <a:t>颜色的具体数值 </a:t>
            </a:r>
          </a:p>
          <a:p>
            <a:r>
              <a:rPr lang="zh-CN" altLang="en-US" dirty="0"/>
              <a:t>间距是多少 </a:t>
            </a:r>
          </a:p>
          <a:p>
            <a:r>
              <a:rPr lang="zh-CN" altLang="en-US" dirty="0"/>
              <a:t>用什么字体 </a:t>
            </a:r>
          </a:p>
          <a:p>
            <a:r>
              <a:rPr lang="zh-CN" altLang="en-US" dirty="0"/>
              <a:t>如果你只是给他一张图片，他是没法准确还原的。</a:t>
            </a:r>
          </a:p>
          <a:p>
            <a:r>
              <a:rPr lang="zh-CN" altLang="en-US" dirty="0"/>
              <a:t>所以现在行业里会用一些工具，比如：</a:t>
            </a:r>
          </a:p>
          <a:p>
            <a:r>
              <a:rPr lang="en-US" altLang="zh-CN" dirty="0"/>
              <a:t>Figma </a:t>
            </a:r>
          </a:p>
          <a:p>
            <a:r>
              <a:rPr lang="en-US" altLang="zh-CN" dirty="0"/>
              <a:t>Zeplin </a:t>
            </a:r>
          </a:p>
          <a:p>
            <a:r>
              <a:rPr lang="zh-CN" altLang="en-US" dirty="0"/>
              <a:t>这些工具的作用，就是把设计稿变成“可查看、可复制参数”的形式。</a:t>
            </a:r>
          </a:p>
          <a:p>
            <a:r>
              <a:rPr lang="zh-CN" altLang="en-US" dirty="0"/>
              <a:t>开发人员可以直接点击按钮，查看对应的</a:t>
            </a:r>
            <a:r>
              <a:rPr lang="en-US" altLang="zh-CN" dirty="0"/>
              <a:t>CSS</a:t>
            </a:r>
            <a:r>
              <a:rPr lang="zh-CN" altLang="en-US" dirty="0"/>
              <a:t>属性，甚至直接复制代码。</a:t>
            </a:r>
          </a:p>
          <a:p>
            <a:r>
              <a:rPr lang="zh-CN" altLang="en-US" dirty="0"/>
              <a:t>所以这一页你可以强调：</a:t>
            </a:r>
          </a:p>
          <a:p>
            <a:r>
              <a:rPr lang="zh-CN" altLang="en-US" dirty="0"/>
              <a:t>👉 设计交付的核心，不是“给图”，而是“给规范”。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9" name="Google Shape;56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这一页讲的是一个非常现实的问题：多终端适配。</a:t>
            </a:r>
          </a:p>
          <a:p>
            <a:r>
              <a:rPr lang="zh-CN" altLang="en-US" dirty="0"/>
              <a:t>现在的系统，往往既要在</a:t>
            </a:r>
            <a:r>
              <a:rPr lang="en-US" altLang="zh-CN" dirty="0"/>
              <a:t>PC</a:t>
            </a:r>
            <a:r>
              <a:rPr lang="zh-CN" altLang="en-US" dirty="0"/>
              <a:t>上用，也要在手机上用。</a:t>
            </a:r>
          </a:p>
          <a:p>
            <a:r>
              <a:rPr lang="zh-CN" altLang="en-US" dirty="0"/>
              <a:t>但是</a:t>
            </a:r>
            <a:r>
              <a:rPr lang="en-US" altLang="zh-CN" dirty="0"/>
              <a:t>PC</a:t>
            </a:r>
            <a:r>
              <a:rPr lang="zh-CN" altLang="en-US" dirty="0"/>
              <a:t>和手机的屏幕差别是非常大的。</a:t>
            </a:r>
          </a:p>
          <a:p>
            <a:r>
              <a:rPr lang="zh-CN" altLang="en-US" dirty="0"/>
              <a:t>比如：</a:t>
            </a:r>
          </a:p>
          <a:p>
            <a:r>
              <a:rPr lang="en-US" altLang="zh-CN" dirty="0"/>
              <a:t>PC</a:t>
            </a:r>
            <a:r>
              <a:rPr lang="zh-CN" altLang="en-US" dirty="0"/>
              <a:t>可以多列布局 </a:t>
            </a:r>
          </a:p>
          <a:p>
            <a:r>
              <a:rPr lang="zh-CN" altLang="en-US" dirty="0"/>
              <a:t>手机只能单列 </a:t>
            </a:r>
          </a:p>
          <a:p>
            <a:r>
              <a:rPr lang="zh-CN" altLang="en-US" dirty="0"/>
              <a:t>所以在设计原型的时候，就必须提前考虑：</a:t>
            </a:r>
          </a:p>
          <a:p>
            <a:r>
              <a:rPr lang="zh-CN" altLang="en-US" dirty="0"/>
              <a:t>👉 不同屏幕下，布局怎么变化？</a:t>
            </a:r>
          </a:p>
          <a:p>
            <a:r>
              <a:rPr lang="zh-CN" altLang="en-US" dirty="0"/>
              <a:t>这里就引出了一个概念，叫做“断点”，也就是在什么屏幕宽度下切换布局。</a:t>
            </a:r>
          </a:p>
          <a:p>
            <a:r>
              <a:rPr lang="zh-CN" altLang="en-US" dirty="0"/>
              <a:t>比如：</a:t>
            </a:r>
          </a:p>
          <a:p>
            <a:r>
              <a:rPr lang="zh-CN" altLang="en-US" dirty="0"/>
              <a:t>宽屏 → 多列 </a:t>
            </a:r>
          </a:p>
          <a:p>
            <a:r>
              <a:rPr lang="zh-CN" altLang="en-US" dirty="0"/>
              <a:t>窄屏 → 单列 </a:t>
            </a:r>
          </a:p>
          <a:p>
            <a:r>
              <a:rPr lang="zh-CN" altLang="en-US" dirty="0"/>
              <a:t>这一页你可以总结为：</a:t>
            </a:r>
          </a:p>
          <a:p>
            <a:r>
              <a:rPr lang="zh-CN" altLang="en-US" dirty="0"/>
              <a:t>👉 现代</a:t>
            </a:r>
            <a:r>
              <a:rPr lang="en-US" altLang="zh-CN" dirty="0"/>
              <a:t>UI</a:t>
            </a:r>
            <a:r>
              <a:rPr lang="zh-CN" altLang="en-US" dirty="0"/>
              <a:t>设计，必须具备“跨设备适配”的能力。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2" name="Google Shape;58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现在常见的原型工具有几种：</a:t>
            </a:r>
          </a:p>
          <a:p>
            <a:r>
              <a:rPr lang="zh-CN" altLang="en-US" dirty="0"/>
              <a:t>比如</a:t>
            </a:r>
            <a:r>
              <a:rPr lang="en-US" altLang="zh-CN" dirty="0"/>
              <a:t>Figma</a:t>
            </a:r>
            <a:r>
              <a:rPr lang="zh-CN" altLang="en-US" dirty="0"/>
              <a:t>，它是目前行业里最主流的工具，支持多人协作，而且可以直接用于设计交付。</a:t>
            </a:r>
          </a:p>
          <a:p>
            <a:r>
              <a:rPr lang="en-US" altLang="zh-CN" dirty="0"/>
              <a:t>Axure</a:t>
            </a:r>
            <a:r>
              <a:rPr lang="zh-CN" altLang="en-US" dirty="0"/>
              <a:t>更偏向复杂业务，它可以做比较复杂的交互逻辑，比如条件判断、变量这些。</a:t>
            </a:r>
          </a:p>
          <a:p>
            <a:r>
              <a:rPr lang="zh-CN" altLang="en-US" dirty="0"/>
              <a:t>像墨刀、摹客这些工具，更偏轻量，适合快速画原型，尤其是移动端。</a:t>
            </a:r>
          </a:p>
          <a:p>
            <a:r>
              <a:rPr lang="zh-CN" altLang="en-US" dirty="0"/>
              <a:t>还有</a:t>
            </a:r>
            <a:r>
              <a:rPr lang="en-US" altLang="zh-CN" dirty="0"/>
              <a:t>Balsamiq</a:t>
            </a:r>
            <a:r>
              <a:rPr lang="zh-CN" altLang="en-US" dirty="0"/>
              <a:t>，它是专门做低保真的，看起来像手绘，目的是让大家在早期只关注结构，而不是视觉。</a:t>
            </a:r>
          </a:p>
          <a:p>
            <a:r>
              <a:rPr lang="zh-CN" altLang="en-US" dirty="0"/>
              <a:t>这一页你可以总结一句：</a:t>
            </a:r>
          </a:p>
          <a:p>
            <a:r>
              <a:rPr lang="zh-CN" altLang="en-US" dirty="0"/>
              <a:t>👉 工具很多，但核心不是工具，而是设计方法。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2" name="Google Shape;60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现在已经出现了一类新的工具，可以直接通过自然语言生成界面。</a:t>
            </a:r>
          </a:p>
          <a:p>
            <a:r>
              <a:rPr lang="zh-CN" altLang="en-US" dirty="0"/>
              <a:t>比如你输入一句话：</a:t>
            </a:r>
          </a:p>
          <a:p>
            <a:r>
              <a:rPr lang="zh-CN" altLang="en-US" dirty="0"/>
              <a:t>“生成一个带搜索和筛选功能的订单管理页面”</a:t>
            </a:r>
          </a:p>
          <a:p>
            <a:r>
              <a:rPr lang="zh-CN" altLang="en-US" dirty="0"/>
              <a:t>系统就可以自动帮你生成一个原型，甚至连前端代码都能给出来。</a:t>
            </a:r>
          </a:p>
          <a:p>
            <a:r>
              <a:rPr lang="zh-CN" altLang="en-US" dirty="0"/>
              <a:t>这其实意味着一件事情：</a:t>
            </a:r>
          </a:p>
          <a:p>
            <a:r>
              <a:rPr lang="zh-CN" altLang="en-US" dirty="0"/>
              <a:t>👉 画界面这件事，本身正在被自动化。</a:t>
            </a:r>
          </a:p>
          <a:p>
            <a:r>
              <a:rPr lang="zh-CN" altLang="en-US" dirty="0"/>
              <a:t>那未来需求工程师的核心能力是什么？</a:t>
            </a:r>
          </a:p>
          <a:p>
            <a:r>
              <a:rPr lang="zh-CN" altLang="en-US" dirty="0"/>
              <a:t>不是画图，而是：</a:t>
            </a:r>
          </a:p>
          <a:p>
            <a:r>
              <a:rPr lang="zh-CN" altLang="en-US" dirty="0"/>
              <a:t>能不能把业务模型定义清楚（比如</a:t>
            </a:r>
            <a:r>
              <a:rPr lang="en-US" altLang="zh-CN" dirty="0"/>
              <a:t>UML</a:t>
            </a:r>
            <a:r>
              <a:rPr lang="zh-CN" altLang="en-US" dirty="0"/>
              <a:t>） </a:t>
            </a:r>
          </a:p>
          <a:p>
            <a:r>
              <a:rPr lang="zh-CN" altLang="en-US" dirty="0"/>
              <a:t>能不能写出准确的描述（</a:t>
            </a:r>
            <a:r>
              <a:rPr lang="en-US" altLang="zh-CN" dirty="0"/>
              <a:t>Prompt</a:t>
            </a:r>
            <a:r>
              <a:rPr lang="zh-CN" altLang="en-US" dirty="0"/>
              <a:t>） </a:t>
            </a:r>
          </a:p>
          <a:p>
            <a:r>
              <a:rPr lang="zh-CN" altLang="en-US" dirty="0"/>
              <a:t>能不能评估生成结果是否合理 </a:t>
            </a:r>
          </a:p>
          <a:p>
            <a:r>
              <a:rPr lang="zh-CN" altLang="en-US" dirty="0"/>
              <a:t>所以这一页可以作为一个升华点：</a:t>
            </a:r>
          </a:p>
          <a:p>
            <a:r>
              <a:rPr lang="zh-CN" altLang="en-US" dirty="0"/>
              <a:t>👉 技术在变，但“建模能力”和“判断能力”更重要。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3" name="Google Shape;62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在设计交付阶段，为什么要用</a:t>
            </a:r>
            <a:r>
              <a:rPr lang="en-US" altLang="zh-CN" dirty="0"/>
              <a:t>Figma</a:t>
            </a:r>
            <a:r>
              <a:rPr lang="zh-CN" altLang="en-US" dirty="0"/>
              <a:t>这些工具？</a:t>
            </a:r>
          </a:p>
          <a:p>
            <a:r>
              <a:rPr lang="zh-CN" altLang="en-US" dirty="0"/>
              <a:t>答案其实已经讲过了：</a:t>
            </a:r>
          </a:p>
          <a:p>
            <a:r>
              <a:rPr lang="zh-CN" altLang="en-US" dirty="0"/>
              <a:t>👉 不是为了“展示”，而是为了“开发实现”。</a:t>
            </a:r>
          </a:p>
          <a:p>
            <a:r>
              <a:rPr lang="zh-CN" altLang="en-US" dirty="0"/>
              <a:t>也就是说，开发人员用这些工具，是为了获取：</a:t>
            </a:r>
          </a:p>
          <a:p>
            <a:r>
              <a:rPr lang="zh-CN" altLang="en-US" dirty="0"/>
              <a:t>尺寸 </a:t>
            </a:r>
          </a:p>
          <a:p>
            <a:r>
              <a:rPr lang="zh-CN" altLang="en-US" dirty="0"/>
              <a:t>颜色 </a:t>
            </a:r>
          </a:p>
          <a:p>
            <a:r>
              <a:rPr lang="zh-CN" altLang="en-US" dirty="0"/>
              <a:t>样式 </a:t>
            </a:r>
          </a:p>
          <a:p>
            <a:r>
              <a:rPr lang="zh-CN" altLang="en-US" dirty="0"/>
              <a:t>代码 </a:t>
            </a:r>
          </a:p>
          <a:p>
            <a:r>
              <a:rPr lang="zh-CN" altLang="en-US" dirty="0"/>
              <a:t>所以你可以简单总结一句：</a:t>
            </a:r>
          </a:p>
          <a:p>
            <a:r>
              <a:rPr lang="zh-CN" altLang="en-US" dirty="0"/>
              <a:t>👉 设计工具的核心价值，是提高开发效率。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7" name="Google Shape;63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这一页开始进入总结。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5" name="Google Shape;675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首先，我们讲了一个非常核心的观点：</a:t>
            </a:r>
          </a:p>
          <a:p>
            <a:r>
              <a:rPr lang="zh-CN" altLang="en-US" dirty="0"/>
              <a:t>👉 原型不是凭空画出来的，而是来源于业务逻辑。</a:t>
            </a:r>
          </a:p>
          <a:p>
            <a:r>
              <a:rPr lang="zh-CN" altLang="en-US" dirty="0"/>
              <a:t>也就是说：</a:t>
            </a:r>
          </a:p>
          <a:p>
            <a:r>
              <a:rPr lang="en-US" altLang="zh-CN" dirty="0"/>
              <a:t>UML</a:t>
            </a:r>
            <a:r>
              <a:rPr lang="zh-CN" altLang="en-US" dirty="0"/>
              <a:t>负责描述逻辑 </a:t>
            </a:r>
          </a:p>
          <a:p>
            <a:r>
              <a:rPr lang="zh-CN" altLang="en-US" dirty="0"/>
              <a:t>原型负责呈现界面 </a:t>
            </a:r>
          </a:p>
          <a:p>
            <a:r>
              <a:rPr lang="zh-CN" altLang="en-US" dirty="0"/>
              <a:t>另外，我们也讲了“保真度”的概念：</a:t>
            </a:r>
          </a:p>
          <a:p>
            <a:r>
              <a:rPr lang="zh-CN" altLang="en-US" dirty="0"/>
              <a:t>在不同阶段，要选择不同类型的原型，而不是一开始就追求精美。</a:t>
            </a:r>
          </a:p>
          <a:p>
            <a:r>
              <a:rPr lang="zh-CN" altLang="en-US" dirty="0"/>
              <a:t>这一页你可以用“三句话总结”：</a:t>
            </a:r>
          </a:p>
          <a:p>
            <a:r>
              <a:rPr lang="zh-CN" altLang="en-US" dirty="0"/>
              <a:t>👉 原型是需求的可视化表达</a:t>
            </a:r>
            <a:br>
              <a:rPr lang="zh-CN" altLang="en-US" dirty="0"/>
            </a:br>
            <a:r>
              <a:rPr lang="zh-CN" altLang="en-US" dirty="0"/>
              <a:t>👉 </a:t>
            </a:r>
            <a:r>
              <a:rPr lang="en-US" altLang="zh-CN" dirty="0"/>
              <a:t>UML</a:t>
            </a:r>
            <a:r>
              <a:rPr lang="zh-CN" altLang="en-US" dirty="0"/>
              <a:t>是原型的基础</a:t>
            </a:r>
            <a:br>
              <a:rPr lang="zh-CN" altLang="en-US" dirty="0"/>
            </a:br>
            <a:r>
              <a:rPr lang="zh-CN" altLang="en-US" dirty="0"/>
              <a:t>👉 保真度要分阶段选择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84" name="Google Shape;68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这一页是更偏实践的总结。</a:t>
            </a:r>
          </a:p>
          <a:p>
            <a:r>
              <a:rPr lang="zh-CN" altLang="en-US" dirty="0"/>
              <a:t>我们讲了几个非常重要的点：</a:t>
            </a:r>
          </a:p>
          <a:p>
            <a:r>
              <a:rPr lang="zh-CN" altLang="en-US" dirty="0"/>
              <a:t>首先是设计原则，比如视觉动线、亲密性原则，这些都是为了让用户更容易理解界面。</a:t>
            </a:r>
          </a:p>
          <a:p>
            <a:r>
              <a:rPr lang="zh-CN" altLang="en-US" dirty="0"/>
              <a:t>然后是交互设计，比如反馈机制和防错机制，这些是为了提升用户体验。</a:t>
            </a:r>
          </a:p>
          <a:p>
            <a:r>
              <a:rPr lang="zh-CN" altLang="en-US" dirty="0"/>
              <a:t>再就是需求验证，比如</a:t>
            </a:r>
            <a:r>
              <a:rPr lang="en-US" altLang="zh-CN" dirty="0"/>
              <a:t>RTM</a:t>
            </a:r>
            <a:r>
              <a:rPr lang="zh-CN" altLang="en-US" dirty="0"/>
              <a:t>，用来确保设计没有偏离需求。</a:t>
            </a:r>
          </a:p>
          <a:p>
            <a:r>
              <a:rPr lang="zh-CN" altLang="en-US" dirty="0"/>
              <a:t>最后是工程化，比如组件化设计和设计交付，这些是为了让设计真正落地。</a:t>
            </a:r>
          </a:p>
          <a:p>
            <a:r>
              <a:rPr lang="zh-CN" altLang="en-US" dirty="0"/>
              <a:t>所以这一页可以总结为：</a:t>
            </a:r>
          </a:p>
          <a:p>
            <a:r>
              <a:rPr lang="zh-CN" altLang="en-US" dirty="0"/>
              <a:t>👉 好的原型设计，不只是“画得好看”，而是“逻辑正确、可验证、可落地”。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9" name="Google Shape;699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8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25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8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25.png"/><Relationship Id="rId5" Type="http://schemas.openxmlformats.org/officeDocument/2006/relationships/image" Target="../media/image60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48.png"/><Relationship Id="rId5" Type="http://schemas.openxmlformats.org/officeDocument/2006/relationships/image" Target="../media/image60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13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25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.png"/><Relationship Id="rId7" Type="http://schemas.openxmlformats.org/officeDocument/2006/relationships/image" Target="../media/image91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48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11.png"/><Relationship Id="rId3" Type="http://schemas.openxmlformats.org/officeDocument/2006/relationships/image" Target="../media/image1.png"/><Relationship Id="rId7" Type="http://schemas.openxmlformats.org/officeDocument/2006/relationships/image" Target="../media/image105.png"/><Relationship Id="rId12" Type="http://schemas.openxmlformats.org/officeDocument/2006/relationships/image" Target="../media/image1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.png"/><Relationship Id="rId7" Type="http://schemas.openxmlformats.org/officeDocument/2006/relationships/image" Target="../media/image119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2.png"/><Relationship Id="rId5" Type="http://schemas.openxmlformats.org/officeDocument/2006/relationships/image" Target="../media/image117.png"/><Relationship Id="rId10" Type="http://schemas.openxmlformats.org/officeDocument/2006/relationships/image" Target="../media/image89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.png"/><Relationship Id="rId7" Type="http://schemas.openxmlformats.org/officeDocument/2006/relationships/image" Target="../media/image123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4.png"/><Relationship Id="rId5" Type="http://schemas.openxmlformats.org/officeDocument/2006/relationships/image" Target="../media/image117.png"/><Relationship Id="rId10" Type="http://schemas.openxmlformats.org/officeDocument/2006/relationships/image" Target="../media/image89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95750" y="4392810"/>
            <a:ext cx="40005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447925" y="1931640"/>
            <a:ext cx="72961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软件需求分析原理与实践 (Software Requirements Analysis)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45618" y="2739330"/>
            <a:ext cx="6100762" cy="1462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UML基础II：界面原型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(UI Prototyping)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1171575"/>
            <a:ext cx="7924800" cy="54458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257425" y="1490297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界面原型：概念与认知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弥合逻辑与认知，保真度模型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2066925" y="2015550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57425" y="2383713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模型驱动：UML向界面的映射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从用例、类图、状态图到界面生成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2066925" y="2908965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2257425" y="3277127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界面设计的核心原则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视觉排版层级、交互反馈与约束防错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2066925" y="3802381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2257425" y="4170543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需求验证与可用性评估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需求跟踪矩阵 (RTM) 与尼尔森原则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2066925" y="4695796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257425" y="5063958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设计方法与实战构建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组件化思维、表单拆解与异常状态补全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2066925" y="5589211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2257425" y="5956988"/>
            <a:ext cx="68829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工程交付与技术前沿</a:t>
            </a:r>
            <a:r>
              <a:rPr lang="en-US" sz="18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响应式适配、标注交付与 AI 辅助生成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2066925" y="2015550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2066925" y="2908965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2066925" y="3802381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2066925" y="4695796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2066925" y="5589211"/>
            <a:ext cx="7224548" cy="4571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课程目录 (Table of Contents)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015489" y="2202209"/>
            <a:ext cx="816102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01. 界面原型：概念与认知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343275" y="3459509"/>
            <a:ext cx="55054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为什么有了严谨的UML，我们还需要画界面原型？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024038"/>
            <a:ext cx="523875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1028700" y="1573113"/>
            <a:ext cx="47815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UML的严谨与抽象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UML擅长向“技术人员”精准定义底层逻辑和数据结构，但终端业务用户很难看懂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28" name="Google Shape;128;p16"/>
          <p:cNvSpPr txBox="1"/>
          <p:nvPr/>
        </p:nvSpPr>
        <p:spPr>
          <a:xfrm>
            <a:off x="1028700" y="3249066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原型的具象化翻译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界面原型是需求规格的“可视化执行版”。它将抽象的业务规则转化为用户可点击、可感知的界面实体。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028700" y="4925020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前置风险验证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在编写代码前验证假设。修复原型上的逻辑漏洞，其成本远远低于在代码阶段进行重构。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667500" y="3252638"/>
            <a:ext cx="47244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需求工程的黄金组合：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065F46"/>
                </a:solidFill>
                <a:latin typeface="Inter Medium"/>
                <a:ea typeface="Inter Medium"/>
                <a:cs typeface="Inter Medium"/>
                <a:sym typeface="Inter Medium"/>
              </a:rPr>
              <a:t> 在现代软件工程体系中，</a:t>
            </a:r>
            <a:r>
              <a:rPr lang="en-US" sz="1500" b="1" i="0" u="none" strike="noStrike" cap="none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rPr>
              <a:t>“精简的UML图 + 可交互的界面原型”</a:t>
            </a:r>
            <a:r>
              <a:rPr lang="en-US" sz="1500" b="0" i="0" u="none" strike="noStrike" cap="none">
                <a:solidFill>
                  <a:srgbClr val="065F46"/>
                </a:solidFill>
                <a:latin typeface="Inter Medium"/>
                <a:ea typeface="Inter Medium"/>
                <a:cs typeface="Inter Medium"/>
                <a:sym typeface="Inter Medium"/>
              </a:rPr>
              <a:t> 是需求分析师与开发团队交接最高效的资产标准。</a:t>
            </a:r>
            <a:endParaRPr/>
          </a:p>
        </p:txBody>
      </p:sp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30978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60168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277641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5359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承上启下：弥合逻辑与认知的鸿沟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81362"/>
            <a:ext cx="3308300" cy="208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2250" y="3149947"/>
            <a:ext cx="3327350" cy="235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12050" y="3281362"/>
            <a:ext cx="3308300" cy="2087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233853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保真度是指原型与最终产品在视觉、交互和内容上的相似程度。需根据项目阶段灵活选择。</a:t>
            </a:r>
            <a:endParaRPr/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22675" y="417284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02475" y="417284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996975" y="35766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98818" y="4176712"/>
            <a:ext cx="30536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草图 (Sketch)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71525" y="4586287"/>
            <a:ext cx="2908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极低保真。纸笔白板，用于需求前期的头脑风暴，关注大方向，随画随弃。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95826" y="345474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569094" y="4054822"/>
            <a:ext cx="30536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线框图 (Wireframe)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4641800" y="4464397"/>
            <a:ext cx="29082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需求分析师的主力工具。</a:t>
            </a: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低保真黑白灰，聚焦信息架构与核心业务逻辑，排除色彩干扰。</a:t>
            </a:r>
            <a:endParaRPr/>
          </a:p>
        </p:txBody>
      </p:sp>
      <p:pic>
        <p:nvPicPr>
          <p:cNvPr id="154" name="Google Shape;154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737526" y="35766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8439369" y="4176712"/>
            <a:ext cx="305366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高保真原型 (High-Fi)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512075" y="4586287"/>
            <a:ext cx="2908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包含真实的色彩、阴影和动效。通常在需求逻辑确定后由UI设计师接手制作。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保真度模型 (Fidelity Spectrum)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23875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57387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12908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08158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33612"/>
            <a:ext cx="35316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319462"/>
            <a:ext cx="241696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338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291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1028700" y="2938462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1028700" y="3548062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028700" y="3786187"/>
            <a:ext cx="432435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在需求分析的初期，为了与客户确认系统的“核心业务流程”是否合理，业界最佳实践通常推荐使用哪种形式的原型？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1 / 5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7387"/>
            <a:ext cx="523875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957387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12908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08158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33612"/>
            <a:ext cx="35316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319462"/>
            <a:ext cx="241696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338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291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1028700" y="2938462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1028700" y="3548062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1028700" y="3786187"/>
            <a:ext cx="4324350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在需求分析的初期，为了与客户确认系统的“核心业务流程”是否合理，业界最佳实践通常推荐使用哪种形式的原型？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1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850344" y="2202209"/>
            <a:ext cx="1049131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02. 模型驱动：UML向界面的映射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3095625" y="3459509"/>
            <a:ext cx="600075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界面不是凭空想象的，它是由底层UML模型推导而来的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1028700" y="1573113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用例图 (Use Case) -&gt; 决定导航与边界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不同的 Actor（参与者）对应不同的登录门户或权限菜单；每一个核心 Use Case 必须对应至少一个操作页面。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028700" y="3249066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类图 (Class Diagram) -&gt; 决定表单与列表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类的属性（Attributes）映射为表单的输入框和数据表格的列名。类的方法（Operations）映射为页面上的操作按钮。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028700" y="4925020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活动图 (Activity Diagram) -&gt; 决定页面流转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活动图的分支和控制流，直接指导了向导页面（Wizard）的先后顺序和条件跳转逻辑。</a:t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6381750" y="2246858"/>
            <a:ext cx="5238750" cy="33450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21"/>
          <p:cNvGraphicFramePr/>
          <p:nvPr/>
        </p:nvGraphicFramePr>
        <p:xfrm>
          <a:off x="6381750" y="2246858"/>
          <a:ext cx="5238750" cy="3345000"/>
        </p:xfrm>
        <a:graphic>
          <a:graphicData uri="http://schemas.openxmlformats.org/drawingml/2006/table">
            <a:tbl>
              <a:tblPr firstRow="1" bandRow="1">
                <a:noFill/>
                <a:tableStyleId>{E6B701AD-0AF5-4CFC-AD54-4D51CC808986}</a:tableStyleId>
              </a:tblPr>
              <a:tblGrid>
                <a:gridCol w="221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模型元素 (UML)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界面控件 (UI Components)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类属性：String Name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单行文本输入框 (Input)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类属性：Date DOB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日期选择器 (DatePicker)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关联关系：1对多 (1:N)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主从视图 / 树形列表 (Tree)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类方法：deleteUser()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列表末尾的“删除”操作按钮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6" name="Google Shape;216;p21"/>
          <p:cNvSpPr/>
          <p:nvPr/>
        </p:nvSpPr>
        <p:spPr>
          <a:xfrm>
            <a:off x="6381750" y="2927895"/>
            <a:ext cx="2211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8593633" y="2927895"/>
            <a:ext cx="3026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0168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77641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95359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/>
          <p:nvPr/>
        </p:nvSpPr>
        <p:spPr>
          <a:xfrm>
            <a:off x="6381750" y="3592710"/>
            <a:ext cx="2211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8593633" y="3592710"/>
            <a:ext cx="3026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381750" y="4257526"/>
            <a:ext cx="2211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8593633" y="4257526"/>
            <a:ext cx="3026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6381750" y="4922341"/>
            <a:ext cx="22118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8593633" y="4922341"/>
            <a:ext cx="302686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理论机制：基础UML元素如何转化为界面？</a:t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52513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262038"/>
            <a:ext cx="52197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623988"/>
            <a:ext cx="52197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82025" y="2814488"/>
            <a:ext cx="723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401300" y="2814488"/>
            <a:ext cx="1019175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571500" y="184338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基于类图的映射理论，我们可以推导出一个标准的“数据管理列表”页面结构：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028700" y="2643485"/>
            <a:ext cx="478155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顶部：查询检索区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对应对类集合的高频检索需求。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028700" y="3649116"/>
            <a:ext cx="478155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主体：数据展示区 (Table)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表头列名直接源于类图定义的属性 (Attributes)。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028700" y="4654748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末尾：方法操作区 (Actions)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对应针对该对象实例化的操作方法（如编辑、删除）。</a:t>
            </a: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6534150" y="2390626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6705600" y="2390626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6877050" y="2390626"/>
            <a:ext cx="95250" cy="95250"/>
          </a:xfrm>
          <a:prstGeom prst="roundRect">
            <a:avLst>
              <a:gd name="adj" fmla="val 50000"/>
            </a:avLst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7143750" y="2357288"/>
            <a:ext cx="14097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User Management List</a:t>
            </a:r>
            <a:endParaRPr/>
          </a:p>
        </p:txBody>
      </p:sp>
      <p:sp>
        <p:nvSpPr>
          <p:cNvPr id="247" name="Google Shape;247;p22"/>
          <p:cNvSpPr/>
          <p:nvPr/>
        </p:nvSpPr>
        <p:spPr>
          <a:xfrm>
            <a:off x="6581775" y="3357413"/>
            <a:ext cx="4838700" cy="12494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8" name="Google Shape;248;p22"/>
          <p:cNvGraphicFramePr/>
          <p:nvPr/>
        </p:nvGraphicFramePr>
        <p:xfrm>
          <a:off x="6581775" y="3357413"/>
          <a:ext cx="4838675" cy="1249425"/>
        </p:xfrm>
        <a:graphic>
          <a:graphicData uri="http://schemas.openxmlformats.org/drawingml/2006/table">
            <a:tbl>
              <a:tblPr firstRow="1" bandRow="1">
                <a:noFill/>
                <a:tableStyleId>{E6B701AD-0AF5-4CFC-AD54-4D51CC808986}</a:tableStyleId>
              </a:tblPr>
              <a:tblGrid>
                <a:gridCol w="40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Name (Attr)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Email (Attr)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Actions (Methods)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alice@test.com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Edit | Delete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6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Bob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bob@test.com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cap="none">
                          <a:solidFill>
                            <a:srgbClr val="3B82F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Edit | Delete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49" name="Google Shape;249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26720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3677691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468332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6581775" y="2814488"/>
            <a:ext cx="190500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应用剖析：类图到数据管理列表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52387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95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948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300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52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157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1028700" y="2566987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1028700" y="3176587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1028700" y="3414712"/>
            <a:ext cx="4324350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在利用UML模型指导原型设计时，如果你需要确定一个“商品发布表单”上应该放置哪些输入框（如：商品名称、价格、库存数量），你最应该查阅哪一种UML图表？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2 / 5</a:t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52387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95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948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300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52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157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1028700" y="2566987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1028700" y="3176587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1028700" y="3414712"/>
            <a:ext cx="4324350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在利用UML模型指导原型设计时，如果你需要确定一个“商品发布表单”上应该放置哪些输入框（如：商品名称、价格、库存数量），你最应该查阅哪一种UML图表？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2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292" name="Google Shape;292;p24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6"/>
          <p:cNvSpPr txBox="1"/>
          <p:nvPr/>
        </p:nvSpPr>
        <p:spPr>
          <a:xfrm>
            <a:off x="571500" y="2178694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顺序图揭示了前端与后端的生命线（Lifeline）和消息传递。在等待后端响应的“时间差”内，UI原型不能毫无作为。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1028700" y="2978794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异步等待 (Asynchronous Load)：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发送请求后等待返回的间隙，UI必须设计“加载动画(Spinners)”或“进度条”，防止用户重复点击。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1028700" y="4319587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骨架屏 (Skeleton Screens)：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对于加载时间较长的数据流，使用骨架屏占位，缓解用户的等待焦虑。</a:t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6381750" y="1919287"/>
            <a:ext cx="3143250" cy="3810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6381750" y="2490787"/>
            <a:ext cx="5238750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6381750" y="2871787"/>
            <a:ext cx="5238750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6381750" y="3252787"/>
            <a:ext cx="4191000" cy="190500"/>
          </a:xfrm>
          <a:prstGeom prst="roundRect">
            <a:avLst>
              <a:gd name="adj" fmla="val 2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0736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34816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进阶映射：顺序图 (Sequence) 与异步交互</a:t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7"/>
          <p:cNvSpPr txBox="1"/>
          <p:nvPr/>
        </p:nvSpPr>
        <p:spPr>
          <a:xfrm>
            <a:off x="2290524" y="2202209"/>
            <a:ext cx="7610951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03. 界面设计的核心原则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3867150" y="3459509"/>
            <a:ext cx="44577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基于认知心理学与可用性工程的基础规范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 txBox="1"/>
          <p:nvPr/>
        </p:nvSpPr>
        <p:spPr>
          <a:xfrm>
            <a:off x="6381750" y="1813173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界面的排版必须符合用户的自然认知规律，不要挑战用户的潜意识习惯。</a:t>
            </a:r>
            <a:endParaRPr/>
          </a:p>
        </p:txBody>
      </p:sp>
      <p:pic>
        <p:nvPicPr>
          <p:cNvPr id="344" name="Google Shape;344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8"/>
          <p:cNvSpPr txBox="1"/>
          <p:nvPr/>
        </p:nvSpPr>
        <p:spPr>
          <a:xfrm>
            <a:off x="6838950" y="2673994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阅读动线 (F型与Z型)：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人眼在屏幕上的扫描轨迹通常是从左到右、从上到下。因此，Logo放左上，最重要的核心操作（如“提交/保存”）置于右下或视觉流的终点。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6838950" y="4349948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格式塔：亲密性原则 (Proximity)：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逻辑上相关的元素必须在物理空间上靠近。比如，输入框和它专属的错误提示文字应该紧贴在一起，模块之间用留白隔开。</a:t>
            </a:r>
            <a:endParaRPr/>
          </a:p>
        </p:txBody>
      </p:sp>
      <p:pic>
        <p:nvPicPr>
          <p:cNvPr id="347" name="Google Shape;347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702569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4378523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设计规范：视觉层级与信息架构</a:t>
            </a:r>
            <a:endParaRPr/>
          </a:p>
        </p:txBody>
      </p:sp>
      <p:sp>
        <p:nvSpPr>
          <p:cNvPr id="350" name="Google Shape;350;p28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95487"/>
            <a:ext cx="538162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995487"/>
            <a:ext cx="538162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3860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9"/>
          <p:cNvSpPr txBox="1"/>
          <p:nvPr/>
        </p:nvSpPr>
        <p:spPr>
          <a:xfrm>
            <a:off x="866775" y="3376612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系统即时反馈 (Feedback)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866775" y="3929062"/>
            <a:ext cx="4791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每一次用户操作都必须有明确响应。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在原型中的体现：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点击保存后，必须设计一个“Toast提示：保存成功”。如果缺少反馈，用户会误以为系统卡死而反复点击产生脏数据。</a:t>
            </a:r>
            <a:endParaRPr/>
          </a:p>
        </p:txBody>
      </p:sp>
      <p:pic>
        <p:nvPicPr>
          <p:cNvPr id="361" name="Google Shape;361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38601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9"/>
          <p:cNvSpPr txBox="1"/>
          <p:nvPr/>
        </p:nvSpPr>
        <p:spPr>
          <a:xfrm>
            <a:off x="6534150" y="3376612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防错与约束 (Constraints)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6534150" y="3929062"/>
            <a:ext cx="4791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最好的报错设计是“从源头上不让错误发生”。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在原型中的体现：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在必填项未填完之前，底部的“提交”按钮应设置为置灰不可点击状态 (Disabled)，避免提交后才抛出大量报错。</a:t>
            </a:r>
            <a:endParaRPr/>
          </a:p>
        </p:txBody>
      </p:sp>
      <p:pic>
        <p:nvPicPr>
          <p:cNvPr id="364" name="Google Shape;364;p2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33462" y="25765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48462" y="25765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设计规范：交互反馈与防错约束</a:t>
            </a: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52387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95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948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300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52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157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0"/>
          <p:cNvSpPr txBox="1"/>
          <p:nvPr/>
        </p:nvSpPr>
        <p:spPr>
          <a:xfrm>
            <a:off x="1028700" y="2566987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383" name="Google Shape;383;p30"/>
          <p:cNvSpPr/>
          <p:nvPr/>
        </p:nvSpPr>
        <p:spPr>
          <a:xfrm>
            <a:off x="1028700" y="3176587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 txBox="1"/>
          <p:nvPr/>
        </p:nvSpPr>
        <p:spPr>
          <a:xfrm>
            <a:off x="1028700" y="3414712"/>
            <a:ext cx="4324350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在设计转账原型的页面时，设计师在“确认转账”后，专门画了一个带有绿色对号的“转账成功，金额已扣除”的提示页面。这体现了哪项核心的界面交互原则？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3 / 5</a:t>
            </a:r>
            <a:endParaRPr/>
          </a:p>
        </p:txBody>
      </p:sp>
      <p:sp>
        <p:nvSpPr>
          <p:cNvPr id="386" name="Google Shape;386;p30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90737"/>
            <a:ext cx="5238750" cy="365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90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3043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957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4948237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300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527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3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3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1577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1"/>
          <p:cNvSpPr txBox="1"/>
          <p:nvPr/>
        </p:nvSpPr>
        <p:spPr>
          <a:xfrm>
            <a:off x="1028700" y="2566987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402" name="Google Shape;402;p31"/>
          <p:cNvSpPr/>
          <p:nvPr/>
        </p:nvSpPr>
        <p:spPr>
          <a:xfrm>
            <a:off x="1028700" y="3176587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 txBox="1"/>
          <p:nvPr/>
        </p:nvSpPr>
        <p:spPr>
          <a:xfrm>
            <a:off x="1028700" y="3414712"/>
            <a:ext cx="4324350" cy="185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在设计转账原型的页面时，设计师在“确认转账”后，专门画了一个带有绿色对号的“转账成功，金额已扣除”的提示页面。这体现了哪项核心的界面交互原则？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3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405" name="Google Shape;405;p31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2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2"/>
          <p:cNvSpPr txBox="1"/>
          <p:nvPr/>
        </p:nvSpPr>
        <p:spPr>
          <a:xfrm>
            <a:off x="1905476" y="2202209"/>
            <a:ext cx="838104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04. 需求验证与可用性评估</a:t>
            </a:r>
            <a:endParaRPr/>
          </a:p>
        </p:txBody>
      </p:sp>
      <p:sp>
        <p:nvSpPr>
          <p:cNvPr id="414" name="Google Shape;414;p32"/>
          <p:cNvSpPr txBox="1"/>
          <p:nvPr/>
        </p:nvSpPr>
        <p:spPr>
          <a:xfrm>
            <a:off x="3390900" y="3459509"/>
            <a:ext cx="54102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如何科学地证明你画的原型是“正确”且“好用”的？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3"/>
          <p:cNvSpPr txBox="1"/>
          <p:nvPr/>
        </p:nvSpPr>
        <p:spPr>
          <a:xfrm>
            <a:off x="1028700" y="2243583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双向追溯建立闭环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在软件工程中，必须证明“每一个业务用例(Use Case)都在原型中得到了落实”，且“原型上的每一个按钮都不是设计师凭空捏造的”。</a:t>
            </a:r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1028700" y="3919537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防止需求蔓延 (Scope Creep)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如果UI原型上出现了一个炫酷的“社区分享”功能，但在需求规格说明书或用例图中找不到对应来源，这就属于过度设计（镀金），应当被审查移除。</a:t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>
            <a:off x="6381750" y="2015579"/>
            <a:ext cx="5238750" cy="380791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3" name="Google Shape;423;p33"/>
          <p:cNvGraphicFramePr/>
          <p:nvPr/>
        </p:nvGraphicFramePr>
        <p:xfrm>
          <a:off x="6381750" y="2015579"/>
          <a:ext cx="5238750" cy="3807900"/>
        </p:xfrm>
        <a:graphic>
          <a:graphicData uri="http://schemas.openxmlformats.org/drawingml/2006/table">
            <a:tbl>
              <a:tblPr firstRow="1" bandRow="1">
                <a:noFill/>
                <a:tableStyleId>{E6B701AD-0AF5-4CFC-AD54-4D51CC808986}</a:tableStyleId>
              </a:tblPr>
              <a:tblGrid>
                <a:gridCol w="12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业务用例 ID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用例名称 / 核心功能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原型页面 ID (Screen)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UC-01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用户手机号注册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UI-Login-01 (注册表单页)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UC-02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忘记密码重置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UI-Login-03 (找回密码弹窗)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UC-05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将商品加入购物车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UI-Item-Detail (商品详情页)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4" name="Google Shape;424;p33"/>
          <p:cNvSpPr/>
          <p:nvPr/>
        </p:nvSpPr>
        <p:spPr>
          <a:xfrm>
            <a:off x="6381750" y="3001416"/>
            <a:ext cx="125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7634287" y="3001416"/>
            <a:ext cx="17255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9359800" y="3001416"/>
            <a:ext cx="2260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7" name="Google Shape;427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215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481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3"/>
          <p:cNvSpPr/>
          <p:nvPr/>
        </p:nvSpPr>
        <p:spPr>
          <a:xfrm>
            <a:off x="6381750" y="3940522"/>
            <a:ext cx="125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7634287" y="3940522"/>
            <a:ext cx="17255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9359800" y="3940522"/>
            <a:ext cx="2260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6381750" y="4879627"/>
            <a:ext cx="1252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7634287" y="4879627"/>
            <a:ext cx="17255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9359800" y="4879627"/>
            <a:ext cx="22606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理论验证：需求跟踪矩阵 (RTM)</a:t>
            </a:r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4"/>
          <p:cNvSpPr txBox="1"/>
          <p:nvPr/>
        </p:nvSpPr>
        <p:spPr>
          <a:xfrm>
            <a:off x="571500" y="927645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雅各布·尼尔森（Jakob Nielsen）提出的启发式评估（Heuristic Evaluation）原则，是审阅和优化界面原型的黄金准则：</a:t>
            </a:r>
            <a:endParaRPr/>
          </a:p>
        </p:txBody>
      </p:sp>
      <p:sp>
        <p:nvSpPr>
          <p:cNvPr id="443" name="Google Shape;443;p34"/>
          <p:cNvSpPr txBox="1"/>
          <p:nvPr/>
        </p:nvSpPr>
        <p:spPr>
          <a:xfrm>
            <a:off x="1028700" y="1883717"/>
            <a:ext cx="105918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状态可见原则 (Visibility of system status)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系统应始终让用户了解当前发生了什么。例如：上传大文件时，原型必须包含明确的进度条 (如: 50%)，而不能只是一个转圈盲盒。</a:t>
            </a:r>
            <a:endParaRPr/>
          </a:p>
        </p:txBody>
      </p:sp>
      <p:sp>
        <p:nvSpPr>
          <p:cNvPr id="444" name="Google Shape;444;p34"/>
          <p:cNvSpPr txBox="1"/>
          <p:nvPr/>
        </p:nvSpPr>
        <p:spPr>
          <a:xfrm>
            <a:off x="1028700" y="3559671"/>
            <a:ext cx="105918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撤销与重做原则 (User control and freedom)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用户经常误触，原型中必须设计“紧急出口”。例如：删除重要数据后提供“撤销(Undo)”选项，或在关键操作前提供二次确认弹窗。</a:t>
            </a:r>
            <a:endParaRPr/>
          </a:p>
        </p:txBody>
      </p:sp>
      <p:sp>
        <p:nvSpPr>
          <p:cNvPr id="445" name="Google Shape;445;p34"/>
          <p:cNvSpPr txBox="1"/>
          <p:nvPr/>
        </p:nvSpPr>
        <p:spPr>
          <a:xfrm>
            <a:off x="1028700" y="5235624"/>
            <a:ext cx="1059180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一致性与标准原则 (Consistency and standards)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避免让用户猜测不同的词语、情况或行为是否意味着同一件事。整个系统的“取消”按钮位置和颜色必须保持高度一致。</a:t>
            </a:r>
            <a:endParaRPr/>
          </a:p>
        </p:txBody>
      </p:sp>
      <p:pic>
        <p:nvPicPr>
          <p:cNvPr id="446" name="Google Shape;446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1229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8824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64199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质量评估：尼尔森十大可用性原则 (摘录)</a:t>
            </a:r>
            <a:endParaRPr/>
          </a:p>
        </p:txBody>
      </p:sp>
      <p:sp>
        <p:nvSpPr>
          <p:cNvPr id="450" name="Google Shape;450;p34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5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5"/>
          <p:cNvSpPr txBox="1"/>
          <p:nvPr/>
        </p:nvSpPr>
        <p:spPr>
          <a:xfrm>
            <a:off x="2265521" y="2202209"/>
            <a:ext cx="7660957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05. 设计方法与实战构建</a:t>
            </a:r>
            <a:endParaRPr/>
          </a:p>
        </p:txBody>
      </p:sp>
      <p:sp>
        <p:nvSpPr>
          <p:cNvPr id="459" name="Google Shape;459;p35"/>
          <p:cNvSpPr txBox="1"/>
          <p:nvPr/>
        </p:nvSpPr>
        <p:spPr>
          <a:xfrm>
            <a:off x="3619500" y="3459509"/>
            <a:ext cx="49530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从理论落地到实际界面的构建策略与陷阱防范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73797"/>
            <a:ext cx="3492549" cy="151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3473797"/>
            <a:ext cx="3492549" cy="1512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3473797"/>
            <a:ext cx="3492549" cy="1512391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36"/>
          <p:cNvSpPr txBox="1"/>
          <p:nvPr/>
        </p:nvSpPr>
        <p:spPr>
          <a:xfrm>
            <a:off x="571500" y="2852886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现代原型设计摒弃了“从零画线框”的低效模式。</a:t>
            </a:r>
            <a:r>
              <a:rPr lang="en-US" sz="165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“组件化 (Component-based)”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是提升规范性和画图效率的核心武器。</a:t>
            </a:r>
            <a:endParaRPr/>
          </a:p>
        </p:txBody>
      </p:sp>
      <p:sp>
        <p:nvSpPr>
          <p:cNvPr id="469" name="Google Shape;469;p36"/>
          <p:cNvSpPr txBox="1"/>
          <p:nvPr/>
        </p:nvSpPr>
        <p:spPr>
          <a:xfrm>
            <a:off x="771525" y="3673822"/>
            <a:ext cx="3247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导航与布局类组件</a:t>
            </a:r>
            <a:endParaRPr/>
          </a:p>
        </p:txBody>
      </p:sp>
      <p:sp>
        <p:nvSpPr>
          <p:cNvPr id="470" name="Google Shape;470;p36"/>
          <p:cNvSpPr txBox="1"/>
          <p:nvPr/>
        </p:nvSpPr>
        <p:spPr>
          <a:xfrm>
            <a:off x="771525" y="4054822"/>
            <a:ext cx="309249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标签页 (Tabs)、面包屑 (Breadcrumb)、分页器 (Pagination)、抽屉/模态弹窗 (Modal)</a:t>
            </a:r>
            <a:endParaRPr/>
          </a:p>
        </p:txBody>
      </p:sp>
      <p:sp>
        <p:nvSpPr>
          <p:cNvPr id="471" name="Google Shape;471;p36"/>
          <p:cNvSpPr txBox="1"/>
          <p:nvPr/>
        </p:nvSpPr>
        <p:spPr>
          <a:xfrm>
            <a:off x="4549824" y="3673822"/>
            <a:ext cx="3247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数据录入类组件</a:t>
            </a:r>
            <a:endParaRPr/>
          </a:p>
        </p:txBody>
      </p:sp>
      <p:sp>
        <p:nvSpPr>
          <p:cNvPr id="472" name="Google Shape;472;p36"/>
          <p:cNvSpPr txBox="1"/>
          <p:nvPr/>
        </p:nvSpPr>
        <p:spPr>
          <a:xfrm>
            <a:off x="4549824" y="4054822"/>
            <a:ext cx="3092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单行输入框 (Input)、下拉选择器 (Select)、单选/复选框 (Radio/Checkbox)、日期选择器 (DatePicker)</a:t>
            </a:r>
            <a:endParaRPr/>
          </a:p>
        </p:txBody>
      </p:sp>
      <p:sp>
        <p:nvSpPr>
          <p:cNvPr id="473" name="Google Shape;473;p36"/>
          <p:cNvSpPr txBox="1"/>
          <p:nvPr/>
        </p:nvSpPr>
        <p:spPr>
          <a:xfrm>
            <a:off x="8328124" y="3673822"/>
            <a:ext cx="324712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数据展示类组件</a:t>
            </a:r>
            <a:endParaRPr/>
          </a:p>
        </p:txBody>
      </p:sp>
      <p:sp>
        <p:nvSpPr>
          <p:cNvPr id="474" name="Google Shape;474;p36"/>
          <p:cNvSpPr txBox="1"/>
          <p:nvPr/>
        </p:nvSpPr>
        <p:spPr>
          <a:xfrm>
            <a:off x="8328124" y="4054822"/>
            <a:ext cx="309249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数据表格 (Table)、树形控件 (Tree)、信息卡片 (Card)、折叠面板 (Collapse)</a:t>
            </a:r>
            <a:endParaRPr/>
          </a:p>
        </p:txBody>
      </p:sp>
      <p:sp>
        <p:nvSpPr>
          <p:cNvPr id="475" name="Google Shape;475;p3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构建策略：组件化设计思维</a:t>
            </a:r>
            <a:endParaRPr/>
          </a:p>
        </p:txBody>
      </p:sp>
      <p:sp>
        <p:nvSpPr>
          <p:cNvPr id="476" name="Google Shape;476;p36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3113"/>
            <a:ext cx="4191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82638"/>
            <a:ext cx="417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1944588"/>
            <a:ext cx="41719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4725888"/>
            <a:ext cx="3790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09900" y="4878288"/>
            <a:ext cx="7334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3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838575" y="4878288"/>
            <a:ext cx="723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7"/>
          <p:cNvSpPr txBox="1"/>
          <p:nvPr/>
        </p:nvSpPr>
        <p:spPr>
          <a:xfrm>
            <a:off x="6838950" y="1573113"/>
            <a:ext cx="4781550" cy="1112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必填项警示：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必须使用红色星号（*）明确标注必填属性，降低用户提交时的试错成本。</a:t>
            </a:r>
            <a:endParaRPr/>
          </a:p>
        </p:txBody>
      </p:sp>
      <p:sp>
        <p:nvSpPr>
          <p:cNvPr id="489" name="Google Shape;489;p37"/>
          <p:cNvSpPr txBox="1"/>
          <p:nvPr/>
        </p:nvSpPr>
        <p:spPr>
          <a:xfrm>
            <a:off x="6838950" y="2913905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选择合适的组件：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属性的数据类型决定UI组件选择。如类别选择应当使用下拉框（Select），而非让用户自行拼写文本产生脏数据。</a:t>
            </a:r>
            <a:endParaRPr/>
          </a:p>
        </p:txBody>
      </p:sp>
      <p:sp>
        <p:nvSpPr>
          <p:cNvPr id="490" name="Google Shape;490;p37"/>
          <p:cNvSpPr txBox="1"/>
          <p:nvPr/>
        </p:nvSpPr>
        <p:spPr>
          <a:xfrm>
            <a:off x="6838950" y="4589859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操作主次分明：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底部的按钮区，主操作（如“Submit”）需使用实心品牌色，次级操作（如“Cancel”）使用线框或灰色弱化。</a:t>
            </a:r>
            <a:endParaRPr/>
          </a:p>
        </p:txBody>
      </p:sp>
      <p:sp>
        <p:nvSpPr>
          <p:cNvPr id="491" name="Google Shape;491;p37"/>
          <p:cNvSpPr txBox="1"/>
          <p:nvPr/>
        </p:nvSpPr>
        <p:spPr>
          <a:xfrm>
            <a:off x="771525" y="2135088"/>
            <a:ext cx="3790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Item Name </a:t>
            </a:r>
            <a:r>
              <a:rPr lang="en-US" sz="105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/>
          </a:p>
        </p:txBody>
      </p:sp>
      <p:sp>
        <p:nvSpPr>
          <p:cNvPr id="492" name="Google Shape;492;p37"/>
          <p:cNvSpPr/>
          <p:nvPr/>
        </p:nvSpPr>
        <p:spPr>
          <a:xfrm>
            <a:off x="771525" y="2344638"/>
            <a:ext cx="3790950" cy="304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7"/>
          <p:cNvSpPr txBox="1"/>
          <p:nvPr/>
        </p:nvSpPr>
        <p:spPr>
          <a:xfrm>
            <a:off x="771525" y="2839938"/>
            <a:ext cx="3790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Category </a:t>
            </a:r>
            <a:r>
              <a:rPr lang="en-US" sz="105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*</a:t>
            </a:r>
            <a:endParaRPr/>
          </a:p>
        </p:txBody>
      </p:sp>
      <p:pic>
        <p:nvPicPr>
          <p:cNvPr id="494" name="Google Shape;494;p3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1525" y="3049488"/>
            <a:ext cx="37909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7"/>
          <p:cNvSpPr txBox="1"/>
          <p:nvPr/>
        </p:nvSpPr>
        <p:spPr>
          <a:xfrm>
            <a:off x="876300" y="3120925"/>
            <a:ext cx="9334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Please select...</a:t>
            </a:r>
            <a:endParaRPr/>
          </a:p>
        </p:txBody>
      </p:sp>
      <p:pic>
        <p:nvPicPr>
          <p:cNvPr id="496" name="Google Shape;496;p3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305300" y="312568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381750" y="1601688"/>
            <a:ext cx="1619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381750" y="294248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381750" y="4618434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实战剖析：表单录入页的细节</a:t>
            </a:r>
            <a:endParaRPr/>
          </a:p>
        </p:txBody>
      </p:sp>
      <p:sp>
        <p:nvSpPr>
          <p:cNvPr id="501" name="Google Shape;501;p37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8350"/>
            <a:ext cx="52387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3835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3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99085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3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43350"/>
            <a:ext cx="52387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00062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47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00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79362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8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210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38"/>
          <p:cNvSpPr txBox="1"/>
          <p:nvPr/>
        </p:nvSpPr>
        <p:spPr>
          <a:xfrm>
            <a:off x="1028700" y="2752725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517" name="Google Shape;517;p38"/>
          <p:cNvSpPr/>
          <p:nvPr/>
        </p:nvSpPr>
        <p:spPr>
          <a:xfrm>
            <a:off x="1028700" y="3362325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1028700" y="3600450"/>
            <a:ext cx="43243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在工程实践中，为了证明“原型设计并没有偏离客户最初签订的需求规格说明”，且没有主观臆断地添加无关功能，需求团队最常采用的管理工具或方法是？</a:t>
            </a:r>
            <a:endParaRPr/>
          </a:p>
        </p:txBody>
      </p:sp>
      <p:sp>
        <p:nvSpPr>
          <p:cNvPr id="519" name="Google Shape;519;p3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4 / 5</a:t>
            </a:r>
            <a:endParaRPr/>
          </a:p>
        </p:txBody>
      </p:sp>
      <p:sp>
        <p:nvSpPr>
          <p:cNvPr id="520" name="Google Shape;520;p38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38350"/>
            <a:ext cx="523875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3835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99085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943350"/>
            <a:ext cx="5238750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00062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2479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2004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379362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2101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9"/>
          <p:cNvSpPr txBox="1"/>
          <p:nvPr/>
        </p:nvSpPr>
        <p:spPr>
          <a:xfrm>
            <a:off x="1028700" y="2752725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536" name="Google Shape;536;p39"/>
          <p:cNvSpPr/>
          <p:nvPr/>
        </p:nvSpPr>
        <p:spPr>
          <a:xfrm>
            <a:off x="1028700" y="3362325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9"/>
          <p:cNvSpPr txBox="1"/>
          <p:nvPr/>
        </p:nvSpPr>
        <p:spPr>
          <a:xfrm>
            <a:off x="1028700" y="3600450"/>
            <a:ext cx="43243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在工程实践中，为了证明“原型设计并没有偏离客户最初签订的需求规格说明”，且没有主观臆断地添加无关功能，需求团队最常采用的管理工具或方法是？</a:t>
            </a:r>
            <a:endParaRPr/>
          </a:p>
        </p:txBody>
      </p:sp>
      <p:sp>
        <p:nvSpPr>
          <p:cNvPr id="538" name="Google Shape;538;p3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4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539" name="Google Shape;539;p39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05942"/>
            <a:ext cx="5381625" cy="384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305942"/>
            <a:ext cx="5381625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 txBox="1"/>
          <p:nvPr/>
        </p:nvSpPr>
        <p:spPr>
          <a:xfrm>
            <a:off x="571500" y="1685032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新手设计原型往往只画一帆风顺的“理想主路径”（Happy Path）。严谨的需求设计必须覆盖以下异常或边缘状态：</a:t>
            </a:r>
            <a:endParaRPr/>
          </a:p>
        </p:txBody>
      </p:sp>
      <p:pic>
        <p:nvPicPr>
          <p:cNvPr id="548" name="Google Shape;548;p4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69646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66775" y="3687067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空白状态 (Empty State)</a:t>
            </a:r>
            <a:endParaRPr/>
          </a:p>
        </p:txBody>
      </p:sp>
      <p:sp>
        <p:nvSpPr>
          <p:cNvPr id="550" name="Google Shape;550;p40"/>
          <p:cNvSpPr txBox="1"/>
          <p:nvPr/>
        </p:nvSpPr>
        <p:spPr>
          <a:xfrm>
            <a:off x="866775" y="4239517"/>
            <a:ext cx="4791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当系统没有数据（如新用户首次进入列表，或搜索无结果）时显示什么？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对策：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需设计专门的引导页，配以文字“暂无数据”，并提供一个明显的“立即新建”导向按钮。</a:t>
            </a:r>
            <a:endParaRPr/>
          </a:p>
        </p:txBody>
      </p:sp>
      <p:pic>
        <p:nvPicPr>
          <p:cNvPr id="551" name="Google Shape;551;p4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69646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40"/>
          <p:cNvSpPr txBox="1"/>
          <p:nvPr/>
        </p:nvSpPr>
        <p:spPr>
          <a:xfrm>
            <a:off x="6534150" y="3687067"/>
            <a:ext cx="5030628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异常状态 (Error State)</a:t>
            </a:r>
            <a:endParaRPr/>
          </a:p>
        </p:txBody>
      </p:sp>
      <p:sp>
        <p:nvSpPr>
          <p:cNvPr id="553" name="Google Shape;553;p40"/>
          <p:cNvSpPr txBox="1"/>
          <p:nvPr/>
        </p:nvSpPr>
        <p:spPr>
          <a:xfrm>
            <a:off x="6534150" y="4239517"/>
            <a:ext cx="47910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网络超时或表单格式校验失败时如何反馈？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对策：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在原型中必须体现出全局错误提示框（Toast），或在发生错误的具体输入框下方使用红色警示文字进行精准定位。</a:t>
            </a:r>
            <a:endParaRPr/>
          </a:p>
        </p:txBody>
      </p:sp>
      <p:pic>
        <p:nvPicPr>
          <p:cNvPr id="554" name="Google Shape;554;p4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9650" y="288696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288696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关键细节防坑：补全被遗忘的交互状态</a:t>
            </a:r>
            <a:endParaRPr/>
          </a:p>
        </p:txBody>
      </p:sp>
      <p:sp>
        <p:nvSpPr>
          <p:cNvPr id="557" name="Google Shape;557;p40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1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1"/>
          <p:cNvSpPr txBox="1"/>
          <p:nvPr/>
        </p:nvSpPr>
        <p:spPr>
          <a:xfrm>
            <a:off x="2275522" y="2202209"/>
            <a:ext cx="764095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06. 工程交付与技术前沿</a:t>
            </a:r>
            <a:endParaRPr/>
          </a:p>
        </p:txBody>
      </p:sp>
      <p:sp>
        <p:nvSpPr>
          <p:cNvPr id="566" name="Google Shape;566;p41"/>
          <p:cNvSpPr txBox="1"/>
          <p:nvPr/>
        </p:nvSpPr>
        <p:spPr>
          <a:xfrm>
            <a:off x="3124200" y="3459509"/>
            <a:ext cx="59436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原型画完之后做什么？探索现代需求工程的最后一公里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19287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7025" y="3028950"/>
            <a:ext cx="464820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42"/>
          <p:cNvSpPr txBox="1"/>
          <p:nvPr/>
        </p:nvSpPr>
        <p:spPr>
          <a:xfrm>
            <a:off x="1028700" y="2243583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原型并非最终代码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前端开发工程师不能直接把一张图片贴到代码里。他们需要精确的尺寸、色号、间距（Margin/Padding）和切图资源。</a:t>
            </a:r>
            <a:endParaRPr/>
          </a:p>
        </p:txBody>
      </p:sp>
      <p:sp>
        <p:nvSpPr>
          <p:cNvPr id="575" name="Google Shape;575;p42"/>
          <p:cNvSpPr txBox="1"/>
          <p:nvPr/>
        </p:nvSpPr>
        <p:spPr>
          <a:xfrm>
            <a:off x="1028700" y="3919537"/>
            <a:ext cx="4781550" cy="144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设计标注 (Redlining)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现代工具（如 Figma, Zeplin, 蓝湖）提供了自动标注功能。开发人员点击原型上的按钮，可以直接复制其对应的 CSS 代码属性。</a:t>
            </a:r>
            <a:endParaRPr/>
          </a:p>
        </p:txBody>
      </p:sp>
      <p:pic>
        <p:nvPicPr>
          <p:cNvPr id="576" name="Google Shape;576;p4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7215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481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4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协作终点：设计交付 (Design Handoff)</a:t>
            </a:r>
            <a:endParaRPr/>
          </a:p>
        </p:txBody>
      </p:sp>
      <p:sp>
        <p:nvSpPr>
          <p:cNvPr id="579" name="Google Shape;579;p42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19400"/>
            <a:ext cx="6984950" cy="3171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2343150"/>
            <a:ext cx="3492400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38225" y="3619500"/>
            <a:ext cx="60515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4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06495" y="3143250"/>
            <a:ext cx="153531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p4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33475" y="3714750"/>
            <a:ext cx="113407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62795" y="3714750"/>
            <a:ext cx="340235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60405" y="3714750"/>
            <a:ext cx="113407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01745" y="3238500"/>
            <a:ext cx="134481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201745" y="3667125"/>
            <a:ext cx="134481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43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9201745" y="5095875"/>
            <a:ext cx="1344810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43"/>
          <p:cNvSpPr txBox="1"/>
          <p:nvPr/>
        </p:nvSpPr>
        <p:spPr>
          <a:xfrm>
            <a:off x="571500" y="18478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当一个基于 Web 的应用需要同时支持 PC 宽屏和手机窄屏时，原型设计必须考虑**断点 (Breakpoints)** 和布局的折叠转换。</a:t>
            </a:r>
            <a:endParaRPr/>
          </a:p>
        </p:txBody>
      </p:sp>
      <p:sp>
        <p:nvSpPr>
          <p:cNvPr id="596" name="Google Shape;596;p43"/>
          <p:cNvSpPr txBox="1"/>
          <p:nvPr/>
        </p:nvSpPr>
        <p:spPr>
          <a:xfrm>
            <a:off x="886937" y="3286125"/>
            <a:ext cx="63540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Desktop (PC端多列布局)</a:t>
            </a:r>
            <a:endParaRPr/>
          </a:p>
        </p:txBody>
      </p:sp>
      <p:sp>
        <p:nvSpPr>
          <p:cNvPr id="597" name="Google Shape;597;p43"/>
          <p:cNvSpPr txBox="1"/>
          <p:nvPr/>
        </p:nvSpPr>
        <p:spPr>
          <a:xfrm>
            <a:off x="8530701" y="2809875"/>
            <a:ext cx="268689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Mobile (移动端单列流式)</a:t>
            </a:r>
            <a:endParaRPr/>
          </a:p>
        </p:txBody>
      </p:sp>
      <p:sp>
        <p:nvSpPr>
          <p:cNvPr id="598" name="Google Shape;598;p4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终端适配：响应式设计思考 (Responsive)</a:t>
            </a:r>
            <a:endParaRPr/>
          </a:p>
        </p:txBody>
      </p:sp>
      <p:sp>
        <p:nvSpPr>
          <p:cNvPr id="599" name="Google Shape;599;p43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4"/>
          <p:cNvSpPr/>
          <p:nvPr/>
        </p:nvSpPr>
        <p:spPr>
          <a:xfrm>
            <a:off x="571500" y="1683097"/>
            <a:ext cx="11049000" cy="447273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6" name="Google Shape;606;p44"/>
          <p:cNvGraphicFramePr/>
          <p:nvPr/>
        </p:nvGraphicFramePr>
        <p:xfrm>
          <a:off x="571500" y="1683097"/>
          <a:ext cx="11049000" cy="4472750"/>
        </p:xfrm>
        <a:graphic>
          <a:graphicData uri="http://schemas.openxmlformats.org/drawingml/2006/table">
            <a:tbl>
              <a:tblPr firstRow="1" bandRow="1">
                <a:noFill/>
                <a:tableStyleId>{E6B701AD-0AF5-4CFC-AD54-4D51CC808986}</a:tableStyleId>
              </a:tblPr>
              <a:tblGrid>
                <a:gridCol w="129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工具名称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核心特性与应用场景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学习曲线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Figma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当前行业绝对主流。基于云端的矢量设计与多人实时协作平台。支持强大的组件库和研发交付（Handoff）。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中等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Axure RP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老牌专业工具。具备极强的动态交互逻辑编辑能力（支持变量与条件判断），适合极其复杂的企业级后台业务重推理。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较高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墨刀 / 摹客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国产轻量级工具。内置丰富的移动端组件，通过简单的拖拽连线能快速生成App跳转交互，适合敏捷表达。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平缓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4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Balsamiq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手绘草图风格。强制低保真，迫使团队在概念探索期仅关注功能结构而非过度关注视觉细节。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极低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7" name="Google Shape;607;p44"/>
          <p:cNvSpPr/>
          <p:nvPr/>
        </p:nvSpPr>
        <p:spPr>
          <a:xfrm>
            <a:off x="571500" y="2668934"/>
            <a:ext cx="1295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4"/>
          <p:cNvSpPr/>
          <p:nvPr/>
        </p:nvSpPr>
        <p:spPr>
          <a:xfrm>
            <a:off x="1866751" y="2668934"/>
            <a:ext cx="8591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4"/>
          <p:cNvSpPr/>
          <p:nvPr/>
        </p:nvSpPr>
        <p:spPr>
          <a:xfrm>
            <a:off x="10458747" y="2668934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4"/>
          <p:cNvSpPr/>
          <p:nvPr/>
        </p:nvSpPr>
        <p:spPr>
          <a:xfrm>
            <a:off x="571500" y="3608040"/>
            <a:ext cx="1295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4"/>
          <p:cNvSpPr/>
          <p:nvPr/>
        </p:nvSpPr>
        <p:spPr>
          <a:xfrm>
            <a:off x="1866751" y="3608040"/>
            <a:ext cx="8591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4"/>
          <p:cNvSpPr/>
          <p:nvPr/>
        </p:nvSpPr>
        <p:spPr>
          <a:xfrm>
            <a:off x="10458747" y="3608040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4"/>
          <p:cNvSpPr/>
          <p:nvPr/>
        </p:nvSpPr>
        <p:spPr>
          <a:xfrm>
            <a:off x="571500" y="4547145"/>
            <a:ext cx="1295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44"/>
          <p:cNvSpPr/>
          <p:nvPr/>
        </p:nvSpPr>
        <p:spPr>
          <a:xfrm>
            <a:off x="1866751" y="4547145"/>
            <a:ext cx="8591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4"/>
          <p:cNvSpPr/>
          <p:nvPr/>
        </p:nvSpPr>
        <p:spPr>
          <a:xfrm>
            <a:off x="10458747" y="4547145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4"/>
          <p:cNvSpPr/>
          <p:nvPr/>
        </p:nvSpPr>
        <p:spPr>
          <a:xfrm>
            <a:off x="571500" y="5486251"/>
            <a:ext cx="1295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4"/>
          <p:cNvSpPr/>
          <p:nvPr/>
        </p:nvSpPr>
        <p:spPr>
          <a:xfrm>
            <a:off x="1866751" y="5486251"/>
            <a:ext cx="859199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4"/>
          <p:cNvSpPr/>
          <p:nvPr/>
        </p:nvSpPr>
        <p:spPr>
          <a:xfrm>
            <a:off x="10458747" y="5486251"/>
            <a:ext cx="116175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主流原型设计工具谱系</a:t>
            </a:r>
            <a:endParaRPr/>
          </a:p>
        </p:txBody>
      </p:sp>
      <p:sp>
        <p:nvSpPr>
          <p:cNvPr id="620" name="Google Shape;620;p44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100387"/>
            <a:ext cx="5238750" cy="1828651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5"/>
          <p:cNvSpPr txBox="1"/>
          <p:nvPr/>
        </p:nvSpPr>
        <p:spPr>
          <a:xfrm>
            <a:off x="1028700" y="1908423"/>
            <a:ext cx="4781550" cy="178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从自然语言到界面 (Text-to-UI)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新一代 AI 工具（如 v0.dev, UIzard, Galileo AI）允许需求分析师直接输入“生成一个带搜索和过滤的电商订单列表”，即可在几秒内获得高保真原型甚至前端代码。</a:t>
            </a:r>
            <a:endParaRPr/>
          </a:p>
        </p:txBody>
      </p:sp>
      <p:sp>
        <p:nvSpPr>
          <p:cNvPr id="628" name="Google Shape;628;p45"/>
          <p:cNvSpPr txBox="1"/>
          <p:nvPr/>
        </p:nvSpPr>
        <p:spPr>
          <a:xfrm>
            <a:off x="1028700" y="3919537"/>
            <a:ext cx="4781550" cy="178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需求工程师的角色转变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画图的“技法”将不再是壁垒。未来的核心竞争力在于**“定义精准的业务模型（UML）、编写严谨的 Prompt、以及基于可用性原则对 AI 生成结果进行审计和修正”**。</a:t>
            </a:r>
            <a:endParaRPr/>
          </a:p>
        </p:txBody>
      </p:sp>
      <p:sp>
        <p:nvSpPr>
          <p:cNvPr id="629" name="Google Shape;629;p45"/>
          <p:cNvSpPr txBox="1"/>
          <p:nvPr/>
        </p:nvSpPr>
        <p:spPr>
          <a:xfrm>
            <a:off x="6667500" y="3328987"/>
            <a:ext cx="47244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81C87"/>
                </a:solidFill>
                <a:latin typeface="Inter"/>
                <a:ea typeface="Inter"/>
                <a:cs typeface="Inter"/>
                <a:sym typeface="Inter"/>
              </a:rPr>
              <a:t>Prompt 驱动的原型生成示例：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581C87"/>
                </a:solidFill>
                <a:latin typeface="Inter Medium"/>
                <a:ea typeface="Inter Medium"/>
                <a:cs typeface="Inter Medium"/>
                <a:sym typeface="Inter Medium"/>
              </a:rPr>
              <a:t>"基于我提供的 UML 类图（包含 User, Order, Payment），生成一个响应式的后台管理仪表盘原型，采用 Tailwind CSS 规范，需要包含骨架屏加载状态和数据为空的提示插画。"</a:t>
            </a:r>
            <a:endParaRPr/>
          </a:p>
        </p:txBody>
      </p:sp>
      <p:pic>
        <p:nvPicPr>
          <p:cNvPr id="630" name="Google Shape;630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0" y="337661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4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3699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4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9481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前沿拓展：AI 辅助界面生成 (Generative UI)</a:t>
            </a:r>
            <a:endParaRPr/>
          </a:p>
        </p:txBody>
      </p:sp>
      <p:sp>
        <p:nvSpPr>
          <p:cNvPr id="634" name="Google Shape;634;p45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523875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9547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84797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4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00475"/>
            <a:ext cx="52387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4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14350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4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105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057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18157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353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6"/>
          <p:cNvSpPr txBox="1"/>
          <p:nvPr/>
        </p:nvSpPr>
        <p:spPr>
          <a:xfrm>
            <a:off x="1028700" y="2752725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650" name="Google Shape;650;p46"/>
          <p:cNvSpPr/>
          <p:nvPr/>
        </p:nvSpPr>
        <p:spPr>
          <a:xfrm>
            <a:off x="1028700" y="3362325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6"/>
          <p:cNvSpPr txBox="1"/>
          <p:nvPr/>
        </p:nvSpPr>
        <p:spPr>
          <a:xfrm>
            <a:off x="1028700" y="3600450"/>
            <a:ext cx="43243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在现代“设计交付 (Design Handoff)”流程中，原型设计完成后，开发工程师通常借助 Figma 或 Zeplin 等工具的核心目的是什么？</a:t>
            </a:r>
            <a:endParaRPr/>
          </a:p>
        </p:txBody>
      </p:sp>
      <p:sp>
        <p:nvSpPr>
          <p:cNvPr id="652" name="Google Shape;652;p4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5 / 5</a:t>
            </a:r>
            <a:endParaRPr/>
          </a:p>
        </p:txBody>
      </p:sp>
      <p:sp>
        <p:nvSpPr>
          <p:cNvPr id="653" name="Google Shape;653;p46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9" name="Google Shape;659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5475"/>
            <a:ext cx="523875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0" name="Google Shape;660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89547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4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847975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4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3800475"/>
            <a:ext cx="5238750" cy="11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81750" y="5143500"/>
            <a:ext cx="523875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29400" y="21050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29400" y="3057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29400" y="4205287"/>
            <a:ext cx="18157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4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29400" y="5353050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47"/>
          <p:cNvSpPr txBox="1"/>
          <p:nvPr/>
        </p:nvSpPr>
        <p:spPr>
          <a:xfrm>
            <a:off x="1028700" y="2752725"/>
            <a:ext cx="454056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60A5F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知识检验</a:t>
            </a:r>
            <a:endParaRPr/>
          </a:p>
        </p:txBody>
      </p:sp>
      <p:sp>
        <p:nvSpPr>
          <p:cNvPr id="669" name="Google Shape;669;p47"/>
          <p:cNvSpPr/>
          <p:nvPr/>
        </p:nvSpPr>
        <p:spPr>
          <a:xfrm>
            <a:off x="1028700" y="3362325"/>
            <a:ext cx="43243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7"/>
          <p:cNvSpPr txBox="1"/>
          <p:nvPr/>
        </p:nvSpPr>
        <p:spPr>
          <a:xfrm>
            <a:off x="1028700" y="3600450"/>
            <a:ext cx="43243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在现代“设计交付 (Design Handoff)”流程中，原型设计完成后，开发工程师通常借助 Figma 或 Zeplin 等工具的核心目的是什么？</a:t>
            </a:r>
            <a:endParaRPr/>
          </a:p>
        </p:txBody>
      </p:sp>
      <p:sp>
        <p:nvSpPr>
          <p:cNvPr id="671" name="Google Shape;671;p4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随堂测验 5 / 5 </a:t>
            </a:r>
            <a:r>
              <a:rPr lang="en-US" sz="3150" b="1" i="0" u="none" strike="noStrike" cap="none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- 答案解析</a:t>
            </a:r>
            <a:endParaRPr/>
          </a:p>
        </p:txBody>
      </p:sp>
      <p:sp>
        <p:nvSpPr>
          <p:cNvPr id="672" name="Google Shape;672;p47"/>
          <p:cNvSpPr/>
          <p:nvPr/>
        </p:nvSpPr>
        <p:spPr>
          <a:xfrm>
            <a:off x="571500" y="1171575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8" name="Google Shape;678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8"/>
          <p:cNvSpPr/>
          <p:nvPr/>
        </p:nvSpPr>
        <p:spPr>
          <a:xfrm>
            <a:off x="5524500" y="1859309"/>
            <a:ext cx="1143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8"/>
          <p:cNvSpPr txBox="1"/>
          <p:nvPr/>
        </p:nvSpPr>
        <p:spPr>
          <a:xfrm>
            <a:off x="2835592" y="2202209"/>
            <a:ext cx="652081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07. 课程总结与 Q&amp;A</a:t>
            </a:r>
            <a:endParaRPr/>
          </a:p>
        </p:txBody>
      </p:sp>
      <p:sp>
        <p:nvSpPr>
          <p:cNvPr id="681" name="Google Shape;681;p48"/>
          <p:cNvSpPr txBox="1"/>
          <p:nvPr/>
        </p:nvSpPr>
        <p:spPr>
          <a:xfrm>
            <a:off x="4114800" y="3459509"/>
            <a:ext cx="39624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B82F6"/>
                </a:solidFill>
                <a:latin typeface="Inter Medium"/>
                <a:ea typeface="Inter Medium"/>
                <a:cs typeface="Inter Medium"/>
                <a:sym typeface="Inter Medium"/>
              </a:rPr>
              <a:t>融会贯通，构建需求工程的知识闭环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4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351" y="603498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49"/>
          <p:cNvSpPr txBox="1"/>
          <p:nvPr/>
        </p:nvSpPr>
        <p:spPr>
          <a:xfrm>
            <a:off x="857250" y="984498"/>
            <a:ext cx="10534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原型并非凭空创造，而是业务逻辑的具象化容器。</a:t>
            </a:r>
            <a:endParaRPr/>
          </a:p>
        </p:txBody>
      </p:sp>
      <p:sp>
        <p:nvSpPr>
          <p:cNvPr id="689" name="Google Shape;689;p49"/>
          <p:cNvSpPr txBox="1"/>
          <p:nvPr/>
        </p:nvSpPr>
        <p:spPr>
          <a:xfrm>
            <a:off x="1028700" y="1803648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原型的定位</a:t>
            </a:r>
            <a:r>
              <a:rPr lang="en-US" sz="1650" b="0" i="0" u="none" strike="noStrike" cap="none" dirty="0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：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5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它是需求规格的可视化语言，用于消除歧义、前置风险测试并指导开发交付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690" name="Google Shape;690;p49"/>
          <p:cNvSpPr txBox="1"/>
          <p:nvPr/>
        </p:nvSpPr>
        <p:spPr>
          <a:xfrm>
            <a:off x="1028700" y="2809279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保真度抉择：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需求探索期坚守“低保真线框图”以聚焦逻辑；交付验收期采用“高保真原型”以规范视觉。</a:t>
            </a:r>
            <a:endParaRPr/>
          </a:p>
        </p:txBody>
      </p:sp>
      <p:sp>
        <p:nvSpPr>
          <p:cNvPr id="691" name="Google Shape;691;p49"/>
          <p:cNvSpPr txBox="1"/>
          <p:nvPr/>
        </p:nvSpPr>
        <p:spPr>
          <a:xfrm>
            <a:off x="1028700" y="3814911"/>
            <a:ext cx="10591800" cy="304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UML 模型驱动映射：</a:t>
            </a:r>
            <a:endParaRPr/>
          </a:p>
        </p:txBody>
      </p:sp>
      <p:sp>
        <p:nvSpPr>
          <p:cNvPr id="692" name="Google Shape;692;p49"/>
          <p:cNvSpPr txBox="1"/>
          <p:nvPr/>
        </p:nvSpPr>
        <p:spPr>
          <a:xfrm>
            <a:off x="1485900" y="4256782"/>
            <a:ext cx="101346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用例图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划定权限边界与核心操作入口。</a:t>
            </a:r>
            <a:endParaRPr/>
          </a:p>
        </p:txBody>
      </p:sp>
      <p:sp>
        <p:nvSpPr>
          <p:cNvPr id="693" name="Google Shape;693;p49"/>
          <p:cNvSpPr txBox="1"/>
          <p:nvPr/>
        </p:nvSpPr>
        <p:spPr>
          <a:xfrm>
            <a:off x="1485900" y="5262413"/>
            <a:ext cx="101346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类图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提供表单字段与数据列表的属性支撑。</a:t>
            </a:r>
            <a:endParaRPr/>
          </a:p>
        </p:txBody>
      </p:sp>
      <p:sp>
        <p:nvSpPr>
          <p:cNvPr id="694" name="Google Shape;694;p49"/>
          <p:cNvSpPr txBox="1"/>
          <p:nvPr/>
        </p:nvSpPr>
        <p:spPr>
          <a:xfrm>
            <a:off x="1485900" y="6268045"/>
            <a:ext cx="10134600" cy="589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状态机图/顺序图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指导界面交互状态（禁用、高亮、骨架屏加载）的动态演变。</a:t>
            </a:r>
            <a:endParaRPr/>
          </a:p>
        </p:txBody>
      </p:sp>
      <p:sp>
        <p:nvSpPr>
          <p:cNvPr id="695" name="Google Shape;695;p4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本讲核心回顾</a:t>
            </a:r>
            <a:r>
              <a:rPr lang="en-US" sz="3150" b="1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(1/2)：</a:t>
            </a:r>
            <a:r>
              <a:rPr lang="en-US" sz="3150" b="1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理论与映射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87;p49" descr="image.png">
            <a:extLst>
              <a:ext uri="{FF2B5EF4-FFF2-40B4-BE49-F238E27FC236}">
                <a16:creationId xmlns:a16="http://schemas.microsoft.com/office/drawing/2014/main" id="{86625A60-DD65-A452-AC07-257C994AA8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0351" y="603498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0"/>
          <p:cNvSpPr txBox="1"/>
          <p:nvPr/>
        </p:nvSpPr>
        <p:spPr>
          <a:xfrm>
            <a:off x="1028700" y="1519832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可用性原则底线：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遵循用户的视觉动线（F/Z型）、亲密性原则；必须提供即时的系统反馈，并建立防呆约束以防止错误发生。</a:t>
            </a:r>
            <a:endParaRPr/>
          </a:p>
        </p:txBody>
      </p:sp>
      <p:sp>
        <p:nvSpPr>
          <p:cNvPr id="703" name="Google Shape;703;p50"/>
          <p:cNvSpPr txBox="1"/>
          <p:nvPr/>
        </p:nvSpPr>
        <p:spPr>
          <a:xfrm>
            <a:off x="1028700" y="2525464"/>
            <a:ext cx="10591800" cy="1554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验证与溯源：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运用</a:t>
            </a: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需求跟踪矩阵 (RTM)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确保每一个UI元素都有业务凭据，防止需求蔓延（镀金）。</a:t>
            </a:r>
            <a:endParaRPr/>
          </a:p>
        </p:txBody>
      </p:sp>
      <p:sp>
        <p:nvSpPr>
          <p:cNvPr id="704" name="Google Shape;704;p50"/>
          <p:cNvSpPr txBox="1"/>
          <p:nvPr/>
        </p:nvSpPr>
        <p:spPr>
          <a:xfrm>
            <a:off x="1028700" y="4308127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组件化与工程交付：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依赖标准组件库提升设计效率与一致性；通过自动化的设计标注平台实现向前端开发的高质量交付。</a:t>
            </a:r>
            <a:endParaRPr/>
          </a:p>
        </p:txBody>
      </p:sp>
      <p:sp>
        <p:nvSpPr>
          <p:cNvPr id="705" name="Google Shape;705;p50"/>
          <p:cNvSpPr txBox="1"/>
          <p:nvPr/>
        </p:nvSpPr>
        <p:spPr>
          <a:xfrm>
            <a:off x="1028700" y="5313759"/>
            <a:ext cx="10591800" cy="777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拥抱 AI 趋势：</a:t>
            </a: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随着生成式 UI 的普及，需求分析师的核心价值将全面转向“业务建模能力”与“可用性评估能力”。</a:t>
            </a:r>
            <a:endParaRPr/>
          </a:p>
        </p:txBody>
      </p:sp>
      <p:sp>
        <p:nvSpPr>
          <p:cNvPr id="706" name="Google Shape;706;p5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本讲核心回顾 (2/2)：规范与工程化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44437-2757-90F6-713B-EB453549F9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740" y="484188"/>
            <a:ext cx="7643190" cy="1258474"/>
          </a:xfrm>
        </p:spPr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AC0AF6-761F-C4FA-BFF6-7698C09694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590261"/>
            <a:ext cx="6400800" cy="4048539"/>
          </a:xfrm>
        </p:spPr>
        <p:txBody>
          <a:bodyPr>
            <a:normAutofit/>
          </a:bodyPr>
          <a:lstStyle/>
          <a:p>
            <a:pPr algn="l"/>
            <a:r>
              <a:rPr lang="en-US" altLang="zh-CN" sz="1600" dirty="0"/>
              <a:t>[1]</a:t>
            </a:r>
            <a:r>
              <a:rPr lang="zh-CN" altLang="en-US" sz="1600" dirty="0"/>
              <a:t>吕云翔</a:t>
            </a:r>
            <a:r>
              <a:rPr lang="en-US" altLang="zh-CN" sz="1600" dirty="0"/>
              <a:t>,</a:t>
            </a:r>
            <a:r>
              <a:rPr lang="zh-CN" altLang="en-US" sz="1600" dirty="0"/>
              <a:t>杨婧玥</a:t>
            </a:r>
            <a:r>
              <a:rPr lang="en-US" altLang="zh-CN" sz="1600" dirty="0"/>
              <a:t>.UI</a:t>
            </a:r>
            <a:r>
              <a:rPr lang="zh-CN" altLang="en-US" sz="1600" dirty="0"/>
              <a:t>交互设计与开发实战</a:t>
            </a:r>
            <a:r>
              <a:rPr lang="en-US" altLang="zh-CN" sz="1600" dirty="0"/>
              <a:t>[M].</a:t>
            </a:r>
            <a:r>
              <a:rPr lang="zh-CN" altLang="en-US" sz="1600" dirty="0"/>
              <a:t>机械工业出版社</a:t>
            </a:r>
            <a:r>
              <a:rPr lang="en-US" altLang="zh-CN" sz="1600" dirty="0"/>
              <a:t>:202003:236.</a:t>
            </a:r>
            <a:endParaRPr lang="en-US" altLang="zh-CN" sz="900" dirty="0"/>
          </a:p>
          <a:p>
            <a:pPr algn="l"/>
            <a:r>
              <a:rPr lang="en-US" altLang="zh-CN" sz="1600" dirty="0"/>
              <a:t>[2] </a:t>
            </a:r>
            <a:r>
              <a:rPr lang="zh-CN" altLang="en-US" sz="1600" dirty="0"/>
              <a:t>李红，陈明。基于 </a:t>
            </a:r>
            <a:r>
              <a:rPr lang="en-US" altLang="zh-CN" sz="1600" dirty="0"/>
              <a:t>UML </a:t>
            </a:r>
            <a:r>
              <a:rPr lang="zh-CN" altLang="en-US" sz="1600" dirty="0"/>
              <a:t>模型的用户界面自动生成方法研究 </a:t>
            </a:r>
            <a:r>
              <a:rPr lang="en-US" altLang="zh-CN" sz="1600" dirty="0"/>
              <a:t>[J]. </a:t>
            </a:r>
            <a:r>
              <a:rPr lang="zh-CN" altLang="en-US" sz="1600" dirty="0"/>
              <a:t>计算机工程与应用，</a:t>
            </a:r>
            <a:r>
              <a:rPr lang="en-US" altLang="zh-CN" sz="1600" dirty="0"/>
              <a:t>2008</a:t>
            </a:r>
            <a:r>
              <a:rPr lang="zh-CN" altLang="en-US" sz="1600" dirty="0"/>
              <a:t>，</a:t>
            </a:r>
            <a:r>
              <a:rPr lang="en-US" altLang="zh-CN" sz="1600" dirty="0"/>
              <a:t>44 (15)</a:t>
            </a:r>
            <a:r>
              <a:rPr lang="zh-CN" altLang="en-US" sz="1600" dirty="0"/>
              <a:t>：</a:t>
            </a:r>
            <a:r>
              <a:rPr lang="en-US" altLang="zh-CN" sz="1600" dirty="0"/>
              <a:t>89-92.</a:t>
            </a:r>
          </a:p>
          <a:p>
            <a:pPr algn="l"/>
            <a:r>
              <a:rPr lang="en-US" altLang="zh-CN" sz="1600" dirty="0"/>
              <a:t>[3] </a:t>
            </a:r>
            <a:r>
              <a:rPr lang="zh-CN" altLang="en-US" sz="1600" dirty="0"/>
              <a:t>王健，张晨曦。面向需求工程的界面原型保真度模型研究 </a:t>
            </a:r>
            <a:r>
              <a:rPr lang="en-US" altLang="zh-CN" sz="1600" dirty="0"/>
              <a:t>[J]. </a:t>
            </a:r>
            <a:r>
              <a:rPr lang="zh-CN" altLang="en-US" sz="1600" dirty="0"/>
              <a:t>计算机科学，</a:t>
            </a:r>
            <a:r>
              <a:rPr lang="en-US" altLang="zh-CN" sz="1600" dirty="0"/>
              <a:t>2012</a:t>
            </a:r>
            <a:r>
              <a:rPr lang="zh-CN" altLang="en-US" sz="1600" dirty="0"/>
              <a:t>，</a:t>
            </a:r>
            <a:r>
              <a:rPr lang="en-US" altLang="zh-CN" sz="1600" dirty="0"/>
              <a:t>39 (S2)</a:t>
            </a:r>
            <a:r>
              <a:rPr lang="zh-CN" altLang="en-US" sz="1600" dirty="0"/>
              <a:t>：</a:t>
            </a:r>
            <a:r>
              <a:rPr lang="en-US" altLang="zh-CN" sz="1600" dirty="0"/>
              <a:t>345-347.</a:t>
            </a:r>
          </a:p>
          <a:p>
            <a:pPr algn="l"/>
            <a:r>
              <a:rPr lang="en-US" altLang="zh-CN" sz="1600" dirty="0"/>
              <a:t>[4] </a:t>
            </a:r>
            <a:r>
              <a:rPr lang="zh-CN" altLang="en-US" sz="1600" dirty="0"/>
              <a:t>刘敏，刘嘉欣。需求跟踪矩阵在软件原型验证中的应用 </a:t>
            </a:r>
            <a:r>
              <a:rPr lang="en-US" altLang="zh-CN" sz="1600" dirty="0"/>
              <a:t>[J]. </a:t>
            </a:r>
            <a:r>
              <a:rPr lang="zh-CN" altLang="en-US" sz="1600" dirty="0"/>
              <a:t>计算机工程与设计，</a:t>
            </a:r>
            <a:r>
              <a:rPr lang="en-US" altLang="zh-CN" sz="1600" dirty="0"/>
              <a:t>2015</a:t>
            </a:r>
            <a:r>
              <a:rPr lang="zh-CN" altLang="en-US" sz="1600" dirty="0"/>
              <a:t>，</a:t>
            </a:r>
            <a:r>
              <a:rPr lang="en-US" altLang="zh-CN" sz="1600" dirty="0"/>
              <a:t>36 (7)</a:t>
            </a:r>
            <a:r>
              <a:rPr lang="zh-CN" altLang="en-US" sz="1600" dirty="0"/>
              <a:t>：</a:t>
            </a:r>
            <a:r>
              <a:rPr lang="en-US" altLang="zh-CN" sz="1600" dirty="0"/>
              <a:t>1866-1871.</a:t>
            </a:r>
          </a:p>
          <a:p>
            <a:pPr algn="l"/>
            <a:r>
              <a:rPr lang="en-US" altLang="zh-CN" sz="1600" dirty="0"/>
              <a:t>[5] </a:t>
            </a:r>
            <a:r>
              <a:rPr lang="zh-CN" altLang="en-US" sz="1600" dirty="0"/>
              <a:t>陈明，李娟</a:t>
            </a:r>
            <a:r>
              <a:rPr lang="en-US" altLang="zh-CN" sz="1600" dirty="0"/>
              <a:t>. UML </a:t>
            </a:r>
            <a:r>
              <a:rPr lang="zh-CN" altLang="en-US" sz="1600" dirty="0"/>
              <a:t>状态机图驱动的界面交互状态建模方法 </a:t>
            </a:r>
            <a:r>
              <a:rPr lang="en-US" altLang="zh-CN" sz="1600" dirty="0"/>
              <a:t>[J]. </a:t>
            </a:r>
            <a:r>
              <a:rPr lang="zh-CN" altLang="en-US" sz="1600" dirty="0"/>
              <a:t>小型微型计算机系统，</a:t>
            </a:r>
            <a:r>
              <a:rPr lang="en-US" altLang="zh-CN" sz="1600" dirty="0"/>
              <a:t>2017</a:t>
            </a:r>
            <a:r>
              <a:rPr lang="zh-CN" altLang="en-US" sz="1600" dirty="0"/>
              <a:t>，</a:t>
            </a:r>
            <a:r>
              <a:rPr lang="en-US" altLang="zh-CN" sz="1600" dirty="0"/>
              <a:t>38 (3)</a:t>
            </a:r>
            <a:r>
              <a:rPr lang="zh-CN" altLang="en-US" sz="1600" dirty="0"/>
              <a:t>：</a:t>
            </a:r>
            <a:r>
              <a:rPr lang="en-US" altLang="zh-CN" sz="1600" dirty="0"/>
              <a:t>481-485.</a:t>
            </a:r>
          </a:p>
        </p:txBody>
      </p:sp>
    </p:spTree>
    <p:extLst>
      <p:ext uri="{BB962C8B-B14F-4D97-AF65-F5344CB8AC3E}">
        <p14:creationId xmlns:p14="http://schemas.microsoft.com/office/powerpoint/2010/main" val="2581938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7896B83-AC34-72BA-F06C-5FEB4DF05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7474"/>
              </p:ext>
            </p:extLst>
          </p:nvPr>
        </p:nvGraphicFramePr>
        <p:xfrm>
          <a:off x="2484783" y="2316480"/>
          <a:ext cx="8030818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705">
                  <a:extLst>
                    <a:ext uri="{9D8B030D-6E8A-4147-A177-3AD203B41FA5}">
                      <a16:colId xmlns:a16="http://schemas.microsoft.com/office/drawing/2014/main" val="2084206234"/>
                    </a:ext>
                  </a:extLst>
                </a:gridCol>
                <a:gridCol w="2007705">
                  <a:extLst>
                    <a:ext uri="{9D8B030D-6E8A-4147-A177-3AD203B41FA5}">
                      <a16:colId xmlns:a16="http://schemas.microsoft.com/office/drawing/2014/main" val="2870051738"/>
                    </a:ext>
                  </a:extLst>
                </a:gridCol>
                <a:gridCol w="4015408">
                  <a:extLst>
                    <a:ext uri="{9D8B030D-6E8A-4147-A177-3AD203B41FA5}">
                      <a16:colId xmlns:a16="http://schemas.microsoft.com/office/drawing/2014/main" val="30047149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姓名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分数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37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93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7732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林永翔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8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罗树敏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379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李烨斌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2188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李子骏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0128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3430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2" name="Google Shape;712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51"/>
          <p:cNvSpPr txBox="1"/>
          <p:nvPr/>
        </p:nvSpPr>
        <p:spPr>
          <a:xfrm>
            <a:off x="4780835" y="2377380"/>
            <a:ext cx="26303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Q &amp; A</a:t>
            </a:r>
            <a:endParaRPr/>
          </a:p>
        </p:txBody>
      </p:sp>
      <p:sp>
        <p:nvSpPr>
          <p:cNvPr id="714" name="Google Shape;714;p51"/>
          <p:cNvSpPr txBox="1"/>
          <p:nvPr/>
        </p:nvSpPr>
        <p:spPr>
          <a:xfrm>
            <a:off x="5029200" y="3520380"/>
            <a:ext cx="21336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感谢大家的聆听！</a:t>
            </a:r>
            <a:endParaRPr/>
          </a:p>
        </p:txBody>
      </p:sp>
      <p:sp>
        <p:nvSpPr>
          <p:cNvPr id="715" name="Google Shape;715;p51"/>
          <p:cNvSpPr txBox="1"/>
          <p:nvPr/>
        </p:nvSpPr>
        <p:spPr>
          <a:xfrm>
            <a:off x="3314700" y="417567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欢迎就基于UML的原型映射、设计规范或相关工具技术进行探讨。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3872</Words>
  <Application>Microsoft Office PowerPoint</Application>
  <PresentationFormat>宽屏</PresentationFormat>
  <Paragraphs>409</Paragraphs>
  <Slides>40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8" baseType="lpstr">
      <vt:lpstr>Inter Medium</vt:lpstr>
      <vt:lpstr>Poppins</vt:lpstr>
      <vt:lpstr>Calibri</vt:lpstr>
      <vt:lpstr>Inter</vt:lpstr>
      <vt:lpstr>Arial</vt:lpstr>
      <vt:lpstr>Inter SemiBold</vt:lpstr>
      <vt:lpstr>Poppins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参考文献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永翔 林</cp:lastModifiedBy>
  <cp:revision>8</cp:revision>
  <dcterms:modified xsi:type="dcterms:W3CDTF">2026-04-14T04:17:28Z</dcterms:modified>
</cp:coreProperties>
</file>