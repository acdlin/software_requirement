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2" autoAdjust="0"/>
    <p:restoredTop sz="71913" autoAdjust="0"/>
  </p:normalViewPr>
  <p:slideViewPr>
    <p:cSldViewPr snapToGrid="0" snapToObjects="1">
      <p:cViewPr varScale="1">
        <p:scale>
          <a:sx n="69" d="100"/>
          <a:sy n="69" d="100"/>
        </p:scale>
        <p:origin x="16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UML/446747?fromModule=lemma_inlink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大家好，今天我们翻转课堂的主题是</a:t>
            </a:r>
            <a:r>
              <a:rPr lang="en-US" altLang="zh-CN" b="1"/>
              <a:t>UML</a:t>
            </a:r>
            <a:r>
              <a:rPr lang="zh-CN" altLang="en-US" b="1"/>
              <a:t>与软件需求分析</a:t>
            </a:r>
            <a:r>
              <a:rPr lang="zh-CN" altLang="en-US"/>
              <a:t> 。在正式开始之前，我们先理清几个核心概念：实体、属性以及操作</a:t>
            </a:r>
            <a:r>
              <a:rPr lang="en-US" altLang="zh-CN"/>
              <a:t>/</a:t>
            </a:r>
            <a:r>
              <a:rPr lang="zh-CN" altLang="en-US"/>
              <a:t>属性 。其实无论是校园服务平台，还是我们平时课设可能去做的类似 </a:t>
            </a:r>
            <a:r>
              <a:rPr lang="en-US" altLang="zh-CN"/>
              <a:t>AI</a:t>
            </a:r>
            <a:r>
              <a:rPr lang="zh-CN" altLang="en-US"/>
              <a:t>课程辅助系统 这样的项目，都会涉及到系统边界的划分、需求的澄清、流程建模、领域建模以及团队间的协同沟通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我们先从一句日常开发中最常听到的需求开始 ：“请把请假流程做得简单一些，并保证及时通知相关老师。” 这就是一个典型的原始口头需求 。为什么自然语言容易让团队各说各话呢 ？因为自然语言充满歧义 。“简单”到底是步骤变少、审批变快，还是 </a:t>
            </a:r>
            <a:r>
              <a:rPr lang="en-US" altLang="zh-CN"/>
              <a:t>UI </a:t>
            </a:r>
            <a:r>
              <a:rPr lang="zh-CN" altLang="en-US"/>
              <a:t>的按钮更少 ？同时它极易造成遗漏 。比如，通知哪些老师、在哪个节点通知、失败后谁兜底？一句话里通常是说不全的 。这就导致需求很难评审 ，因为没有清晰的边界和流程，老师、开发、测试很难对着同一个对象讨论 。建模后，讨论才会变具体 。我们需要先界定系统边界，再讨论细节；先对齐主流程，再补异常分支 。</a:t>
            </a:r>
            <a:r>
              <a:rPr lang="en-US" altLang="zh-CN"/>
              <a:t>UML </a:t>
            </a:r>
            <a:r>
              <a:rPr lang="zh-CN" altLang="en-US"/>
              <a:t>的价值绝不仅仅是画出来好看，而是把模糊的需求拆解成：参与者、流程、对象、状态和协作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那么，为什么需求分析需要 </a:t>
            </a:r>
            <a:r>
              <a:rPr lang="en-US" altLang="zh-CN"/>
              <a:t>UML </a:t>
            </a:r>
            <a:r>
              <a:rPr lang="zh-CN" altLang="en-US"/>
              <a:t>？ 首要原因是提升需求质量 。它能帮我们统一理解，把“谁在用、想完成什么、边界在哪”讲清楚 。 其次是发现问题 。通过建模，主流程、异常流以及状态切换中的遗漏会更早暴露出来 。 第三，它能支撑设计 。需求模型可以顺着走到后续的组件划分与接口协作 。 最后是辅助测试 。我们梳理出的用例、流程与状态都能自然地转化为后续的验收场景 。我们要记住，</a:t>
            </a:r>
            <a:r>
              <a:rPr lang="en-US" altLang="zh-CN"/>
              <a:t>UML </a:t>
            </a:r>
            <a:r>
              <a:rPr lang="zh-CN" altLang="en-US"/>
              <a:t>不是为了替代沟通，而是为了让沟通有“共同对象”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接下来的时间，我们的汇报路线分为五个部分 ： 第一，</a:t>
            </a:r>
            <a:r>
              <a:rPr lang="zh-CN" altLang="en-US" b="1"/>
              <a:t>为什么要建模</a:t>
            </a:r>
            <a:r>
              <a:rPr lang="zh-CN" altLang="en-US"/>
              <a:t>，先探讨 </a:t>
            </a:r>
            <a:r>
              <a:rPr lang="en-US" altLang="zh-CN"/>
              <a:t>UML </a:t>
            </a:r>
            <a:r>
              <a:rPr lang="zh-CN" altLang="en-US"/>
              <a:t>为什么适合需求分析 。 第二，</a:t>
            </a:r>
            <a:r>
              <a:rPr lang="zh-CN" altLang="en-US" b="1"/>
              <a:t>用例视角</a:t>
            </a:r>
            <a:r>
              <a:rPr lang="zh-CN" altLang="en-US"/>
              <a:t>，弄清楚谁在使用系统，系统要完成什么目标 。 第三，</a:t>
            </a:r>
            <a:r>
              <a:rPr lang="zh-CN" altLang="en-US" b="1"/>
              <a:t>流程与交互</a:t>
            </a:r>
            <a:r>
              <a:rPr lang="zh-CN" altLang="en-US"/>
              <a:t>，探讨活动图和时序图分别回答什么问题 。 第四，</a:t>
            </a:r>
            <a:r>
              <a:rPr lang="zh-CN" altLang="en-US" b="1"/>
              <a:t>领域与状态</a:t>
            </a:r>
            <a:r>
              <a:rPr lang="zh-CN" altLang="en-US"/>
              <a:t>，看类图、状态图如何帮助把概念讲清楚 。 第五，</a:t>
            </a:r>
            <a:r>
              <a:rPr lang="zh-CN" altLang="en-US" b="1"/>
              <a:t>落地与反思</a:t>
            </a:r>
            <a:r>
              <a:rPr lang="zh-CN" altLang="en-US"/>
              <a:t>，讨论追踪、协作、误区以及敏捷开发中的轻量化使用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那么，</a:t>
            </a:r>
            <a:r>
              <a:rPr lang="en-US" altLang="zh-CN"/>
              <a:t>UML </a:t>
            </a:r>
            <a:r>
              <a:rPr lang="zh-CN" altLang="en-US"/>
              <a:t>到底是什么 ？它的全称是 </a:t>
            </a:r>
            <a:r>
              <a:rPr lang="en-US" altLang="zh-CN"/>
              <a:t>Unified Modeling Language</a:t>
            </a:r>
            <a:r>
              <a:rPr lang="zh-CN" altLang="en-US"/>
              <a:t>，也就是统一建模语言 。它是一种标准化建模语言，但绝不是万能药 。它用于可视化、说明和记录系统，既能表达结构，也能表达行为 。它的重点是“帮助沟通”，而不是“追求画满图” 。 它能帮你</a:t>
            </a:r>
            <a:r>
              <a:rPr lang="zh-CN" altLang="en-US" b="1"/>
              <a:t>看边界</a:t>
            </a:r>
            <a:r>
              <a:rPr lang="zh-CN" altLang="en-US"/>
              <a:t>（谁是参与者，哪些事情属于系统职责 ）、</a:t>
            </a:r>
            <a:r>
              <a:rPr lang="zh-CN" altLang="en-US" b="1"/>
              <a:t>看流程</a:t>
            </a:r>
            <a:r>
              <a:rPr lang="zh-CN" altLang="en-US"/>
              <a:t>（一件事怎么发生，分支在哪里，谁负责 ）、</a:t>
            </a:r>
            <a:r>
              <a:rPr lang="zh-CN" altLang="en-US" b="1"/>
              <a:t>看对象</a:t>
            </a:r>
            <a:r>
              <a:rPr lang="zh-CN" altLang="en-US"/>
              <a:t>（系统里有哪些核心概念，它们如何关联 ）。 同样重要的是，我们要知道它</a:t>
            </a:r>
            <a:r>
              <a:rPr lang="zh-CN" altLang="en-US" b="1"/>
              <a:t>不是</a:t>
            </a:r>
            <a:r>
              <a:rPr lang="zh-CN" altLang="en-US"/>
              <a:t>什么 。它不是编程语言，描述系统不等于直接的代码实现 ；不是必须全画，选对模型比画得多更重要 ；它也不是替代思考的工具，形式正确，不代表需求真的清楚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在整个软件生命周期中，从业务目标、需求获取、需求分析，一直到架构设计、开发测试、运行迭代 ，</a:t>
            </a:r>
            <a:r>
              <a:rPr lang="en-US" altLang="zh-CN"/>
              <a:t>UML </a:t>
            </a:r>
            <a:r>
              <a:rPr lang="zh-CN" altLang="en-US"/>
              <a:t>最常出现的位置是需求分析和设计阶段 。 在需求分析阶段，我们主要关注用例图（确定边界、参与者、目标）、活动图（梳理主流程、异常流、并发）、类图（确立领域概念与关系）以及状态图（追踪关键对象的生命周期） 。 到了设计阶段，它会继续延伸出时序图（设计对象协作与消息顺序）、组件图（划分系统模块与依赖）以及部署图（规划运行环境与节点） 。所以，需求阶段的 </a:t>
            </a:r>
            <a:r>
              <a:rPr lang="en-US" altLang="zh-CN"/>
              <a:t>UML </a:t>
            </a:r>
            <a:r>
              <a:rPr lang="zh-CN" altLang="en-US"/>
              <a:t>并非孤立的产物，而是后续设计与测试的起点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我们将常见的模型按关注点分成三个视角 ： 结构视角包含了类图、对象图、组件图和部署图 。 行为视角包含了活动图、状态图和用例图 。 交互视角则包含了时序图、通信图和交互概览图 。今天我们会重点挑出需求阶段最常用的几种来拆解。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所有的分析，都应该从参与者开始 。我们需要先用用例图把系统边界和用户目标讲清楚 。贯穿整个汇报的一句话是：把图当作讨论工具，而不是作业模板 。这里涉及到目标、流程和概念三个维度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（英语：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case diagram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）是用户与系统交互的最简表示形式，展现了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和与他相关的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之间的关系。</a:t>
            </a:r>
            <a:br>
              <a:rPr lang="en-US" altLang="zh-CN" dirty="0"/>
            </a:br>
            <a:r>
              <a:rPr lang="zh-CN" altLang="en-US" dirty="0"/>
              <a:t>用例图看什么？它关心的是用户目标，而不是按钮流程 。 在需求阶段，用例图主要回答三个问题：谁与系统发生交互？用户想完成什么业务目标？哪些事情属于系统边界之内？ 大家常常陷入一个误区：把“点击按钮”或“切换页面”直接当成用例 。用例更像是“提交请假申请”、“查询审批结果”这样的业务目标，它不强调界面细节 。 用例命名有一个基本公式：动词 </a:t>
            </a:r>
            <a:r>
              <a:rPr lang="en-US" altLang="zh-CN" dirty="0"/>
              <a:t>+ </a:t>
            </a:r>
            <a:r>
              <a:rPr lang="zh-CN" altLang="en-US" dirty="0"/>
              <a:t>宾语（业务对象） 。比如“缴纳电费”、“导出销售报表”、“重置登录密码”是好的例子 ；而“点击缴费”、“进入报表页”、“输入新密码”则是坏的例子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这里展示了一个医院挂号预约管理系统的用例图 。大家可以看到未注册用户、注册用户、系统管理员等不同的参与者，各自指向了诸如“实名注册”、“预约挂号”、“审核注册信息”等具体的业务目标，边界非常清晰。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好，现在我们来一个小互动。答案是 </a:t>
            </a:r>
            <a:r>
              <a:rPr lang="en-US" altLang="zh-CN"/>
              <a:t>B</a:t>
            </a:r>
            <a:r>
              <a:rPr lang="zh-CN" altLang="en-US"/>
              <a:t>，读者。因为参与者必须是与系统发生交互的人或其他外部系统，而规则、次数、金额属于属性或业务逻辑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处理完目标，接下来我们看流程与交互 。同一件事，我们既可以从全局流程看，也可以从具体对象的协作顺序看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动态图（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 Diagram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），又称活动图，是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中用于描述业务流程或工作流的动态行为图，通过活动状态、转移、决策节点及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泳道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等元素可视化任务执行顺序与职责划分。作为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的特殊形式，其状态转移由活动完成触发，支持并行线程建模，常嵌套子图简化复杂流程，广泛应用于电信销售等定制化解决方案场景。</a:t>
            </a:r>
            <a:br>
              <a:rPr lang="en-US" altLang="zh-CN" dirty="0"/>
            </a:br>
            <a:r>
              <a:rPr lang="zh-CN" altLang="en-US" dirty="0"/>
              <a:t>当你关心流程、分支、并发和责任分工时，活动图是最好的选择 。 什么时候优先画活动图？当主流程需要讲清楚（比如请假、报修派单 ），存在分支例外（不同条件导致不同审批 ），或者存在并发及多角色时 。 但它不擅长回答对象间的消息细节 ，如果你想看“谁调用谁”，那应该用时序图 ；如果想看领域概念结构，那应该用类图 ；至于界面按钮级的微操作，通常不值得专门画成活动图主流程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这里展示了学生请假</a:t>
            </a:r>
            <a:r>
              <a:rPr lang="en-US" altLang="zh-CN"/>
              <a:t>/</a:t>
            </a:r>
            <a:r>
              <a:rPr lang="zh-CN" altLang="en-US"/>
              <a:t>报修审批系统的活动图 。带泳道的活动图特别适合表达角色分工 。你可以清楚看到学生、系统、教师三方在校验材料、计算业务指标、审批流转中的具体职责划分。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时序图（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 Diagram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），又名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序列图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、循序图，是一种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UML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交互图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。它通过描述对象之间发送消息的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时间顺序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显示多个对象之间的动态协作。它可以表示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行为顺序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，当执行一个用例行为时，其中的每条消息对应一个类操作或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中引起转换的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触发事件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-US" altLang="zh-CN" dirty="0"/>
            </a:br>
            <a:r>
              <a:rPr lang="zh-CN" altLang="en-US" dirty="0"/>
              <a:t>相对的，当你更关心对象协作与消息顺序时，时序图登场 。 它最常回答：谁先发起请求？哪些对象参与协作？调用顺序和返回结果是什么？异常或分支发生在什么位置？ 它包含了生命线、消息和激活条等核心元素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通过这张图，我们把“谁调谁”讲清楚，接口的讨论就容易很多 。例如从学生端、（网络请求）</a:t>
            </a:r>
            <a:r>
              <a:rPr lang="en-US" altLang="zh-CN" dirty="0"/>
              <a:t>API</a:t>
            </a:r>
            <a:r>
              <a:rPr lang="zh-CN" altLang="en-US" dirty="0"/>
              <a:t>网关、工单服务到通知服务 。从需求角度看，这样的协作梳理能顺手暴露 </a:t>
            </a:r>
            <a:r>
              <a:rPr lang="en-US" altLang="zh-CN" dirty="0"/>
              <a:t>3 </a:t>
            </a:r>
            <a:r>
              <a:rPr lang="zh-CN" altLang="en-US" dirty="0"/>
              <a:t>个问题：是否允许重复报修？通知失败后要不要重试？成功页面展示的是“受理中”还是“已创建”？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正确答案是 </a:t>
            </a:r>
            <a:r>
              <a:rPr lang="en-US" altLang="zh-CN" dirty="0"/>
              <a:t>B</a:t>
            </a:r>
            <a:r>
              <a:rPr lang="zh-CN" altLang="en-US" dirty="0"/>
              <a:t>，活动图。因为它最擅长处理流程中的分支和循环。</a:t>
            </a:r>
            <a:br>
              <a:rPr lang="en-US" altLang="zh-CN" dirty="0"/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用例图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：用于展示系统功能与参与者的关系，不描述具体流程和循环逻辑。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活动图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：专门用于描述业务流程、工作流或算法的执行步骤，支持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分支判断（如审批通过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驳回）和循环（如驳回后补充材料再提交）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，非常适合表达这类审批流程。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部署图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：用于展示系统硬件节点和软件组件的部署关系，和业务流程无关。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组件图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：用于展示系统内部组件的依赖与接口关系，不描述流程逻辑。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总结一下这两种模型 。同一个场景对应不同问题 。 你想说明全局路径、判断分支和泳道责任，选活动图 。 你想说明对象消息、调用链和先后顺序，选时序图 。 快速判断法：你更想回答“这件事怎么走？”还是“谁和谁怎么配合？” 。前者活动图，后者时序图 。最常见的错误不是画错，而是答非所问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第三部分，我们需要把系统里的核心概念和关键对象的生命期表达出来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需求阶段的类图更接近于“领域模型” 。我们主要关心类名、属性以及操作 。同时要梳理关联、依赖、聚合</a:t>
            </a:r>
            <a:r>
              <a:rPr lang="en-US" altLang="zh-CN"/>
              <a:t>/</a:t>
            </a:r>
            <a:r>
              <a:rPr lang="zh-CN" altLang="en-US"/>
              <a:t>组合、以及泛化等关系 。 这个时候要警惕两个误区：第一，不要把类图画成数据库表，需求阶段先关注业务概念，别一上来就掉进字段和主键细节；第二，不要塞入太多诸如 </a:t>
            </a:r>
            <a:r>
              <a:rPr lang="en-US" altLang="zh-CN"/>
              <a:t>Service</a:t>
            </a:r>
            <a:r>
              <a:rPr lang="zh-CN" altLang="en-US"/>
              <a:t>、</a:t>
            </a:r>
            <a:r>
              <a:rPr lang="en-US" altLang="zh-CN"/>
              <a:t>Controller </a:t>
            </a:r>
            <a:r>
              <a:rPr lang="zh-CN" altLang="en-US"/>
              <a:t>这类技术角色，这属于后面的设计阶段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我们尽量用一个全局视角把核心概念串起来 。围绕“用户”和“服务申请”，延伸出学生、报修申请、请假申请、审批记录、通知、附件等核心概念 。明确了这些，开发同学就不会对业务名词产生混淆。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状态图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Statechart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Diagram)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是描述一个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实体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基于事件反应的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动态行为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，显示了该实体如何根据当前所处的状态对不同的事件做出反应。通常我们创建一个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状态图是为了以下的研究目的：研究类、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角色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子系统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、或组件的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复杂行为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当对象的行为强烈依赖其当前状态时，状态图就显得极具价值 。 哪些对象值得优先画？状态多的（如工单、订单、合同），事件驱动的（由审批、完成等事件触发），以及规则依赖状态的（不同状态下权限不同） 。状态图回答的绝不是页面顺序，而是对象在什么条件下切换到什么状态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例如工单从已创建、待受理、处理中，到最后已完成或已取消 。状态图往往能帮助产品经理、开发和测试同时对齐所有业务规则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毫无疑问是 </a:t>
            </a:r>
            <a:r>
              <a:rPr lang="en-US" altLang="zh-CN" dirty="0"/>
              <a:t>B</a:t>
            </a:r>
            <a:r>
              <a:rPr lang="zh-CN" altLang="en-US" dirty="0"/>
              <a:t>，工单</a:t>
            </a:r>
            <a:r>
              <a:rPr lang="en-US" altLang="zh-CN" dirty="0"/>
              <a:t>/</a:t>
            </a:r>
            <a:r>
              <a:rPr lang="zh-CN" altLang="en-US" dirty="0"/>
              <a:t>订单，因为它们具备复杂且流转的生命周期。</a:t>
            </a:r>
            <a:br>
              <a:rPr lang="en-US" altLang="zh-CN" dirty="0"/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状态图的核心作用是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描述一个对象在其生命周期中经历的状态变化、触发事件和转换规则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，适合状态流转复杂、业务逻辑关键的对象。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：静态展示元素，几乎没有状态变化，无需状态图。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工单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订单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：典型的多状态流转对象，生命周期包含「待处理 → 处理中 → 已完成 → 已关闭」或「待支付 → 已支付 → 已发货 → 已完成」等多个状态，状态之间的转换规则复杂，是最需要用状态图梳理的对象。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页面背景色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：静态样式属性，状态极少且简单，无需状态图。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菜单边距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：静态布局参数，无生命周期状态变化，无需状态图。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需求模型绝对不是终点，它会继续影响后续的设计、测试和协作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随着需求落地，我们会自然过渡到组件视角（系统由哪些模块组成，如小程序、</a:t>
            </a:r>
            <a:r>
              <a:rPr lang="en-US" altLang="zh-CN" dirty="0"/>
              <a:t>API</a:t>
            </a:r>
            <a:r>
              <a:rPr lang="zh-CN" altLang="en-US" dirty="0"/>
              <a:t>网关、工作流服务 ）和部署视角（这些模块运行在哪里，如手机、应用服务器、数据库 ）。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组件图是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统一建模语言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）中的一种结构图，属于物理，主要用于展示软件系统的物理结构和组件间的组织关系。其通过组件、接口和连接器描述系统的模块化架构，反映代码实现层面的物理结构。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部署图（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 diagram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）又称配置图，是一种用于显示系统中软件和硬件物理架构的图示工具。其外文名为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 diagram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，主要用途为展示运行时系统的物理结构及软硬件组件配置关系。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部署图通过结点（计算设备）和组件（软件中间产物）描述硬件环境与软件部署关系。结点间通过通信关联（如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JDBC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services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议）连接，组件间则以依赖关系表示关键性交互。其建模目的包括探究系统投产问题、分析外部系统依赖、设计嵌入系统结构及描述技术基础架构。部署图在企业级图中聚焦结点与通信关联，并在特定项目中标注关键软件组件，遵循可视化版型应用准则</a:t>
            </a:r>
            <a:r>
              <a:rPr lang="zh-CN" alt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zh-CN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从业务目标到测试场景，模型之间必须能对得上号 。 例如：业务目标是“学生请假要减少等待时间”，对应的需求条目是“支持分级审批与自动通知”；用例是“提交请假申请”，进一步拆解为“审批流程活动图”；提取出的领域概念是“申请、记录、通知”；交由“工作流服务”组件处理；最终验收的场景是“审批通过后</a:t>
            </a:r>
            <a:r>
              <a:rPr lang="en-US" altLang="zh-CN" dirty="0"/>
              <a:t>1</a:t>
            </a:r>
            <a:r>
              <a:rPr lang="zh-CN" altLang="en-US" dirty="0"/>
              <a:t>分钟内收到通知” 。这就是完整的追踪链。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这是一条从 “业务” 到 “技术” 再到 “验证” 的完整传导链：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业务目标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定义：最顶层的业务价值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问题，是所有工作的出发点。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示例：学生请假要减少等待时间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作用：回答 “我们为什么要做这件事”。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需求条目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定义：将业务目标拆解为具体、可落地的功能需求点。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示例：支持分级审批与自动通知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作用：回答 “我们要做什么功能来达成目标”。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定义：描述用户与系统的交互场景，明确 “谁在什么场景下做什么操作”。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示例：提交请假申请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作用：将需求转化为用户可感知的行为流程。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活动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时序图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定义：用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图可视化流程逻辑，活动图侧重业务流程流转，时序图侧重对象间的消息交互。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示例：审批流程活动图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提交通知时序图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作用：清晰表达复杂的分支、循环和时序逻辑，避免歧义。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领域模型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定义：抽象出业务核心实体及其属性、关系，是业务概念的结构化表达。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示例：请假申请、审批记录、通知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作用：统一团队对业务核心概念的认知，为技术设计打基础。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组件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定义：将领域模型映射为技术实现的模块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服务，明确系统的技术职责划分。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示例：工作流服务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作用：回答 “技术上由哪些模块来承载这些业务逻辑”。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验收场景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定义：将需求转化为可测试、可验证的验收标准，是判断功能是否完成的依据。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示例：审批通过后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分钟内收到通知</a:t>
            </a:r>
          </a:p>
          <a:p>
            <a:pPr lvl="1"/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作用：确保最终交付的产品能满足最初的业务目标。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这道题的答案是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(Class)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解析：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部署图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(Deployment Diagram)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：主要用于描述系统的物理部署情况，展示软件组件如何部署到硬件节点上。它的核心元素包括：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(Node)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：代表物理资源，如服务器、计算机、移动设备等。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设备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(Device)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：是节点的一种具体类型，通常指物理硬件设备。</a:t>
            </a: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组件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(Component)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：代表可执行的软件模块，可以部署在节点上。</a:t>
            </a: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(Class)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：是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(Class Diagram)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的核心元素，用于描述系统的静态结构、属性和方法，以及类之间的关系（如继承、关联等）。它并不直接属于部署图的范畴。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很多时候项目出问题不是技术有多难，比如去纠结怎么爬取外部数据，而是模型把讨论带偏了 。我们要警惕坏模型的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个信号 ：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把界面动作当用例（点击按钮不是业务目标 ）。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一张图想解释一切（各种元素大杂烩 ）。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箭头很多但语义不清（不知道到底是依赖还是关联 ）。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命名模糊（比如“处理信息”这种词不具备评审价值 ）。</a:t>
            </a:r>
          </a:p>
          <a:p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只有图没有文字（规则和例外往往藏在文字里 ）。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很多人觉得敏捷开发不需要 </a:t>
            </a:r>
            <a:r>
              <a:rPr lang="en-US" altLang="zh-CN"/>
              <a:t>UML</a:t>
            </a:r>
            <a:r>
              <a:rPr lang="zh-CN" altLang="en-US"/>
              <a:t>，其实关键在于多轻多重、何时用 。 试图一次性画全的重文档式做法，很难跟上迭代 。 轻量级的做法是，围绕当前迭代只保留最需要的几张图，用来澄清风险和支撑评审 。 它可以和用户故事（回答为什么做 ）、流程图、原型等配合使用 。敏捷里的实用原则是：只在“口头说不清、评审风险大、后续实现容易分歧”的地方补 </a:t>
            </a:r>
            <a:r>
              <a:rPr lang="en-US" altLang="zh-CN"/>
              <a:t>UML </a:t>
            </a:r>
            <a:r>
              <a:rPr lang="zh-CN" altLang="en-US"/>
              <a:t>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比起用什么工具画，团队如何持续更新更重要 。 建议分三步：先共同讨论（白板</a:t>
            </a:r>
            <a:r>
              <a:rPr lang="en-US" altLang="zh-CN"/>
              <a:t>/</a:t>
            </a:r>
            <a:r>
              <a:rPr lang="zh-CN" altLang="en-US"/>
              <a:t>便利贴），再形成正式图（</a:t>
            </a:r>
            <a:r>
              <a:rPr lang="en-US" altLang="zh-CN"/>
              <a:t>draw.io/PlantUML</a:t>
            </a:r>
            <a:r>
              <a:rPr lang="zh-CN" altLang="en-US"/>
              <a:t>），最后纳入版本管理（</a:t>
            </a:r>
            <a:r>
              <a:rPr lang="en-US" altLang="zh-CN"/>
              <a:t>Wiki/Git</a:t>
            </a:r>
            <a:r>
              <a:rPr lang="zh-CN" altLang="en-US"/>
              <a:t>）保留追踪链 。 协作时要统一四件事：统一术语命名，图文必须配套，控制单图颗粒度（一张图回答一个核心问题），并始终保持模型可更新，别让它变成历史文物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答案是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本地单机文件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✅</a:t>
            </a: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解析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Git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：专业的版本控制工具，能追踪代码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文档的每一次修改、回溯历史版本，是版本管理的标准方案。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 Wiki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：支持多人协作编辑、保留修改历史，适合文档类内容的版本管理。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C. 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：基于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的远程协作平台，兼具版本控制、团队协作、代码托管功能，是广泛使用的版本管理方式。</a:t>
            </a: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本地单机文件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：仅存在于单台设备，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无法追踪修改历史、无法多人协作、易丢失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误覆盖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，完全不满足版本管理的核心需求，因此不建议使用。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最后，我们来做一个总结 。 第一，</a:t>
            </a:r>
            <a:r>
              <a:rPr lang="zh-CN" altLang="en-US" b="1"/>
              <a:t>先边界，后细节</a:t>
            </a:r>
            <a:r>
              <a:rPr lang="zh-CN" altLang="en-US"/>
              <a:t>。用例图先把“谁在用、做什么、边界在哪”讲清楚 。 第二，</a:t>
            </a:r>
            <a:r>
              <a:rPr lang="zh-CN" altLang="en-US" b="1"/>
              <a:t>选对图比画得多更重要</a:t>
            </a:r>
            <a:r>
              <a:rPr lang="zh-CN" altLang="en-US"/>
              <a:t>。流程问题找活动图，协作问题找时序图，概念问题找类图 。 第三，</a:t>
            </a:r>
            <a:r>
              <a:rPr lang="zh-CN" altLang="en-US" b="1"/>
              <a:t>图和文字要配套</a:t>
            </a:r>
            <a:r>
              <a:rPr lang="zh-CN" altLang="en-US"/>
              <a:t>。业务规则、阈值和例外往往需要文字补充 。 第四，</a:t>
            </a:r>
            <a:r>
              <a:rPr lang="zh-CN" altLang="en-US" b="1"/>
              <a:t>需求模型要能追踪</a:t>
            </a:r>
            <a:r>
              <a:rPr lang="zh-CN" altLang="en-US"/>
              <a:t>。最好能一路连到设计与测试，而不是停在一张图上 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BF82-64E9-084A-A086-E671D070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9AA34-CAF0-EA13-A6AA-C2064F37A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D06D1-E673-372A-C091-DFA4BB337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52DF0-F017-9C0F-F3CB-2C9A601EE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836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6036-22AE-366F-36E5-E883A619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E607C-B135-BC6A-B5E9-7FF46F32C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993FF-EA8B-BB11-5536-B75259699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219D5-3BFE-374B-B0B0-56537482A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83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1234440"/>
            <a:ext cx="2194560" cy="658368"/>
          </a:xfrm>
          <a:prstGeom prst="ellipse">
            <a:avLst/>
          </a:prstGeom>
          <a:solidFill>
            <a:srgbClr val="8CCFFF">
              <a:alpha val="0"/>
            </a:srgbClr>
          </a:solidFill>
          <a:ln w="27940">
            <a:solidFill>
              <a:srgbClr val="8CCF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183880" y="141732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用例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12680" y="1005840"/>
            <a:ext cx="1554480" cy="1051560"/>
          </a:xfrm>
          <a:prstGeom prst="rect">
            <a:avLst/>
          </a:prstGeom>
          <a:solidFill>
            <a:srgbClr val="0E2437">
              <a:alpha val="85000"/>
            </a:srgbClr>
          </a:solidFill>
          <a:ln w="19050">
            <a:solidFill>
              <a:srgbClr val="A0C4FF">
                <a:alpha val="8000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12680" y="1353312"/>
            <a:ext cx="1554480" cy="0"/>
          </a:xfrm>
          <a:prstGeom prst="line">
            <a:avLst/>
          </a:prstGeom>
          <a:noFill/>
          <a:ln w="12700">
            <a:solidFill>
              <a:srgbClr val="A0C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12680" y="1682496"/>
            <a:ext cx="1554480" cy="0"/>
          </a:xfrm>
          <a:prstGeom prst="line">
            <a:avLst/>
          </a:prstGeom>
          <a:noFill/>
          <a:ln w="12700">
            <a:solidFill>
              <a:srgbClr val="A0C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920240" y="229281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UML与软件需求分析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749808" y="4617720"/>
            <a:ext cx="822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D8FF"/>
                </a:solidFill>
              </a:rPr>
              <a:t>关键词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919472"/>
            <a:ext cx="1170432" cy="237744"/>
          </a:xfrm>
          <a:prstGeom prst="roundRect">
            <a:avLst/>
          </a:prstGeom>
          <a:solidFill>
            <a:srgbClr val="143657">
              <a:alpha val="92000"/>
            </a:srgbClr>
          </a:solidFill>
          <a:ln w="12700">
            <a:solidFill>
              <a:srgbClr val="3AA2FF">
                <a:alpha val="5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系统边界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4919472"/>
            <a:ext cx="1170432" cy="237744"/>
          </a:xfrm>
          <a:prstGeom prst="roundRect">
            <a:avLst/>
          </a:prstGeom>
          <a:solidFill>
            <a:srgbClr val="0F2E48">
              <a:alpha val="92000"/>
            </a:srgbClr>
          </a:solidFill>
          <a:ln w="12700">
            <a:solidFill>
              <a:srgbClr val="2AD2DD">
                <a:alpha val="5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需求澄清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47872" y="4919472"/>
            <a:ext cx="1170432" cy="237744"/>
          </a:xfrm>
          <a:prstGeom prst="roundRect">
            <a:avLst/>
          </a:prstGeom>
          <a:solidFill>
            <a:srgbClr val="143657">
              <a:alpha val="92000"/>
            </a:srgbClr>
          </a:solidFill>
          <a:ln w="12700">
            <a:solidFill>
              <a:srgbClr val="3AA2FF">
                <a:alpha val="5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流程建模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5358384"/>
            <a:ext cx="1170432" cy="237744"/>
          </a:xfrm>
          <a:prstGeom prst="roundRect">
            <a:avLst/>
          </a:prstGeom>
          <a:solidFill>
            <a:srgbClr val="0F2E48">
              <a:alpha val="92000"/>
            </a:srgbClr>
          </a:solidFill>
          <a:ln w="12700">
            <a:solidFill>
              <a:srgbClr val="2AD2DD">
                <a:alpha val="5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领域建模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48840" y="5358384"/>
            <a:ext cx="1170432" cy="237744"/>
          </a:xfrm>
          <a:prstGeom prst="roundRect">
            <a:avLst/>
          </a:prstGeom>
          <a:solidFill>
            <a:srgbClr val="143657">
              <a:alpha val="92000"/>
            </a:srgbClr>
          </a:solidFill>
          <a:ln w="12700">
            <a:solidFill>
              <a:srgbClr val="3AA2FF">
                <a:alpha val="5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协同沟通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991088" y="6199632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8A4C7"/>
                </a:solidFill>
              </a:rPr>
              <a:t>01</a:t>
            </a:r>
            <a:endParaRPr lang="en-US" sz="1100" dirty="0"/>
          </a:p>
        </p:txBody>
      </p:sp>
      <p:sp>
        <p:nvSpPr>
          <p:cNvPr id="33" name="文本框 32"/>
          <p:cNvSpPr txBox="1"/>
          <p:nvPr/>
        </p:nvSpPr>
        <p:spPr>
          <a:xfrm>
            <a:off x="10518050" y="100584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</a:rPr>
              <a:t>实体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0518050" y="1356201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</a:rPr>
              <a:t>属性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0300041" y="1720631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FFFF"/>
                </a:solidFill>
              </a:rPr>
              <a:t>操作</a:t>
            </a:r>
            <a:r>
              <a:rPr lang="en-US" altLang="zh-CN" sz="1400" b="1">
                <a:solidFill>
                  <a:srgbClr val="FFFFFF"/>
                </a:solidFill>
              </a:rPr>
              <a:t>/</a:t>
            </a:r>
            <a:r>
              <a:rPr lang="zh-CN" altLang="en-US" sz="1400" b="1">
                <a:solidFill>
                  <a:srgbClr val="FFFFFF"/>
                </a:solidFill>
              </a:rPr>
              <a:t>属性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08" y="3168300"/>
            <a:ext cx="5254526" cy="245526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08" y="827560"/>
            <a:ext cx="1084202" cy="1472127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7380560" y="1563581"/>
            <a:ext cx="250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72BD842-7286-3617-A5BD-2D2A2D7CC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32963" y="1314806"/>
            <a:ext cx="2596087" cy="2596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从一句需求开始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自然语言为什么容易让团队各说各话？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138" y="2331720"/>
            <a:ext cx="39776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>
            <a:outerShdw blurRad="15240" dist="13970" dir="2700000" algn="bl" rotWithShape="0">
              <a:srgbClr val="000000">
                <a:alpha val="18000"/>
              </a:srgbClr>
            </a:outerShdw>
          </a:effectLst>
        </p:spPr>
        <p:txBody>
          <a:bodyPr wrap="square" lIns="3175" tIns="3175" rIns="3175" bIns="3175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E293B"/>
                </a:solidFill>
              </a:rPr>
              <a:t>“请把请假流程做得简单一些，并保证及时通知相关老师。”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722" y="2048256"/>
            <a:ext cx="11887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原始口头需求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78612" y="2785534"/>
            <a:ext cx="1920240" cy="10583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161492" y="2476077"/>
            <a:ext cx="160020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</a:rPr>
              <a:t>建模后，讨论会变具体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0" y="1051560"/>
            <a:ext cx="425196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blurRad="193548000" dist="177419000"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歧义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“简单”到底是步骤变少、审批变快，还是 UI 更少按钮？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2331720"/>
            <a:ext cx="425196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遗漏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通知哪些老师、在哪个节点通知、失败后谁兜底？一句话里通常说不全。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132320" y="3611880"/>
            <a:ext cx="425196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难评审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没有边界和流程图，老师、开发、测试很难对着同一个对象讨论。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10744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A43"/>
                </a:solidFill>
              </a:rPr>
              <a:t>UML 的价值不只是“画图”，而是把模糊需求拆成：参与者、流程、对象、状态、协作。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8680" y="550468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• 先界定系统边界，再讨论细节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68680" y="577900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E293B"/>
                </a:solidFill>
              </a:rPr>
              <a:t>• 先对齐主流程，再补异常分支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为什么需求分析需要 UML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3000" y="2926080"/>
            <a:ext cx="2286000" cy="640080"/>
          </a:xfrm>
          <a:prstGeom prst="ellipse">
            <a:avLst/>
          </a:prstGeom>
          <a:solidFill>
            <a:srgbClr val="EAF2FF"/>
          </a:solidFill>
          <a:ln w="14605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需求质量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554480"/>
            <a:ext cx="2926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统一理解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把“谁在用、想完成什么、边界在哪”讲清楚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6904223" y="2034298"/>
            <a:ext cx="1416685" cy="98552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2" name="Text 10"/>
          <p:cNvSpPr/>
          <p:nvPr/>
        </p:nvSpPr>
        <p:spPr>
          <a:xfrm>
            <a:off x="8320934" y="1554480"/>
            <a:ext cx="2926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发现问题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主流程、异常流、状态切换中的遗漏会更早暴露</a:t>
            </a:r>
          </a:p>
        </p:txBody>
      </p:sp>
      <p:sp>
        <p:nvSpPr>
          <p:cNvPr id="13" name="Shape 11"/>
          <p:cNvSpPr/>
          <p:nvPr/>
        </p:nvSpPr>
        <p:spPr>
          <a:xfrm flipH="1">
            <a:off x="3840480" y="3472168"/>
            <a:ext cx="1447297" cy="985532"/>
          </a:xfrm>
          <a:prstGeom prst="line">
            <a:avLst/>
          </a:prstGeom>
          <a:noFill/>
          <a:ln w="2794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2926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支撑设计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需求模型可以顺着走到组件划分与接口协作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4223" y="3472422"/>
            <a:ext cx="1416685" cy="985520"/>
          </a:xfrm>
          <a:prstGeom prst="line">
            <a:avLst/>
          </a:prstGeom>
          <a:noFill/>
          <a:ln w="27940">
            <a:solidFill>
              <a:srgbClr val="8B5CF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21040" y="3977640"/>
            <a:ext cx="2926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辅助测试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用例、流程与状态都能自然转化为验收场景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56692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</a:rPr>
              <a:t>UML 不是为了替代沟通，而是为了让沟通有“共同对象”。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 flipH="1" flipV="1">
            <a:off x="3840480" y="2034540"/>
            <a:ext cx="1447297" cy="985659"/>
          </a:xfrm>
          <a:prstGeom prst="line">
            <a:avLst/>
          </a:prstGeom>
          <a:noFill/>
          <a:ln w="2794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汇报路线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9620" y="3256703"/>
            <a:ext cx="10058400" cy="0"/>
          </a:xfrm>
          <a:prstGeom prst="line">
            <a:avLst/>
          </a:prstGeom>
          <a:noFill/>
          <a:ln w="25400">
            <a:solidFill>
              <a:srgbClr val="B9C8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925068" y="2964095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23900" y="1583351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B82F6"/>
                </a:solidFill>
              </a:rPr>
              <a:t>01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12420" y="2067983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</a:rPr>
              <a:t>为什么要建模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5260" y="3668183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475569"/>
                </a:solidFill>
              </a:rPr>
              <a:t>先看 UML 为什么适合需求分析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3393948" y="2964095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192780" y="1583351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B981"/>
                </a:solidFill>
              </a:rPr>
              <a:t>02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781300" y="2067983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</a:rPr>
              <a:t>用例视角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644140" y="3668183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475569"/>
                </a:solidFill>
              </a:rPr>
              <a:t>谁在使用系统，系统要完成什么目标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5862828" y="2964095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661660" y="1583351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9E0B"/>
                </a:solidFill>
              </a:rPr>
              <a:t>03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50180" y="2067983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</a:rPr>
              <a:t>流程与交互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113020" y="3668183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475569"/>
                </a:solidFill>
              </a:rPr>
              <a:t>活动图和时序图分别回答什么问题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8331708" y="2964095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130540" y="1583351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B5CF6"/>
                </a:solidFill>
              </a:rPr>
              <a:t>04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719060" y="2067983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</a:rPr>
              <a:t>领域与状态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81900" y="3668183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475569"/>
                </a:solidFill>
              </a:rPr>
              <a:t>类图、状态图如何帮助把概念讲清楚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10800588" y="2964095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599420" y="1583351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6B6D4"/>
                </a:solidFill>
              </a:rPr>
              <a:t>05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187940" y="2067983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93B"/>
                </a:solidFill>
              </a:rPr>
              <a:t>落地与反思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050780" y="3668183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dirty="0">
                <a:solidFill>
                  <a:srgbClr val="475569"/>
                </a:solidFill>
              </a:rPr>
              <a:t>追踪、协作、误区、敏捷中的轻量化使用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 是什么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它是一种标准化建模语言，但不是万能药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151" y="1515872"/>
            <a:ext cx="3931920" cy="1394021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C6DAFF"/>
            </a:solidFill>
          </a:ln>
        </p:spPr>
        <p:txBody>
          <a:bodyPr wrap="square" lIns="2794" tIns="2794" rIns="2794" bIns="2794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 UML = Unified Modeling </a:t>
            </a:r>
          </a:p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 Language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</a:rPr>
              <a:t> 统一建模语言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68138" y="3552411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E293B"/>
                </a:solidFill>
              </a:rPr>
              <a:t>• 用于可视化、说明和记录系统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768138" y="3863307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E293B"/>
                </a:solidFill>
              </a:rPr>
              <a:t>• 既能表达结构，也能表达行为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68138" y="4174203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E293B"/>
                </a:solidFill>
              </a:rPr>
              <a:t>• 重点是“帮助沟通”，不是“追求画满图”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5294431" y="1461008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它能帮你做什么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66999" y="1826768"/>
            <a:ext cx="26974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看边界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谁是参与者，哪些事情属于系统职责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66999" y="2951480"/>
            <a:ext cx="26974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看流程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一件事怎么发生，分支在哪里，谁负责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66999" y="4076192"/>
            <a:ext cx="26974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看对象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系统里有哪些核心概念，它们如何关联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74791" y="14610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它不是什么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29071" y="1826768"/>
            <a:ext cx="2971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不是编程语言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UML 描述系统，不直接等于代码实现。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129071" y="2951480"/>
            <a:ext cx="2971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不是必须全画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选对图比画得多更重要。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129071" y="4076192"/>
            <a:ext cx="29718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不是替代思考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形式正确，不代表需求真的清楚。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 在开发中的位置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4173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业务目标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21992" y="2039112"/>
            <a:ext cx="365760" cy="0"/>
          </a:xfrm>
          <a:prstGeom prst="line">
            <a:avLst/>
          </a:prstGeom>
          <a:noFill/>
          <a:ln w="2159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4173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需求获取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50792" y="2039112"/>
            <a:ext cx="365760" cy="0"/>
          </a:xfrm>
          <a:prstGeom prst="line">
            <a:avLst/>
          </a:prstGeom>
          <a:noFill/>
          <a:ln w="2159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434840" y="1828800"/>
            <a:ext cx="1417320" cy="420624"/>
          </a:xfrm>
          <a:prstGeom prst="roundRect">
            <a:avLst/>
          </a:prstGeom>
          <a:solidFill>
            <a:srgbClr val="EAF2FF"/>
          </a:solidFill>
          <a:ln w="25400">
            <a:solidFill>
              <a:srgbClr val="3B82F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需求分析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79592" y="2039112"/>
            <a:ext cx="365760" cy="0"/>
          </a:xfrm>
          <a:prstGeom prst="line">
            <a:avLst/>
          </a:prstGeom>
          <a:noFill/>
          <a:ln w="2159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1417320" cy="420624"/>
          </a:xfrm>
          <a:prstGeom prst="roundRect">
            <a:avLst/>
          </a:prstGeom>
          <a:solidFill>
            <a:srgbClr val="EAF2FF"/>
          </a:solidFill>
          <a:ln w="25400">
            <a:solidFill>
              <a:srgbClr val="3B82F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架构设计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08392" y="2039112"/>
            <a:ext cx="365760" cy="0"/>
          </a:xfrm>
          <a:prstGeom prst="line">
            <a:avLst/>
          </a:prstGeom>
          <a:noFill/>
          <a:ln w="2159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92440" y="1828800"/>
            <a:ext cx="14173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开发测试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37192" y="2039112"/>
            <a:ext cx="365760" cy="0"/>
          </a:xfrm>
          <a:prstGeom prst="line">
            <a:avLst/>
          </a:prstGeom>
          <a:noFill/>
          <a:ln w="2159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921240" y="1828800"/>
            <a:ext cx="1417320" cy="4206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运行迭代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392170" y="1284732"/>
            <a:ext cx="3383280" cy="1481328"/>
          </a:xfrm>
          <a:prstGeom prst="roundRect">
            <a:avLst/>
          </a:prstGeom>
          <a:solidFill>
            <a:srgbClr val="DDEAFF">
              <a:alpha val="32000"/>
            </a:srgbClr>
          </a:solidFill>
          <a:ln w="20320">
            <a:solidFill>
              <a:srgbClr val="9EC1FF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645152" y="141732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UML 最常出现的位置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94526" y="3657631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</a:rPr>
              <a:t>需求分析阶段关注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2194526" y="4005103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用例图：边界、参与者、目标</a:t>
            </a:r>
            <a:endParaRPr lang="en-US" sz="1330" dirty="0"/>
          </a:p>
        </p:txBody>
      </p:sp>
      <p:sp>
        <p:nvSpPr>
          <p:cNvPr id="23" name="Text 21"/>
          <p:cNvSpPr/>
          <p:nvPr/>
        </p:nvSpPr>
        <p:spPr>
          <a:xfrm>
            <a:off x="2194526" y="4288567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活动图：主流程、异常流、并发</a:t>
            </a:r>
            <a:endParaRPr lang="en-US" sz="1330" dirty="0"/>
          </a:p>
        </p:txBody>
      </p:sp>
      <p:sp>
        <p:nvSpPr>
          <p:cNvPr id="24" name="Text 22"/>
          <p:cNvSpPr/>
          <p:nvPr/>
        </p:nvSpPr>
        <p:spPr>
          <a:xfrm>
            <a:off x="2194526" y="4572031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类图：领域概念与关系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2194526" y="4855495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状态图：关键对象的生命周期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7775516" y="3657631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</a:rPr>
              <a:t>设计阶段会继续延伸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775516" y="4005103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时序图：对象协作与消息顺序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7775516" y="4288567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组件图：系统模块与依赖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7775516" y="4572031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E293B"/>
                </a:solidFill>
              </a:rPr>
              <a:t>• 部署图：运行环境与节点</a:t>
            </a:r>
            <a:endParaRPr lang="en-US" sz="1330" dirty="0"/>
          </a:p>
        </p:txBody>
      </p:sp>
      <p:sp>
        <p:nvSpPr>
          <p:cNvPr id="30" name="Text 28"/>
          <p:cNvSpPr/>
          <p:nvPr/>
        </p:nvSpPr>
        <p:spPr>
          <a:xfrm>
            <a:off x="932688" y="5650992"/>
            <a:ext cx="10332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102A43"/>
                </a:solidFill>
              </a:rPr>
              <a:t>所以，需求阶段的 UML 不是孤立文档，而是后续设计与测试的起点。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 的图谱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把常见图按关注点分成三个视角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1112" y="1876610"/>
            <a:ext cx="278892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结构视角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7144" y="2534978"/>
            <a:ext cx="2276856" cy="310896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3B82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类图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117144" y="3101906"/>
            <a:ext cx="2276856" cy="310896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3B82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对象图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117144" y="3668834"/>
            <a:ext cx="2276856" cy="310896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3B82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组件图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117144" y="4235762"/>
            <a:ext cx="2276856" cy="310896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3B82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部署图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036616" y="3705410"/>
            <a:ext cx="457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646728" y="1876610"/>
            <a:ext cx="278892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行为视角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02760" y="2534978"/>
            <a:ext cx="2276856" cy="310896"/>
          </a:xfrm>
          <a:prstGeom prst="roundRect">
            <a:avLst/>
          </a:prstGeom>
          <a:solidFill>
            <a:srgbClr val="F1FBF8"/>
          </a:solidFill>
          <a:ln w="12700">
            <a:solidFill>
              <a:srgbClr val="10B981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活动图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902760" y="3101906"/>
            <a:ext cx="2276856" cy="310896"/>
          </a:xfrm>
          <a:prstGeom prst="roundRect">
            <a:avLst/>
          </a:prstGeom>
          <a:solidFill>
            <a:srgbClr val="F1FBF8"/>
          </a:solidFill>
          <a:ln w="12700">
            <a:solidFill>
              <a:srgbClr val="10B981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状态图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4902760" y="3668834"/>
            <a:ext cx="2276856" cy="310896"/>
          </a:xfrm>
          <a:prstGeom prst="roundRect">
            <a:avLst/>
          </a:prstGeom>
          <a:solidFill>
            <a:srgbClr val="F1FBF8"/>
          </a:solidFill>
          <a:ln w="12700">
            <a:solidFill>
              <a:srgbClr val="10B981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用例图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542072" y="1876610"/>
            <a:ext cx="278892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</a:rPr>
              <a:t>交互视角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98104" y="2534978"/>
            <a:ext cx="2276856" cy="310896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8B5C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时序图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798104" y="3101906"/>
            <a:ext cx="2276856" cy="310896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8B5C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通信图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798104" y="3668834"/>
            <a:ext cx="2276856" cy="310896"/>
          </a:xfrm>
          <a:prstGeom prst="roundRect">
            <a:avLst/>
          </a:prstGeom>
          <a:solidFill>
            <a:srgbClr val="F4F0FF"/>
          </a:solidFill>
          <a:ln w="12700">
            <a:solidFill>
              <a:srgbClr val="8B5CF6">
                <a:alpha val="35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1E293B"/>
                </a:solidFill>
              </a:rPr>
              <a:t>交互概览图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828800" cy="100584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7304B"/>
                </a:solidFill>
              </a:rPr>
              <a:t>01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49808" y="2331720"/>
            <a:ext cx="5029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从参与者开始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8096" y="2999232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7F8"/>
                </a:solidFill>
              </a:rPr>
              <a:t>先用用例图把系统边界和用户目标讲清楚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86384" y="396849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C3E1"/>
                </a:solidFill>
              </a:rPr>
              <a:t>把图当作讨论工具，而不是作业模板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908709" y="1586505"/>
            <a:ext cx="2743200" cy="841248"/>
          </a:xfrm>
          <a:prstGeom prst="ellipse">
            <a:avLst/>
          </a:prstGeom>
          <a:solidFill>
            <a:srgbClr val="C4E6FF">
              <a:alpha val="0"/>
            </a:srgbClr>
          </a:solidFill>
          <a:ln w="25400">
            <a:solidFill>
              <a:srgbClr val="C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914549" y="1888257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目标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80309" y="2427753"/>
            <a:ext cx="0" cy="82296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80309" y="3232425"/>
            <a:ext cx="1463040" cy="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743349" y="3095265"/>
            <a:ext cx="914400" cy="310896"/>
          </a:xfrm>
          <a:prstGeom prst="round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流程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23109" y="4448577"/>
            <a:ext cx="914400" cy="310896"/>
          </a:xfrm>
          <a:prstGeom prst="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概念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80309" y="3232425"/>
            <a:ext cx="0" cy="1170432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用例图看什么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它关心的是用户目标，而不是按钮流程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用例视角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用例视角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09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29" y="163855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需求阶段，用例图主要回答三个问题：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61" y="200431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• 谁与系统发生交互？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61" y="233349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• 用户想完成什么业务目标？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61" y="266268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• 哪些事情属于系统边界之内？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61" y="3247898"/>
            <a:ext cx="42062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F4444"/>
                </a:solidFill>
              </a:rPr>
              <a:t>一个常见误区：把“点击按钮”“切换页面”直接当成用例。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13837" y="390626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</a:rPr>
              <a:t>• 用例更像“提交请假申请”“查询审批结果”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813837" y="419887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475569"/>
                </a:solidFill>
              </a:rPr>
              <a:t>• 它强调业务目标，不强调界面细节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5897424" y="4385910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500" dirty="0">
                <a:solidFill>
                  <a:srgbClr val="102A43"/>
                </a:solidFill>
              </a:rPr>
              <a:t>用例</a:t>
            </a:r>
            <a:r>
              <a:rPr lang="zh-CN" altLang="en-US" sz="1500" dirty="0"/>
              <a:t>图上最重要的不是“好看”，而是：目标命名要准、边界要清、关系语义要对。</a:t>
            </a:r>
          </a:p>
        </p:txBody>
      </p:sp>
      <p:sp>
        <p:nvSpPr>
          <p:cNvPr id="40" name="Text 7"/>
          <p:cNvSpPr/>
          <p:nvPr/>
        </p:nvSpPr>
        <p:spPr>
          <a:xfrm>
            <a:off x="6202053" y="1287600"/>
            <a:ext cx="4557102" cy="183648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>
            <a:outerShdw blurRad="15240" dist="13970" dir="2700000" algn="bl" rotWithShape="0">
              <a:srgbClr val="000000">
                <a:alpha val="18000"/>
              </a:srgbClr>
            </a:outerShdw>
          </a:effectLst>
        </p:spPr>
        <p:txBody>
          <a:bodyPr wrap="square" lIns="3175" tIns="3175" rIns="3175" bIns="3175" rtlCol="0" anchor="ctr"/>
          <a:lstStyle/>
          <a:p>
            <a:pPr marL="0" indent="0">
              <a:buNone/>
            </a:pPr>
            <a:r>
              <a:rPr lang="zh-CN" altLang="en-US" sz="1500" dirty="0"/>
              <a:t>用例命名公式：</a:t>
            </a:r>
          </a:p>
          <a:p>
            <a:pPr marL="0" indent="0">
              <a:buNone/>
            </a:pPr>
            <a:r>
              <a:rPr lang="zh-CN" altLang="en-US" sz="1500" dirty="0"/>
              <a:t>动词 + 宾语（业务对象）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好的例子： 缴纳电费、导出销售报表、重置登录密码。</a:t>
            </a:r>
          </a:p>
          <a:p>
            <a:pPr marL="0" indent="0">
              <a:buNone/>
            </a:pPr>
            <a:endParaRPr lang="en-US" altLang="zh-CN" sz="1500" dirty="0"/>
          </a:p>
          <a:p>
            <a:pPr marL="0" indent="0">
              <a:buNone/>
            </a:pPr>
            <a:r>
              <a:rPr lang="zh-CN" altLang="en-US" sz="1500" dirty="0"/>
              <a:t>坏的例子： 点击缴费、进入报表页、输入新密码。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293B"/>
                </a:solidFill>
                <a:latin typeface="黑体" panose="02010609060101010101" pitchFamily="49" charset="-122"/>
                <a:ea typeface="黑体" panose="02010609060101010101" pitchFamily="49" charset="-122"/>
                <a:cs typeface="Noto Sans CJK SC" pitchFamily="34" charset="-120"/>
              </a:rPr>
              <a:t>医院</a:t>
            </a:r>
            <a:r>
              <a:rPr lang="zh-CN" altLang="en-US" sz="2800" b="1" dirty="0">
                <a:solidFill>
                  <a:srgbClr val="1E293B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挂号预约管理系统用例图</a:t>
            </a:r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用例视角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用例视角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10</a:t>
            </a:r>
            <a:endParaRPr lang="en-US" sz="1050" dirty="0"/>
          </a:p>
        </p:txBody>
      </p:sp>
      <p:pic>
        <p:nvPicPr>
          <p:cNvPr id="84" name="图片 83" descr="post_object_image_32749278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513" y="1027203"/>
            <a:ext cx="6443260" cy="4979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D7F8FF"/>
          </a:solidFill>
          <a:ln>
            <a:solidFill>
              <a:srgbClr val="D7F8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用例视角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3550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D2E8"/>
                </a:solidFill>
              </a:rPr>
              <a:t>用例视角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2E8"/>
                </a:solidFill>
              </a:rPr>
              <a:t>11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417320" cy="27432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互动 1/5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62763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如果给“图书馆借阅系统”画用例图，下面谁最适合作为参与者？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A. 借阅规则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44768" y="276148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B. 读者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22452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C. 借阅次数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44768" y="422452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D. 罚款金额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6DCF6"/>
                </a:solidFill>
              </a:rPr>
              <a:t>先请大家选，再一起解释为什么。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828800" cy="100584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7304B"/>
                </a:solidFill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49808" y="2331720"/>
            <a:ext cx="5029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流程与交互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8096" y="2999232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7F8"/>
                </a:solidFill>
              </a:rPr>
              <a:t>同一件事，既可以从流程看，也可以从对象协作看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86384" y="396849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C3E1"/>
                </a:solidFill>
              </a:rPr>
              <a:t>把图当作讨论工具，而不是作业模板</a:t>
            </a:r>
            <a:endParaRPr lang="en-US" sz="1150" dirty="0"/>
          </a:p>
        </p:txBody>
      </p:sp>
      <p:sp>
        <p:nvSpPr>
          <p:cNvPr id="63" name="Shape 5"/>
          <p:cNvSpPr/>
          <p:nvPr/>
        </p:nvSpPr>
        <p:spPr>
          <a:xfrm>
            <a:off x="6908709" y="1586505"/>
            <a:ext cx="2743200" cy="841248"/>
          </a:xfrm>
          <a:prstGeom prst="ellipse">
            <a:avLst/>
          </a:prstGeom>
          <a:solidFill>
            <a:srgbClr val="C4E6FF">
              <a:alpha val="0"/>
            </a:srgbClr>
          </a:solidFill>
          <a:ln w="25400">
            <a:solidFill>
              <a:srgbClr val="C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"/>
          <p:cNvSpPr/>
          <p:nvPr/>
        </p:nvSpPr>
        <p:spPr>
          <a:xfrm>
            <a:off x="7914549" y="1888257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目标</a:t>
            </a:r>
            <a:endParaRPr lang="en-US" sz="1700" dirty="0"/>
          </a:p>
        </p:txBody>
      </p:sp>
      <p:sp>
        <p:nvSpPr>
          <p:cNvPr id="65" name="Shape 7"/>
          <p:cNvSpPr/>
          <p:nvPr/>
        </p:nvSpPr>
        <p:spPr>
          <a:xfrm>
            <a:off x="8280309" y="2427753"/>
            <a:ext cx="0" cy="82296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8"/>
          <p:cNvSpPr/>
          <p:nvPr/>
        </p:nvSpPr>
        <p:spPr>
          <a:xfrm>
            <a:off x="8280309" y="3232425"/>
            <a:ext cx="1463040" cy="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9"/>
          <p:cNvSpPr/>
          <p:nvPr/>
        </p:nvSpPr>
        <p:spPr>
          <a:xfrm>
            <a:off x="9743349" y="3095265"/>
            <a:ext cx="914400" cy="310896"/>
          </a:xfrm>
          <a:prstGeom prst="round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流程</a:t>
            </a:r>
            <a:endParaRPr lang="en-US" sz="1600" dirty="0"/>
          </a:p>
        </p:txBody>
      </p:sp>
      <p:sp>
        <p:nvSpPr>
          <p:cNvPr id="68" name="Text 10"/>
          <p:cNvSpPr/>
          <p:nvPr/>
        </p:nvSpPr>
        <p:spPr>
          <a:xfrm>
            <a:off x="7823109" y="4448577"/>
            <a:ext cx="914400" cy="310896"/>
          </a:xfrm>
          <a:prstGeom prst="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概念</a:t>
            </a:r>
            <a:endParaRPr lang="en-US" sz="1600" dirty="0"/>
          </a:p>
        </p:txBody>
      </p:sp>
      <p:sp>
        <p:nvSpPr>
          <p:cNvPr id="69" name="Shape 11"/>
          <p:cNvSpPr/>
          <p:nvPr/>
        </p:nvSpPr>
        <p:spPr>
          <a:xfrm>
            <a:off x="8280309" y="3232425"/>
            <a:ext cx="0" cy="1170432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活动图适合什么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当你关心流程、分支、并发和责任分工时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流程与交互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流程与交互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13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2344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常见元素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246120" y="12344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什么时候优先画活动图？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18688" y="1645920"/>
            <a:ext cx="320040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主流程需要讲清楚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例如：请假审批、报修派单、退款处理。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18688" y="2697480"/>
            <a:ext cx="320040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存在分支和例外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例如：条件不同导致不同审批路径。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18688" y="3749040"/>
            <a:ext cx="3200400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存在并发或多角色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例如：系统通知和人工审批同时发生。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03720" y="123444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它不擅长回答的问题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876288" y="1645920"/>
            <a:ext cx="4206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对象间消息细节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如果你想看“谁调用谁、先后顺序怎样”，时序图更合适。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76288" y="2834640"/>
            <a:ext cx="4206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领域概念结构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如果你想看系统里有哪些对象和关系，类图更合适。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76288" y="4023360"/>
            <a:ext cx="42062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界面交互微操作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按钮级点击和页面跳转，通常不值得画成活动图主流程。</a:t>
            </a:r>
            <a:endParaRPr lang="en-US" sz="1350" dirty="0"/>
          </a:p>
        </p:txBody>
      </p:sp>
      <p:pic>
        <p:nvPicPr>
          <p:cNvPr id="28" name="图片 27" descr="post_object_image_18292892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22" y="1645920"/>
            <a:ext cx="1954578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请假审批活动图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带泳道的活动图特别适合表达角色分工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流程与交互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流程与交互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14</a:t>
            </a:r>
            <a:endParaRPr lang="en-US" sz="1050" dirty="0"/>
          </a:p>
        </p:txBody>
      </p:sp>
      <p:pic>
        <p:nvPicPr>
          <p:cNvPr id="45" name="图片 44" descr="post_object_image_26863477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381" y="1151298"/>
            <a:ext cx="8363970" cy="45553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时序图适合什么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当你更关心对象协作与消息顺序时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流程与交互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流程与交互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15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24358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时序图最常回答：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162763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• 谁先发起请求？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896112" y="193852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• 哪些对象参与协作？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96112" y="224942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• 调用顺序和返回结果是什么？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896112" y="256032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• 异常或分支发生在什么位置？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5486400" y="124358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核心元素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07608" y="1645920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用户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46520" y="1975104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44968" y="1645920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前端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3880" y="1975104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482328" y="1645920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服务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921240" y="1975104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138160" y="2249424"/>
            <a:ext cx="91437" cy="1755648"/>
          </a:xfrm>
          <a:prstGeom prst="rect">
            <a:avLst/>
          </a:prstGeom>
          <a:solidFill>
            <a:srgbClr val="DCEB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875520" y="2633472"/>
            <a:ext cx="91433" cy="1289304"/>
          </a:xfrm>
          <a:prstGeom prst="rect">
            <a:avLst/>
          </a:prstGeom>
          <a:solidFill>
            <a:srgbClr val="DCEB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446520" y="2331720"/>
            <a:ext cx="173736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492240" y="214884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提交请求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183880" y="2697480"/>
            <a:ext cx="173736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229600" y="251460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调用服务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 flipH="1" flipV="1">
            <a:off x="8183880" y="3447288"/>
            <a:ext cx="1691637" cy="9143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229600" y="327355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处理结果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 flipH="1" flipV="1">
            <a:off x="6433125" y="3776472"/>
            <a:ext cx="1705032" cy="22859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59921" y="35798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页面反馈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6016752" y="4645152"/>
            <a:ext cx="822960" cy="256032"/>
          </a:xfrm>
          <a:prstGeom prst="roundRect">
            <a:avLst/>
          </a:prstGeom>
          <a:solidFill>
            <a:srgbClr val="3B82F6"/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生命线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54112" y="4645152"/>
            <a:ext cx="685800" cy="256032"/>
          </a:xfrm>
          <a:prstGeom prst="roundRect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消息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00032" y="4645152"/>
            <a:ext cx="777240" cy="256032"/>
          </a:xfrm>
          <a:prstGeom prst="roundRect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激活条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报修提交流程时序图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把“谁调谁”讲清楚，接口讨论就容易很多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流程与交互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流程与交互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16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71014" y="1517904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475569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学生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09926" y="1847088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82694" y="1517904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小程序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21606" y="1847088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494374" y="1517904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API网关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33286" y="1847088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551774" y="1517904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工单服务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0686" y="1848980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563454" y="1517904"/>
            <a:ext cx="877824" cy="310896"/>
          </a:xfrm>
          <a:prstGeom prst="roundRect">
            <a:avLst/>
          </a:prstGeom>
          <a:solidFill>
            <a:srgbClr val="ECF3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</a:rPr>
              <a:t>通知服务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02366" y="1847088"/>
            <a:ext cx="0" cy="3566160"/>
          </a:xfrm>
          <a:prstGeom prst="line">
            <a:avLst/>
          </a:prstGeom>
          <a:noFill/>
          <a:ln w="1397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875886" y="2596896"/>
            <a:ext cx="91440" cy="1828800"/>
          </a:xfrm>
          <a:prstGeom prst="rect">
            <a:avLst/>
          </a:prstGeom>
          <a:solidFill>
            <a:srgbClr val="DCEB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887566" y="2962656"/>
            <a:ext cx="91440" cy="1335024"/>
          </a:xfrm>
          <a:prstGeom prst="rect">
            <a:avLst/>
          </a:prstGeom>
          <a:solidFill>
            <a:srgbClr val="DCEB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944965" y="3008375"/>
            <a:ext cx="220717" cy="1975105"/>
          </a:xfrm>
          <a:prstGeom prst="rect">
            <a:avLst/>
          </a:prstGeom>
          <a:solidFill>
            <a:srgbClr val="DCEB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983445" y="3354744"/>
            <a:ext cx="91440" cy="658368"/>
          </a:xfrm>
          <a:prstGeom prst="rect">
            <a:avLst/>
          </a:prstGeom>
          <a:solidFill>
            <a:srgbClr val="DCEB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909926" y="2414016"/>
            <a:ext cx="201168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955646" y="2231136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填写并提交报修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921606" y="2779776"/>
            <a:ext cx="201168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967326" y="2596896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POST /repair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933286" y="3108960"/>
            <a:ext cx="205740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79006" y="292608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createTicket(data)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8086855" y="3817777"/>
            <a:ext cx="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校验重复问题 / 生成工单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 flipV="1">
            <a:off x="8184601" y="3466992"/>
            <a:ext cx="1817764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020008" y="313528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sendNotification(ticket)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8165682" y="3817777"/>
            <a:ext cx="1831955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086855" y="354345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发送结果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 flipH="1">
            <a:off x="5979004" y="3997819"/>
            <a:ext cx="1992763" cy="1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914368" y="3738951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ticketId + 状态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 flipH="1" flipV="1">
            <a:off x="3967324" y="4133088"/>
            <a:ext cx="1920241" cy="28378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994128" y="388620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200 OK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 flipH="1">
            <a:off x="1909925" y="4370832"/>
            <a:ext cx="1920239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909924" y="4114799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475569"/>
                </a:solidFill>
              </a:rPr>
              <a:t>提交成功页面</a:t>
            </a:r>
            <a:endParaRPr lang="en-US" sz="10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D7F8FF"/>
          </a:solidFill>
          <a:ln>
            <a:solidFill>
              <a:srgbClr val="D7F8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流程与交互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3550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D2E8"/>
                </a:solidFill>
              </a:rPr>
              <a:t>流程与交互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2E8"/>
                </a:solidFill>
              </a:rPr>
              <a:t>18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417320" cy="27432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互动 2/5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62763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要表达“审批被驳回后退回补充材料，再次提交”这类分支循环，最优先选哪种图？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A. 用例图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44768" y="276148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B. 活动图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22452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C. 部署图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44768" y="422452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D. 组件图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6DCF6"/>
                </a:solidFill>
              </a:rPr>
              <a:t>先请大家选，再一起解释为什么。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活动图、时序图怎么选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流程与交互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流程与交互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18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019531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同一个场景，不同问题，对应不同图。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476731"/>
            <a:ext cx="507492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活动图更适合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想说明主流程、条件分支、并发、角色责任时。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关键词：流程、判断、泳道、全局路径。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2476731"/>
            <a:ext cx="507492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时序图更适合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想说明消息顺序、对象协作、接口调用与返回时。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关键词：对象、消息、先后顺序、调用链。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828800" cy="100584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7304B"/>
                </a:solidFill>
              </a:rPr>
              <a:t>03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49808" y="2331720"/>
            <a:ext cx="5029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领域与结构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8096" y="2999232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7F8"/>
                </a:solidFill>
              </a:rPr>
              <a:t>把系统里的核心概念和关键对象生命期表达出来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86384" y="396849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C3E1"/>
                </a:solidFill>
              </a:rPr>
              <a:t>把图当作讨论工具，而不是作业模板</a:t>
            </a:r>
            <a:endParaRPr lang="en-US" sz="1150" dirty="0"/>
          </a:p>
        </p:txBody>
      </p:sp>
      <p:sp>
        <p:nvSpPr>
          <p:cNvPr id="14" name="Shape 5"/>
          <p:cNvSpPr/>
          <p:nvPr/>
        </p:nvSpPr>
        <p:spPr>
          <a:xfrm>
            <a:off x="6908709" y="1586505"/>
            <a:ext cx="2743200" cy="841248"/>
          </a:xfrm>
          <a:prstGeom prst="ellipse">
            <a:avLst/>
          </a:prstGeom>
          <a:solidFill>
            <a:srgbClr val="C4E6FF">
              <a:alpha val="0"/>
            </a:srgbClr>
          </a:solidFill>
          <a:ln w="25400">
            <a:solidFill>
              <a:srgbClr val="C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6"/>
          <p:cNvSpPr/>
          <p:nvPr/>
        </p:nvSpPr>
        <p:spPr>
          <a:xfrm>
            <a:off x="7914549" y="1888257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目标</a:t>
            </a:r>
            <a:endParaRPr lang="en-US" sz="1700" dirty="0"/>
          </a:p>
        </p:txBody>
      </p:sp>
      <p:sp>
        <p:nvSpPr>
          <p:cNvPr id="16" name="Shape 7"/>
          <p:cNvSpPr/>
          <p:nvPr/>
        </p:nvSpPr>
        <p:spPr>
          <a:xfrm>
            <a:off x="8280309" y="2427753"/>
            <a:ext cx="0" cy="82296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8"/>
          <p:cNvSpPr/>
          <p:nvPr/>
        </p:nvSpPr>
        <p:spPr>
          <a:xfrm>
            <a:off x="8280309" y="3232425"/>
            <a:ext cx="1463040" cy="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9"/>
          <p:cNvSpPr/>
          <p:nvPr/>
        </p:nvSpPr>
        <p:spPr>
          <a:xfrm>
            <a:off x="9743349" y="3095265"/>
            <a:ext cx="914400" cy="310896"/>
          </a:xfrm>
          <a:prstGeom prst="round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流程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7823109" y="4448577"/>
            <a:ext cx="914400" cy="310896"/>
          </a:xfrm>
          <a:prstGeom prst="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概念</a:t>
            </a:r>
            <a:endParaRPr lang="en-US" sz="1600" dirty="0"/>
          </a:p>
        </p:txBody>
      </p:sp>
      <p:sp>
        <p:nvSpPr>
          <p:cNvPr id="20" name="Shape 11"/>
          <p:cNvSpPr/>
          <p:nvPr/>
        </p:nvSpPr>
        <p:spPr>
          <a:xfrm>
            <a:off x="8280309" y="3232425"/>
            <a:ext cx="0" cy="1170432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类图基础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需求阶段的类图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领域与结构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领域与结构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0430" y="2023957"/>
            <a:ext cx="24688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请假单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00430" y="2408005"/>
            <a:ext cx="246888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altLang="zh-CN" sz="1050" dirty="0">
                <a:solidFill>
                  <a:srgbClr val="1E293B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- 申请编号</a:t>
            </a:r>
            <a:endParaRPr lang="en-US" sz="1050" dirty="0"/>
          </a:p>
          <a:p>
            <a:pPr marL="0" indent="0" algn="l">
              <a:buNone/>
            </a:pPr>
            <a:r>
              <a:rPr lang="en-US" altLang="zh-CN" sz="1050" dirty="0">
                <a:solidFill>
                  <a:srgbClr val="1E293B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- 开始时间</a:t>
            </a:r>
            <a:endParaRPr lang="en-US" sz="1050" dirty="0"/>
          </a:p>
          <a:p>
            <a:pPr marL="0" indent="0" algn="l">
              <a:buNone/>
            </a:pPr>
            <a:r>
              <a:rPr lang="en-US" altLang="zh-CN" sz="1050" dirty="0">
                <a:solidFill>
                  <a:srgbClr val="1E293B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- 结束时间</a:t>
            </a:r>
            <a:endParaRPr lang="en-US" sz="1050" dirty="0"/>
          </a:p>
          <a:p>
            <a:pPr marL="0" indent="0" algn="l">
              <a:buNone/>
            </a:pPr>
            <a:r>
              <a:rPr lang="en-US" altLang="zh-CN" sz="1050" dirty="0">
                <a:solidFill>
                  <a:srgbClr val="1E293B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- 事由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 - 状态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0430" y="3541861"/>
            <a:ext cx="24688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altLang="zh-CN" sz="1050" dirty="0">
                <a:solidFill>
                  <a:srgbClr val="1E293B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+ 提交()</a:t>
            </a:r>
            <a:endParaRPr lang="en-US" sz="1050" dirty="0"/>
          </a:p>
          <a:p>
            <a:pPr marL="0" indent="0" algn="l">
              <a:buNone/>
            </a:pPr>
            <a:r>
              <a:rPr lang="en-US" altLang="zh-CN" sz="1050" dirty="0">
                <a:solidFill>
                  <a:srgbClr val="1E293B"/>
                </a:solidFill>
              </a:rPr>
              <a:t>  </a:t>
            </a:r>
            <a:r>
              <a:rPr lang="en-US" sz="1050" dirty="0">
                <a:solidFill>
                  <a:srgbClr val="1E293B"/>
                </a:solidFill>
              </a:rPr>
              <a:t>+ 撤回()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47902" y="4428829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475569"/>
                </a:solidFill>
              </a:rPr>
              <a:t>类名 / 属性 / 操作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917950" y="1804501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需求阶段更关心的关系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100830" y="2435437"/>
            <a:ext cx="10058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289550" y="232570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关联 Association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00830" y="3139525"/>
            <a:ext cx="10058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289550" y="302979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依赖 Dependency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00830" y="3843613"/>
            <a:ext cx="10058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987798" y="3733885"/>
            <a:ext cx="164592" cy="164592"/>
          </a:xfrm>
          <a:prstGeom prst="diamond">
            <a:avLst/>
          </a:prstGeom>
          <a:solidFill>
            <a:srgbClr val="FFFFFF"/>
          </a:solidFill>
          <a:ln w="1524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289550" y="3733885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聚合 / 组合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00830" y="4547701"/>
            <a:ext cx="100584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289550" y="4437973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泛化 Generalization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42437" y="1767925"/>
            <a:ext cx="329057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需求分析里要警惕两个误区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75550" y="2252557"/>
            <a:ext cx="38404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把类图画成数据库表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需求阶段先关注业务概念，不要一上来就掉进字段和主键细节。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75550" y="3578437"/>
            <a:ext cx="38404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把服务类塞太多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像 </a:t>
            </a:r>
            <a:r>
              <a:rPr lang="en-US" sz="1350" dirty="0" err="1">
                <a:solidFill>
                  <a:srgbClr val="1E293B"/>
                </a:solidFill>
              </a:rPr>
              <a:t>Service、Controller</a:t>
            </a:r>
            <a:r>
              <a:rPr lang="en-US" sz="1350" dirty="0">
                <a:solidFill>
                  <a:srgbClr val="1E293B"/>
                </a:solidFill>
              </a:rPr>
              <a:t> </a:t>
            </a:r>
            <a:r>
              <a:rPr lang="zh-CN" altLang="en-US" sz="1350" dirty="0">
                <a:solidFill>
                  <a:srgbClr val="1E293B"/>
                </a:solidFill>
              </a:rPr>
              <a:t>等</a:t>
            </a:r>
            <a:r>
              <a:rPr lang="en-US" sz="1350" dirty="0">
                <a:solidFill>
                  <a:srgbClr val="1E293B"/>
                </a:solidFill>
              </a:rPr>
              <a:t>，通常属于设计阶段。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</a:t>
            </a:r>
            <a:r>
              <a:rPr lang="en-US" sz="2800" b="1" dirty="0" err="1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校园服务平台</a:t>
            </a:r>
            <a:r>
              <a:rPr lang="zh-CN" alt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尽量用一个视图把核心概念串起来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领域与结构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领域与结构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27632" y="2532888"/>
            <a:ext cx="0" cy="256032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606040" y="3273552"/>
            <a:ext cx="118872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172200" y="3273552"/>
            <a:ext cx="64008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983480" y="3767328"/>
            <a:ext cx="0" cy="576072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349240" y="3767328"/>
            <a:ext cx="2743200" cy="576072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366760" y="3767328"/>
            <a:ext cx="0" cy="576072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372600" y="4864608"/>
            <a:ext cx="64008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794760" y="4864608"/>
            <a:ext cx="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48822" y="1325880"/>
            <a:ext cx="1600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用户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8822" y="1709928"/>
            <a:ext cx="1600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id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姓名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8822" y="2240280"/>
            <a:ext cx="1600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788920"/>
            <a:ext cx="19659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学生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3172968"/>
            <a:ext cx="1965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学号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班级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19659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94760" y="2331720"/>
            <a:ext cx="23774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服务申请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94760" y="2715768"/>
            <a:ext cx="23774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编号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类型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状态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提交时间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94760" y="3648456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2331720"/>
            <a:ext cx="2560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审批记录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12280" y="2715768"/>
            <a:ext cx="2560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审批结果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意见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审批时间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12280" y="3447288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94760" y="4343400"/>
            <a:ext cx="23774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报修申请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794760" y="472744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地点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故障描述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94760" y="5257800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12280" y="4343400"/>
            <a:ext cx="256032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请假申请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12280" y="472744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时间范围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原因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12280" y="5257800"/>
            <a:ext cx="25603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12680" y="4343400"/>
            <a:ext cx="178308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通知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012680" y="472744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渠道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发送状态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12680" y="5257800"/>
            <a:ext cx="1783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417320" y="4343400"/>
            <a:ext cx="182880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附件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417320" y="4727448"/>
            <a:ext cx="1828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文件名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- 类型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417320" y="5257800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txBody>
          <a:bodyPr wrap="square" lIns="889" tIns="889" rIns="889" bIns="889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14582" y="235000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dirty="0">
                <a:solidFill>
                  <a:srgbClr val="94A3B8"/>
                </a:solidFill>
              </a:rPr>
              <a:t>泛化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2880360" y="3063240"/>
            <a:ext cx="1828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1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3337560" y="3063240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0..*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6606530" y="3054098"/>
            <a:ext cx="1371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1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6240770" y="3054098"/>
            <a:ext cx="320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475569"/>
                </a:solidFill>
              </a:rPr>
              <a:t>0..*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3840480" y="557784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75569"/>
                </a:solidFill>
              </a:rPr>
              <a:t>服务申请的两种典型特化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7223760" y="557784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475569"/>
                </a:solidFill>
              </a:rPr>
              <a:t>通知与附件是跨用例常见的共性概念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状态图看对象生命期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当对象的行为强烈依赖其当前状态时，状态图很有价值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领域与结构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领域与结构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79263" y="1508718"/>
            <a:ext cx="32586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哪些对象值得优先画状态图？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06695" y="1929342"/>
            <a:ext cx="3063240" cy="8778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状态多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例如工单、订单、申请单、合同。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06695" y="3026622"/>
            <a:ext cx="3063240" cy="8778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事件驱动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状态转换由提交、审批、取消、完成等事件触发。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06695" y="4123902"/>
            <a:ext cx="3063240" cy="8778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规则依赖状态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不同状态下，允许的动作和权限不同。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0" y="2267712"/>
            <a:ext cx="1280160" cy="457200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已创建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7360920" y="2267712"/>
            <a:ext cx="1463040" cy="457200"/>
          </a:xfrm>
          <a:prstGeom prst="roundRect">
            <a:avLst/>
          </a:prstGeom>
          <a:solidFill>
            <a:srgbClr val="F1FBF8"/>
          </a:solidFill>
          <a:ln w="15240">
            <a:solidFill>
              <a:srgbClr val="10B98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待审批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9464040" y="2267712"/>
            <a:ext cx="1463040" cy="457200"/>
          </a:xfrm>
          <a:prstGeom prst="round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已完成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360920" y="3767328"/>
            <a:ext cx="1463040" cy="45720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F444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已驳回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5943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823960" y="2496312"/>
            <a:ext cx="64008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092440" y="2743200"/>
            <a:ext cx="0" cy="1024128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835116" y="224027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提交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915386" y="224027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通过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38718" y="314555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驳回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5029200"/>
            <a:ext cx="6309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02A43"/>
                </a:solidFill>
              </a:rPr>
              <a:t>状态图回答的不是“页面顺序”，</a:t>
            </a:r>
            <a:r>
              <a:rPr lang="en-US" sz="1520" b="1" dirty="0" err="1">
                <a:solidFill>
                  <a:srgbClr val="102A43"/>
                </a:solidFill>
              </a:rPr>
              <a:t>而是“对象在什么条件下切换到什么状态</a:t>
            </a:r>
            <a:r>
              <a:rPr lang="en-US" sz="1520" b="1" dirty="0">
                <a:solidFill>
                  <a:srgbClr val="102A43"/>
                </a:solidFill>
              </a:rPr>
              <a:t>”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工单状态变化图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状态图常常能帮助产品、开发和测试同时对齐规则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领域与结构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领域与结构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70432" y="2834640"/>
            <a:ext cx="704088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154680" y="2834640"/>
            <a:ext cx="82296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440680" y="2834640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818120" y="2834640"/>
            <a:ext cx="9144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086600" y="3108960"/>
            <a:ext cx="0" cy="105156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646920" y="3108960"/>
            <a:ext cx="0" cy="105156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086600" y="4617720"/>
            <a:ext cx="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60120" y="2743200"/>
            <a:ext cx="182880" cy="1828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874520" y="2514600"/>
            <a:ext cx="1280160" cy="548640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已创建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3977640" y="2514600"/>
            <a:ext cx="1463040" cy="548640"/>
          </a:xfrm>
          <a:prstGeom prst="roundRect">
            <a:avLst/>
          </a:prstGeom>
          <a:solidFill>
            <a:srgbClr val="F1FBF8"/>
          </a:solidFill>
          <a:ln w="15240">
            <a:solidFill>
              <a:srgbClr val="10B98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待受理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6355080" y="2514600"/>
            <a:ext cx="1463040" cy="548640"/>
          </a:xfrm>
          <a:prstGeom prst="roundRect">
            <a:avLst/>
          </a:prstGeom>
          <a:solidFill>
            <a:srgbClr val="EEF5FF"/>
          </a:solidFill>
          <a:ln w="1524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处理中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8732520" y="2514600"/>
            <a:ext cx="1645920" cy="548640"/>
          </a:xfrm>
          <a:prstGeom prst="roundRect">
            <a:avLst/>
          </a:prstGeom>
          <a:solidFill>
            <a:srgbClr val="FFF7E6"/>
          </a:solidFill>
          <a:ln w="15240"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待确认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6355080" y="4160520"/>
            <a:ext cx="1463040" cy="5486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EF444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已取消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8823960" y="4160520"/>
            <a:ext cx="1645920" cy="548640"/>
          </a:xfrm>
          <a:prstGeom prst="roundRect">
            <a:avLst/>
          </a:prstGeom>
          <a:solidFill>
            <a:srgbClr val="F1FBF8"/>
          </a:solidFill>
          <a:ln w="15240">
            <a:solidFill>
              <a:srgbClr val="10B98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E293B"/>
                </a:solidFill>
              </a:rPr>
              <a:t>已完成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3215062" y="252371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</a:rPr>
              <a:t>提交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487796" y="252373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</a:rPr>
              <a:t>受理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7861235" y="252373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</a:rPr>
              <a:t>处理完成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9281132" y="3438111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</a:rPr>
              <a:t>用户确认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565392" y="3657600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</a:rPr>
              <a:t>用户撤销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9144000" y="365760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475569"/>
                </a:solidFill>
              </a:rPr>
              <a:t>超时自动关闭</a:t>
            </a:r>
            <a:endParaRPr lang="en-US" sz="9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D7F8FF"/>
          </a:solidFill>
          <a:ln>
            <a:solidFill>
              <a:srgbClr val="D7F8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领域与结构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3550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D2E8"/>
                </a:solidFill>
              </a:rPr>
              <a:t>领域与结构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2E8"/>
                </a:solidFill>
              </a:rPr>
              <a:t>24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417320" cy="27432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互动 3/5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62763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以下对象里，哪个最值得优先画状态图？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A. 系统 Logo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44768" y="276148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B. 工单 / 订单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22452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C. 页面背景色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44768" y="422452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D. 菜单边距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6DCF6"/>
                </a:solidFill>
              </a:rPr>
              <a:t>先请大家选，再一起解释为什么。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828800" cy="100584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7304B"/>
                </a:solidFill>
              </a:rPr>
              <a:t>04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49808" y="2331720"/>
            <a:ext cx="5029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从需求走向架构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8096" y="2999232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7F8"/>
                </a:solidFill>
              </a:rPr>
              <a:t>需求模型不是终点，它会继续影响设计、测试和协作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3048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86384" y="3968496"/>
            <a:ext cx="4389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C3E1"/>
                </a:solidFill>
              </a:rPr>
              <a:t>把图当作讨论工具，而不是作业模板</a:t>
            </a:r>
            <a:endParaRPr lang="en-US" sz="1150" dirty="0"/>
          </a:p>
        </p:txBody>
      </p:sp>
      <p:sp>
        <p:nvSpPr>
          <p:cNvPr id="21" name="Shape 5"/>
          <p:cNvSpPr/>
          <p:nvPr/>
        </p:nvSpPr>
        <p:spPr>
          <a:xfrm>
            <a:off x="6908709" y="1586505"/>
            <a:ext cx="2743200" cy="841248"/>
          </a:xfrm>
          <a:prstGeom prst="ellipse">
            <a:avLst/>
          </a:prstGeom>
          <a:solidFill>
            <a:srgbClr val="C4E6FF">
              <a:alpha val="0"/>
            </a:srgbClr>
          </a:solidFill>
          <a:ln w="25400">
            <a:solidFill>
              <a:srgbClr val="C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6"/>
          <p:cNvSpPr/>
          <p:nvPr/>
        </p:nvSpPr>
        <p:spPr>
          <a:xfrm>
            <a:off x="7914549" y="1888257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目标</a:t>
            </a:r>
            <a:endParaRPr lang="en-US" sz="1700" dirty="0"/>
          </a:p>
        </p:txBody>
      </p:sp>
      <p:sp>
        <p:nvSpPr>
          <p:cNvPr id="23" name="Shape 7"/>
          <p:cNvSpPr/>
          <p:nvPr/>
        </p:nvSpPr>
        <p:spPr>
          <a:xfrm>
            <a:off x="8280309" y="2427753"/>
            <a:ext cx="0" cy="82296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8"/>
          <p:cNvSpPr/>
          <p:nvPr/>
        </p:nvSpPr>
        <p:spPr>
          <a:xfrm>
            <a:off x="8280309" y="3232425"/>
            <a:ext cx="1463040" cy="0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9"/>
          <p:cNvSpPr/>
          <p:nvPr/>
        </p:nvSpPr>
        <p:spPr>
          <a:xfrm>
            <a:off x="9743349" y="3095265"/>
            <a:ext cx="914400" cy="310896"/>
          </a:xfrm>
          <a:prstGeom prst="round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流程</a:t>
            </a:r>
            <a:endParaRPr lang="en-US" sz="1600" dirty="0"/>
          </a:p>
        </p:txBody>
      </p:sp>
      <p:sp>
        <p:nvSpPr>
          <p:cNvPr id="26" name="Text 10"/>
          <p:cNvSpPr/>
          <p:nvPr/>
        </p:nvSpPr>
        <p:spPr>
          <a:xfrm>
            <a:off x="7823109" y="4448577"/>
            <a:ext cx="914400" cy="310896"/>
          </a:xfrm>
          <a:prstGeom prst="rect">
            <a:avLst/>
          </a:prstGeom>
          <a:solidFill>
            <a:srgbClr val="16324C">
              <a:alpha val="82000"/>
            </a:srgbClr>
          </a:solidFill>
          <a:ln w="15240">
            <a:solidFill>
              <a:srgbClr val="8CCFFF">
                <a:alpha val="7200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概念</a:t>
            </a:r>
            <a:endParaRPr lang="en-US" sz="1600" dirty="0"/>
          </a:p>
        </p:txBody>
      </p:sp>
      <p:sp>
        <p:nvSpPr>
          <p:cNvPr id="27" name="Shape 11"/>
          <p:cNvSpPr/>
          <p:nvPr/>
        </p:nvSpPr>
        <p:spPr>
          <a:xfrm>
            <a:off x="8280309" y="3232425"/>
            <a:ext cx="0" cy="1170432"/>
          </a:xfrm>
          <a:prstGeom prst="line">
            <a:avLst/>
          </a:prstGeom>
          <a:noFill/>
          <a:ln w="17780">
            <a:solidFill>
              <a:srgbClr val="C4E6FF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组件图与部署图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需求模型进一步落地时，会自然过渡到模块与运行环境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79" y="1207007"/>
            <a:ext cx="3760025" cy="27431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组件视角：系统由哪些模块组成？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16459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小程序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69848" y="1847088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069848" y="2020824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069848" y="1911096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69848" y="2084832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063240" y="1737360"/>
            <a:ext cx="16459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Web端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72968" y="1847088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172968" y="2020824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172968" y="1911096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172968" y="2084832"/>
            <a:ext cx="164592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011680" y="2834640"/>
            <a:ext cx="1783080" cy="603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API网关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21408" y="2944368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121408" y="3118104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121408" y="3008376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2121408" y="3182112"/>
            <a:ext cx="164592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68680" y="4069080"/>
            <a:ext cx="187452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认证服务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8408" y="4178808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978408" y="4352544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78408" y="4242816"/>
            <a:ext cx="16459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978408" y="4416552"/>
            <a:ext cx="16459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971800" y="4069080"/>
            <a:ext cx="187452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5CF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工作流服务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81528" y="4178808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3081528" y="4352544"/>
            <a:ext cx="164592" cy="128016"/>
          </a:xfrm>
          <a:prstGeom prst="rect">
            <a:avLst/>
          </a:prstGeom>
          <a:solidFill>
            <a:srgbClr val="EAF2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081528" y="4242816"/>
            <a:ext cx="164592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081528" y="4416552"/>
            <a:ext cx="164592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2551648" y="5166360"/>
            <a:ext cx="187452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B6D4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消息服务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783080" y="2304288"/>
            <a:ext cx="1097280" cy="530352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 flipH="1">
            <a:off x="3488908" y="2276856"/>
            <a:ext cx="168691" cy="586162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2369557" y="3429000"/>
            <a:ext cx="0" cy="630936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3337560" y="3429000"/>
            <a:ext cx="320040" cy="6400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3904488" y="4690872"/>
            <a:ext cx="0" cy="475488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6035040" y="1097280"/>
            <a:ext cx="0" cy="5303520"/>
          </a:xfrm>
          <a:prstGeom prst="line">
            <a:avLst/>
          </a:prstGeom>
          <a:noFill/>
          <a:ln w="19050">
            <a:solidFill>
              <a:srgbClr val="D7E0E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446519" y="1207007"/>
            <a:ext cx="4023351" cy="274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部署视角：这些模块运行在哪里？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537960" y="1783080"/>
            <a:ext cx="1600200" cy="685800"/>
          </a:xfrm>
          <a:prstGeom prst="rect">
            <a:avLst/>
          </a:prstGeom>
          <a:solidFill>
            <a:srgbClr val="F8FBFF"/>
          </a:solidFill>
          <a:ln w="15240">
            <a:solidFill>
              <a:srgbClr val="1F3A5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手机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647688" y="1801368"/>
            <a:ext cx="13807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641080" y="1783080"/>
            <a:ext cx="1783080" cy="685800"/>
          </a:xfrm>
          <a:prstGeom prst="rect">
            <a:avLst/>
          </a:prstGeom>
          <a:solidFill>
            <a:srgbClr val="F8FBFF"/>
          </a:solidFill>
          <a:ln w="15240">
            <a:solidFill>
              <a:srgbClr val="1F3A5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应用服务器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750808" y="180136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641080" y="3657600"/>
            <a:ext cx="1783080" cy="685800"/>
          </a:xfrm>
          <a:prstGeom prst="rect">
            <a:avLst/>
          </a:prstGeom>
          <a:solidFill>
            <a:srgbClr val="F8FBFF"/>
          </a:solidFill>
          <a:ln w="15240">
            <a:solidFill>
              <a:srgbClr val="1F3A5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数据库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750808" y="3675888"/>
            <a:ext cx="156362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607040" y="2569464"/>
            <a:ext cx="1005840" cy="777240"/>
          </a:xfrm>
          <a:prstGeom prst="rect">
            <a:avLst/>
          </a:prstGeom>
          <a:solidFill>
            <a:srgbClr val="F8FBFF"/>
          </a:solidFill>
          <a:ln w="15240">
            <a:solidFill>
              <a:srgbClr val="1F3A5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</a:rPr>
              <a:t>短信网关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10716768" y="2761488"/>
            <a:ext cx="78638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38160" y="2121408"/>
            <a:ext cx="50292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9528048" y="2468880"/>
            <a:ext cx="0" cy="118872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9528048" y="2944368"/>
            <a:ext cx="1078992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183880" y="190195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63" name="Text 61"/>
          <p:cNvSpPr/>
          <p:nvPr/>
        </p:nvSpPr>
        <p:spPr>
          <a:xfrm>
            <a:off x="9646920" y="2834640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10469880" y="277063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需求如何一路追踪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从业务目标到测试场景，模型之间最好能对得上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业务目标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2578608"/>
            <a:ext cx="274320" cy="685800"/>
          </a:xfrm>
          <a:prstGeom prst="line">
            <a:avLst/>
          </a:prstGeom>
          <a:noFill/>
          <a:ln w="2032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468880" y="283464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B82F6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需求条目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V="1">
            <a:off x="3794760" y="2560320"/>
            <a:ext cx="274320" cy="521208"/>
          </a:xfrm>
          <a:prstGeom prst="line">
            <a:avLst/>
          </a:prstGeom>
          <a:noFill/>
          <a:ln w="2032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069080" y="233172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B981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用例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2578608"/>
            <a:ext cx="274320" cy="685800"/>
          </a:xfrm>
          <a:prstGeom prst="line">
            <a:avLst/>
          </a:prstGeom>
          <a:noFill/>
          <a:ln w="2032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669280" y="283464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B5CF6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活动/时序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6995160" y="2560320"/>
            <a:ext cx="274320" cy="521208"/>
          </a:xfrm>
          <a:prstGeom prst="line">
            <a:avLst/>
          </a:prstGeom>
          <a:noFill/>
          <a:ln w="2032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269480" y="233172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6B6D4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领域模型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2578608"/>
            <a:ext cx="274320" cy="685800"/>
          </a:xfrm>
          <a:prstGeom prst="line">
            <a:avLst/>
          </a:prstGeom>
          <a:noFill/>
          <a:ln w="2032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869680" y="283464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组件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 flipV="1">
            <a:off x="10222361" y="2578607"/>
            <a:ext cx="274320" cy="493775"/>
          </a:xfrm>
          <a:prstGeom prst="line">
            <a:avLst/>
          </a:prstGeom>
          <a:noFill/>
          <a:ln w="20320">
            <a:solidFill>
              <a:srgbClr val="8AA3BC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469880" y="2331720"/>
            <a:ext cx="1325880" cy="49377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验收场景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11704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示例串联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96112" y="4434840"/>
            <a:ext cx="10698480" cy="987552"/>
          </a:xfrm>
          <a:prstGeom prst="roundRect">
            <a:avLst/>
          </a:prstGeom>
          <a:solidFill>
            <a:srgbClr val="F8FBFF"/>
          </a:solidFill>
          <a:ln w="13970">
            <a:solidFill>
              <a:srgbClr val="D7E0EA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“学生请假要减少等待时间” → “支持分级审批与自动通知” → “提交请假申请” → “审批流程活动图 / 提交通知时序图” → “请假申请、审批记录、通知” → “工作流服务” → “审批通过后 1 分钟内收到通知”。</a:t>
            </a:r>
            <a:endParaRPr lang="en-US" sz="14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D7F8FF"/>
          </a:solidFill>
          <a:ln>
            <a:solidFill>
              <a:srgbClr val="D7F8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3550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D2E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2E8"/>
                </a:solidFill>
              </a:rPr>
              <a:t>28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417320" cy="27432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互动 4/5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62763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</a:rPr>
              <a:t>以下哪个元素不属于部署图？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A. </a:t>
            </a:r>
            <a:r>
              <a:rPr lang="zh-CN" altLang="en-US" sz="1700" b="1" dirty="0">
                <a:solidFill>
                  <a:srgbClr val="FFFFFF"/>
                </a:solidFill>
                <a:latin typeface="Noto Sans CJK SC (正文)"/>
              </a:rPr>
              <a:t>节点（</a:t>
            </a:r>
            <a:r>
              <a:rPr lang="en-US" sz="1700" b="1" dirty="0">
                <a:solidFill>
                  <a:srgbClr val="FFFFFF"/>
                </a:solidFill>
                <a:latin typeface="Noto Sans CJK SC (正文)"/>
              </a:rPr>
              <a:t>Node）</a:t>
            </a:r>
            <a:endParaRPr lang="en-US" sz="1700" dirty="0">
              <a:latin typeface="Noto Sans CJK SC (正文)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44768" y="276148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B.</a:t>
            </a:r>
            <a:r>
              <a:rPr lang="zh-CN" altLang="en-US" sz="1700" b="1" dirty="0">
                <a:solidFill>
                  <a:srgbClr val="FFFFFF"/>
                </a:solidFill>
              </a:rPr>
              <a:t>组件（</a:t>
            </a:r>
            <a:r>
              <a:rPr lang="en-US" sz="1700" b="1" dirty="0">
                <a:solidFill>
                  <a:srgbClr val="FFFFFF"/>
                </a:solidFill>
              </a:rPr>
              <a:t>Component）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22452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C.</a:t>
            </a:r>
            <a:r>
              <a:rPr lang="zh-CN" altLang="en-US" sz="1700" b="1" dirty="0">
                <a:solidFill>
                  <a:srgbClr val="FFFFFF"/>
                </a:solidFill>
              </a:rPr>
              <a:t>类（</a:t>
            </a:r>
            <a:r>
              <a:rPr lang="en-US" sz="1700" b="1" dirty="0">
                <a:solidFill>
                  <a:srgbClr val="FFFFFF"/>
                </a:solidFill>
              </a:rPr>
              <a:t>Class）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44768" y="422452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D.</a:t>
            </a:r>
            <a:r>
              <a:rPr lang="zh-CN" altLang="en-US" sz="1700" b="1" dirty="0">
                <a:solidFill>
                  <a:srgbClr val="FFFFFF"/>
                </a:solidFill>
              </a:rPr>
              <a:t>设备（</a:t>
            </a:r>
            <a:r>
              <a:rPr lang="en-US" sz="1700" b="1" dirty="0">
                <a:solidFill>
                  <a:srgbClr val="FFFFFF"/>
                </a:solidFill>
              </a:rPr>
              <a:t>Device）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6DCF6"/>
                </a:solidFill>
              </a:rPr>
              <a:t>先请大家选，再一起解释为什么。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常见建模误区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很多问题不是技术难，而是模型把讨论带偏了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29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16916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93B"/>
                </a:solidFill>
              </a:rPr>
              <a:t>坏模型的信号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2167128"/>
            <a:ext cx="45720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4444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把界面动作当用例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“点击按钮”“进入页面”并不是业务目标。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144768" y="2167128"/>
            <a:ext cx="45720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一张图想解释一切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边界、流程、对象、部署最好分图表达。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96112" y="3767328"/>
            <a:ext cx="45720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F4444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箭头很多但语义不清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关系线必须说明到底是依赖、关联还是泛化。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144768" y="3767328"/>
            <a:ext cx="45720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命名模糊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“处理信息”“管理数据”这类词不利于评审。</a:t>
            </a:r>
            <a:endParaRPr lang="en-US" sz="14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UML 与敏捷并不冲突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关键不在于“要不要 UML”，而在于“多重、多轻、何时用”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50749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重文档式做法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试图把所有图一次性画全，图很多，但很难随着迭代快速更新。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0" y="1645920"/>
            <a:ext cx="50749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轻量建模式做法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围绕当前迭代只保留最需要的几张图，用来澄清风险、对齐边界、支撑评审。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1" y="3291840"/>
            <a:ext cx="377512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和其他表达方式怎么配合？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1463040" cy="384048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0E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</a:rPr>
              <a:t>用户故事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42032" y="3703320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475569"/>
                </a:solidFill>
              </a:rPr>
              <a:t>回答“为什么做、对谁有价值”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14400" y="4270248"/>
            <a:ext cx="146304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0E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</a:rPr>
              <a:t>UML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542032" y="4270248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475569"/>
                </a:solidFill>
              </a:rPr>
              <a:t>回答“系统边界、行为和结构是什么”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14400" y="4837176"/>
            <a:ext cx="1463040" cy="384048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D7E0E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</a:rPr>
              <a:t>BPMN/流程图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2542032" y="4837176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475569"/>
                </a:solidFill>
              </a:rPr>
              <a:t>回答“跨岗位业务流程如何流转”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914400" y="5404104"/>
            <a:ext cx="1463040" cy="38404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0E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E293B"/>
                </a:solidFill>
              </a:rPr>
              <a:t>原型/Wireframe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2542032" y="5404104"/>
            <a:ext cx="36576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475569"/>
                </a:solidFill>
              </a:rPr>
              <a:t>回答“界面大概怎么交互”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4709160" cy="208481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敏捷里的一个实用原则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</a:rPr>
              <a:t>只在“口头说不清、评审风险大、后续实现容易分歧”的地方补 UML。这样模型既不会太重，又能发挥最大价值。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工具与协作建议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8096" y="713232"/>
            <a:ext cx="6675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比起“用什么画”，更重要的是团队如何持续更新与评审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31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建议按三步走：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1755648"/>
            <a:ext cx="3154680" cy="457200"/>
          </a:xfrm>
          <a:prstGeom prst="roundRect">
            <a:avLst/>
          </a:prstGeom>
          <a:solidFill>
            <a:srgbClr val="EEF5FF"/>
          </a:solidFill>
          <a:ln w="16510">
            <a:solidFill>
              <a:srgbClr val="3B82F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1. 先共同讨论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395728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475569"/>
                </a:solidFill>
              </a:rPr>
              <a:t>白板 / 便利贴 / 会议草图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1024128" y="28346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先把边界和流程说通，不急着追求符号标准化。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4617720" y="1755648"/>
            <a:ext cx="3154680" cy="457200"/>
          </a:xfrm>
          <a:prstGeom prst="roundRect">
            <a:avLst/>
          </a:prstGeom>
          <a:solidFill>
            <a:srgbClr val="F1FBF8"/>
          </a:solidFill>
          <a:ln w="16510">
            <a:solidFill>
              <a:srgbClr val="10B98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2. 再形成正式图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2395728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475569"/>
                </a:solidFill>
              </a:rPr>
              <a:t>draw.io / StarUML / Visio / PlantUML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727448" y="28346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把需要沉淀和复用的内容整理成可评审模型。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321040" y="1755648"/>
            <a:ext cx="3154680" cy="457200"/>
          </a:xfrm>
          <a:prstGeom prst="roundRect">
            <a:avLst/>
          </a:prstGeom>
          <a:solidFill>
            <a:srgbClr val="FFF7E6"/>
          </a:solidFill>
          <a:ln w="1651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3. 最后纳入版本管理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395728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475569"/>
                </a:solidFill>
              </a:rPr>
              <a:t>Wiki / Git / 评审记录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8430768" y="283464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图和文字一起维护，变更时保留追踪链。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32688" y="4297680"/>
            <a:ext cx="329819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协作时尤其建议统一 4 件事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" y="4681728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• 命名口径：业务对象和动作尽量统一术语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960120" y="4965192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• 图文配套：重要模型旁边补上规则与例外</a:t>
            </a:r>
            <a:endParaRPr lang="en-US" sz="1310" dirty="0"/>
          </a:p>
        </p:txBody>
      </p:sp>
      <p:sp>
        <p:nvSpPr>
          <p:cNvPr id="22" name="Text 20"/>
          <p:cNvSpPr/>
          <p:nvPr/>
        </p:nvSpPr>
        <p:spPr>
          <a:xfrm>
            <a:off x="960120" y="5248656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• 控制颗粒度：一张图尽量只回答一个核心问题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960120" y="5532120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10" dirty="0">
                <a:solidFill>
                  <a:srgbClr val="1E293B"/>
                </a:solidFill>
              </a:rPr>
              <a:t>• 保持可更新：需求改了，图也要同步，不让模型变成“历史文物”</a:t>
            </a:r>
            <a:endParaRPr lang="en-US" sz="13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互动提问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D7F8FF"/>
          </a:solidFill>
          <a:ln>
            <a:solidFill>
              <a:srgbClr val="D7F8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从需求走向架构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3550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3D2E8"/>
                </a:solidFill>
              </a:rPr>
              <a:t>从需求走向架构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2E8"/>
                </a:solidFill>
              </a:rPr>
              <a:t>32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417320" cy="274320"/>
          </a:xfrm>
          <a:prstGeom prst="roundRect">
            <a:avLst/>
          </a:prstGeom>
          <a:solidFill>
            <a:srgbClr val="E8F4FF"/>
          </a:solidFill>
          <a:ln>
            <a:solidFill>
              <a:srgbClr val="E8F4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互动 5/5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62763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</a:rPr>
              <a:t>“最版本管理” 阶段，不建议使用以下哪种方式维护？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A. Git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44768" y="276148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B. Wiki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4224528"/>
            <a:ext cx="5074920" cy="1051560"/>
          </a:xfrm>
          <a:prstGeom prst="roundRect">
            <a:avLst/>
          </a:prstGeom>
          <a:solidFill>
            <a:srgbClr val="133450">
              <a:alpha val="92000"/>
            </a:srgbClr>
          </a:solidFill>
          <a:ln w="17780">
            <a:solidFill>
              <a:srgbClr val="3AA2FF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C. </a:t>
            </a:r>
            <a:r>
              <a:rPr lang="en-US" sz="1700" b="1" dirty="0" err="1">
                <a:solidFill>
                  <a:srgbClr val="FFFFFF"/>
                </a:solidFill>
              </a:rPr>
              <a:t>Github</a:t>
            </a:r>
            <a:endParaRPr lang="en-US" sz="1700" b="1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44768" y="4224528"/>
            <a:ext cx="5074920" cy="1051560"/>
          </a:xfrm>
          <a:prstGeom prst="roundRect">
            <a:avLst/>
          </a:prstGeom>
          <a:solidFill>
            <a:srgbClr val="112C44">
              <a:alpha val="92000"/>
            </a:srgbClr>
          </a:solidFill>
          <a:ln w="17780">
            <a:solidFill>
              <a:srgbClr val="2AD2DD">
                <a:alpha val="65000"/>
              </a:srgbClr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D.</a:t>
            </a:r>
            <a:r>
              <a:rPr lang="zh-CN" altLang="en-US" sz="1700" b="1" dirty="0">
                <a:solidFill>
                  <a:srgbClr val="FFFFFF"/>
                </a:solidFill>
              </a:rPr>
              <a:t>本地单机文件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56875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6DCF6"/>
                </a:solidFill>
              </a:rPr>
              <a:t>先请大家选，再一起解释为什么。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总结与 Q&amp;A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30384" y="329184"/>
            <a:ext cx="1783080" cy="310896"/>
          </a:xfrm>
          <a:prstGeom prst="roundRect">
            <a:avLst/>
          </a:prstGeom>
          <a:solidFill>
            <a:srgbClr val="E4EEFF"/>
          </a:solidFill>
          <a:ln>
            <a:solidFill>
              <a:srgbClr val="E4EEF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</a:rPr>
              <a:t>总结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0352" y="6437376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总结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18520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33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2070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658368" cy="658368"/>
          </a:xfrm>
          <a:prstGeom prst="ellipse">
            <a:avLst/>
          </a:prstGeom>
          <a:solidFill>
            <a:srgbClr val="3B82F6"/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1810512"/>
            <a:ext cx="42976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先边界，后细节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用例图先把“谁在用、做什么、边界在哪”讲清楚。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355080" y="182880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810512"/>
            <a:ext cx="42976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选对图比画得多更重要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流程问题找活动图，协作问题找时序图，概念问题找类图。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822192"/>
            <a:ext cx="42976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图和文字要配套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业务规则、阈值和例外流程，往往需要文字补充。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355080" y="3840480"/>
            <a:ext cx="658368" cy="658368"/>
          </a:xfrm>
          <a:prstGeom prst="ellipse">
            <a:avLst/>
          </a:prstGeom>
          <a:solidFill>
            <a:srgbClr val="8B5CF6"/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23760" y="3822192"/>
            <a:ext cx="42976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需求模型要能追踪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E293B"/>
                </a:solidFill>
              </a:rPr>
              <a:t>最好能一路连到设计与测试，而不是停在一张好看的图上。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3840480" y="58978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A43"/>
                </a:solidFill>
              </a:rPr>
              <a:t>谢谢大家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5AA3F-26C9-D111-8211-D603D15C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A2B5AA-7CDA-7DAF-575C-EAA9BF2F59B1}"/>
              </a:ext>
            </a:extLst>
          </p:cNvPr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6DB73F-CE57-9357-6D26-D9DAD4FBC70C}"/>
              </a:ext>
            </a:extLst>
          </p:cNvPr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5A3257-C8E7-D0AB-7099-372394A729DD}"/>
              </a:ext>
            </a:extLst>
          </p:cNvPr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3D9F9F-CA06-8F96-78A8-AB4B8555FAF5}"/>
              </a:ext>
            </a:extLst>
          </p:cNvPr>
          <p:cNvSpPr/>
          <p:nvPr/>
        </p:nvSpPr>
        <p:spPr>
          <a:xfrm>
            <a:off x="11011432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34</a:t>
            </a:r>
            <a:endParaRPr lang="en-US" sz="105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ED93A203-B26D-E0EC-6C92-09A7F8738926}"/>
              </a:ext>
            </a:extLst>
          </p:cNvPr>
          <p:cNvSpPr/>
          <p:nvPr/>
        </p:nvSpPr>
        <p:spPr>
          <a:xfrm>
            <a:off x="667512" y="1155407"/>
            <a:ext cx="10892560" cy="4947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E0EA"/>
            </a:solidFill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 wrap="square" lIns="2286" tIns="2286" rIns="2286" bIns="2286" rtlCol="0" anchor="ctr"/>
          <a:lstStyle/>
          <a:p>
            <a:r>
              <a:rPr lang="en-US" altLang="zh-CN" sz="1420" dirty="0"/>
              <a:t>[1]</a:t>
            </a:r>
            <a:r>
              <a:rPr lang="zh-CN" altLang="en-US" sz="1420" dirty="0"/>
              <a:t>王瑞金</a:t>
            </a:r>
            <a:r>
              <a:rPr lang="en-US" altLang="zh-CN" sz="1420" dirty="0"/>
              <a:t>,</a:t>
            </a:r>
            <a:r>
              <a:rPr lang="zh-CN" altLang="en-US" sz="1420" dirty="0"/>
              <a:t>段会川</a:t>
            </a:r>
            <a:r>
              <a:rPr lang="en-US" altLang="zh-CN" sz="1420" dirty="0"/>
              <a:t>,Martin </a:t>
            </a:r>
            <a:r>
              <a:rPr lang="en-US" altLang="zh-CN" sz="1420" dirty="0" err="1"/>
              <a:t>Gogolla</a:t>
            </a:r>
            <a:r>
              <a:rPr lang="en-US" altLang="zh-CN" sz="1420" dirty="0"/>
              <a:t>. </a:t>
            </a:r>
            <a:r>
              <a:rPr lang="zh-CN" altLang="en-US" sz="1420" dirty="0"/>
              <a:t>统一建模语言</a:t>
            </a:r>
            <a:r>
              <a:rPr lang="en-US" altLang="zh-CN" sz="1420" dirty="0"/>
              <a:t>UML</a:t>
            </a:r>
            <a:r>
              <a:rPr lang="zh-CN" altLang="en-US" sz="1420" dirty="0"/>
              <a:t>及其建模实例 </a:t>
            </a:r>
            <a:r>
              <a:rPr lang="en-US" altLang="zh-CN" sz="1420" dirty="0"/>
              <a:t>[J]. </a:t>
            </a:r>
            <a:r>
              <a:rPr lang="zh-CN" altLang="en-US" sz="1420" dirty="0"/>
              <a:t>计算机应用研究</a:t>
            </a:r>
            <a:r>
              <a:rPr lang="en-US" altLang="zh-CN" sz="1420" dirty="0"/>
              <a:t>, 2002, (08): 80-84.</a:t>
            </a:r>
          </a:p>
          <a:p>
            <a:r>
              <a:rPr lang="en-US" altLang="zh-CN" sz="1420" dirty="0"/>
              <a:t>[2]</a:t>
            </a:r>
            <a:r>
              <a:rPr lang="zh-CN" altLang="en-US" sz="1420" dirty="0"/>
              <a:t>鲁博</a:t>
            </a:r>
            <a:r>
              <a:rPr lang="en-US" altLang="zh-CN" sz="1420" dirty="0"/>
              <a:t>,</a:t>
            </a:r>
            <a:r>
              <a:rPr lang="zh-CN" altLang="en-US" sz="1420" dirty="0"/>
              <a:t>柴跃廷</a:t>
            </a:r>
            <a:r>
              <a:rPr lang="en-US" altLang="zh-CN" sz="1420" dirty="0"/>
              <a:t>. </a:t>
            </a:r>
            <a:r>
              <a:rPr lang="zh-CN" altLang="en-US" sz="1420" dirty="0"/>
              <a:t>关于统一建模语言</a:t>
            </a:r>
            <a:r>
              <a:rPr lang="en-US" altLang="zh-CN" sz="1420" dirty="0"/>
              <a:t>——UML [J]. </a:t>
            </a:r>
            <a:r>
              <a:rPr lang="zh-CN" altLang="en-US" sz="1420" dirty="0"/>
              <a:t>计算机工程与科学</a:t>
            </a:r>
            <a:r>
              <a:rPr lang="en-US" altLang="zh-CN" sz="1420" dirty="0"/>
              <a:t>, 2000, (04): 57-60+70.</a:t>
            </a:r>
          </a:p>
          <a:p>
            <a:r>
              <a:rPr lang="en-US" altLang="zh-CN" sz="1420" dirty="0"/>
              <a:t>[3]</a:t>
            </a:r>
            <a:r>
              <a:rPr lang="zh-CN" altLang="en-US" sz="1420" dirty="0"/>
              <a:t>邵维忠</a:t>
            </a:r>
            <a:r>
              <a:rPr lang="en-US" altLang="zh-CN" sz="1420" dirty="0"/>
              <a:t>,</a:t>
            </a:r>
            <a:r>
              <a:rPr lang="zh-CN" altLang="en-US" sz="1420" dirty="0"/>
              <a:t>梅宏</a:t>
            </a:r>
            <a:r>
              <a:rPr lang="en-US" altLang="zh-CN" sz="1420" dirty="0"/>
              <a:t>. </a:t>
            </a:r>
            <a:r>
              <a:rPr lang="zh-CN" altLang="en-US" sz="1420" dirty="0"/>
              <a:t>统一建模语言</a:t>
            </a:r>
            <a:r>
              <a:rPr lang="en-US" altLang="zh-CN" sz="1420" dirty="0"/>
              <a:t>UML</a:t>
            </a:r>
            <a:r>
              <a:rPr lang="zh-CN" altLang="en-US" sz="1420" dirty="0"/>
              <a:t>述评 </a:t>
            </a:r>
            <a:r>
              <a:rPr lang="en-US" altLang="zh-CN" sz="1420" dirty="0"/>
              <a:t>[J]. </a:t>
            </a:r>
            <a:r>
              <a:rPr lang="zh-CN" altLang="en-US" sz="1420" dirty="0"/>
              <a:t>计算机研究与发展</a:t>
            </a:r>
            <a:r>
              <a:rPr lang="en-US" altLang="zh-CN" sz="1420" dirty="0"/>
              <a:t>, 1999, (04): 2-11.</a:t>
            </a:r>
            <a:endParaRPr lang="en-US" sz="1420" dirty="0"/>
          </a:p>
        </p:txBody>
      </p:sp>
    </p:spTree>
    <p:extLst>
      <p:ext uri="{BB962C8B-B14F-4D97-AF65-F5344CB8AC3E}">
        <p14:creationId xmlns:p14="http://schemas.microsoft.com/office/powerpoint/2010/main" val="28614310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18323-FB87-5FC2-6349-06014CA2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F47FE5-3D02-98B2-09E6-51372A8005EB}"/>
              </a:ext>
            </a:extLst>
          </p:cNvPr>
          <p:cNvSpPr/>
          <p:nvPr/>
        </p:nvSpPr>
        <p:spPr>
          <a:xfrm>
            <a:off x="502920" y="310896"/>
            <a:ext cx="164592" cy="493776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CFF243-0526-12F0-25C9-88A73E5D8089}"/>
              </a:ext>
            </a:extLst>
          </p:cNvPr>
          <p:cNvSpPr/>
          <p:nvPr/>
        </p:nvSpPr>
        <p:spPr>
          <a:xfrm>
            <a:off x="749808" y="274320"/>
            <a:ext cx="8138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2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小组分工与评分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D698AD-3FC7-C995-B452-3D896A72A517}"/>
              </a:ext>
            </a:extLst>
          </p:cNvPr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D8E0E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CC80C4-B4D5-3AF3-AAF8-D092C88FFD42}"/>
              </a:ext>
            </a:extLst>
          </p:cNvPr>
          <p:cNvSpPr/>
          <p:nvPr/>
        </p:nvSpPr>
        <p:spPr>
          <a:xfrm>
            <a:off x="11011432" y="640994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94A3B8"/>
                </a:solidFill>
              </a:rPr>
              <a:t>35</a:t>
            </a:r>
            <a:endParaRPr lang="en-US" sz="1050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7F14316A-F6B1-93B4-F55D-F37E63DA2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055006"/>
              </p:ext>
            </p:extLst>
          </p:nvPr>
        </p:nvGraphicFramePr>
        <p:xfrm>
          <a:off x="1357377" y="1615012"/>
          <a:ext cx="9477246" cy="32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465">
                  <a:extLst>
                    <a:ext uri="{9D8B030D-6E8A-4147-A177-3AD203B41FA5}">
                      <a16:colId xmlns:a16="http://schemas.microsoft.com/office/drawing/2014/main" val="3684278021"/>
                    </a:ext>
                  </a:extLst>
                </a:gridCol>
                <a:gridCol w="3677699">
                  <a:extLst>
                    <a:ext uri="{9D8B030D-6E8A-4147-A177-3AD203B41FA5}">
                      <a16:colId xmlns:a16="http://schemas.microsoft.com/office/drawing/2014/main" val="1896533793"/>
                    </a:ext>
                  </a:extLst>
                </a:gridCol>
                <a:gridCol w="3159082">
                  <a:extLst>
                    <a:ext uri="{9D8B030D-6E8A-4147-A177-3AD203B41FA5}">
                      <a16:colId xmlns:a16="http://schemas.microsoft.com/office/drawing/2014/main" val="3816570977"/>
                    </a:ext>
                  </a:extLst>
                </a:gridCol>
              </a:tblGrid>
              <a:tr h="5415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小组成员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评分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361496"/>
                  </a:ext>
                </a:extLst>
              </a:tr>
              <a:tr h="5415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修改优化</a:t>
                      </a:r>
                      <a:r>
                        <a:rPr lang="en-US" altLang="zh-CN" dirty="0"/>
                        <a:t>,</a:t>
                      </a:r>
                      <a:r>
                        <a:rPr lang="zh-CN" altLang="en-US" dirty="0"/>
                        <a:t>汇报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961950"/>
                  </a:ext>
                </a:extLst>
              </a:tr>
              <a:tr h="5415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林永翔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54546"/>
                  </a:ext>
                </a:extLst>
              </a:tr>
              <a:tr h="5415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李烨斌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97.5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5953489"/>
                  </a:ext>
                </a:extLst>
              </a:tr>
              <a:tr h="5415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李子骏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演讲稿编写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65520"/>
                  </a:ext>
                </a:extLst>
              </a:tr>
              <a:tr h="54158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罗树敏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593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929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5264</Words>
  <Application>Microsoft Office PowerPoint</Application>
  <PresentationFormat>宽屏</PresentationFormat>
  <Paragraphs>654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0" baseType="lpstr">
      <vt:lpstr>Noto Sans CJK SC</vt:lpstr>
      <vt:lpstr>Noto Sans CJK SC (正文)</vt:lpstr>
      <vt:lpstr>黑体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UML与软件需求分析</dc:title>
  <dc:subject>UML 与软件需求分析课堂汇报</dc:subject>
  <dc:creator>OpenAI</dc:creator>
  <cp:lastModifiedBy>moil li</cp:lastModifiedBy>
  <cp:revision>6</cp:revision>
  <dcterms:created xsi:type="dcterms:W3CDTF">2026-03-22T11:17:00Z</dcterms:created>
  <dcterms:modified xsi:type="dcterms:W3CDTF">2026-03-24T07:24:04Z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962BAE97F8367D6EB2B6BF69B8E7CDCD_42</vt:lpwstr>
  </property>
  <property fmtid="{D5CDD505-2E9C-101B-9397-08002B2CF9AE}" pid="3" name="KSOProductBuildVer">
    <vt:lpwstr>2052-12.9.0.25853</vt:lpwstr>
  </property>
</Properties>
</file>