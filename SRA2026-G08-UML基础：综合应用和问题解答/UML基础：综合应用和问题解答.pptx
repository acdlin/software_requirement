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1" r:id="rId33"/>
    <p:sldId id="290" r:id="rId34"/>
    <p:sldId id="288" r:id="rId35"/>
    <p:sldId id="289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30EFF4-EE89-4EBF-AA7F-A20DBA9FDDD2}">
  <a:tblStyle styleId="{8A30EFF4-EE89-4EBF-AA7F-A20DBA9FDD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664" autoAdjust="0"/>
  </p:normalViewPr>
  <p:slideViewPr>
    <p:cSldViewPr snapToGrid="0">
      <p:cViewPr varScale="1">
        <p:scale>
          <a:sx n="96" d="100"/>
          <a:sy n="96" d="100"/>
        </p:scale>
        <p:origin x="58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答案：C（部署图）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各选项解析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类图：描述代码层面的类、属性、方法与类之间关联、继承等静态逻辑关系，属于软件逻辑结构，和硬件无关。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 活动图：用来展示业务流程、算法步骤、操作流转，侧重过程行为。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 部署图：专门刻画服务器、硬件设备、节点、物理链路的拓扑分布，描述软硬件在物理机器上的部署位置与连接，符合题干 “硬件物理拓扑”。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 用例图：站在用户视角，描述系统功能、参与者与功能的使用关系，用来梳理需求。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答案：A（状态机图）✅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选项详解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状态机图：专门用来描述单个对象在生命周期内的状态切换、触发条件，题干中订单「待支付→待发货」属于对象状态流转，符合场景。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 部署图：描述硬件设备与程序部署的物理拓扑，和业务状态无关。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 类图：刻画类的结构、属性和类间静态关系，不体现状态变化。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 用例图：梳理用户与系统功能的需求关系，聚焦功能使用，不展示状态流转。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答案：C✅</a:t>
            </a:r>
          </a:p>
          <a:p>
            <a:br>
              <a:rPr lang="zh-CN" altLang="zh-CN" dirty="0"/>
            </a:br>
            <a:endParaRPr lang="zh-CN" altLang="zh-CN" dirty="0"/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选项解析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错误：组合关系生命周期绑定，整体销毁则部分随之销毁，成员不能独立存在（例：公司注销→部门消失）。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 错误：聚合是松散整体 - 部分，整体消亡后部分可独立存活，生命周期不一致（例：班级解散→学生仍存在）。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 正确：组合是强包含关系（同生命周期），聚合是弱包含关系（生命周期独立），组合耦合程度更强。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 错误：聚合：空心菱形；组合：实心菱形，二者图例不一样。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9" name="Google Shape;3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答案：B✅</a:t>
            </a:r>
          </a:p>
          <a:p>
            <a:br>
              <a:rPr lang="zh-CN" altLang="zh-CN" dirty="0"/>
            </a:br>
            <a:endParaRPr lang="zh-CN" altLang="zh-CN" dirty="0"/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解析 &amp; UML 连线区分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B（带空心箭头的虚线）：接口实现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类实现接口时使用，箭头指向接口。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C（带空心箭头的实线）：泛化（继承）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父子类继承关系使用。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A（带实心箭头的实线）：关联（单向关联）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普通类之间单向引用。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D（普通箭头虚线）：依赖关系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临时调用、方法入参依赖场景。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6" name="Google Shape;36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答案：B✅</a:t>
            </a:r>
          </a:p>
          <a:p>
            <a:br>
              <a:rPr lang="zh-CN" altLang="zh-CN" dirty="0"/>
            </a:br>
            <a:endParaRPr lang="zh-CN" altLang="zh-CN" dirty="0"/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选项解析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错误：提前写完全套详尽 UML 是瀑布开发的思路，敏捷拒绝前期堆砌大量文档。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 正确：敏捷推崇草图式 UML，只在关键复杂逻辑处画图沟通，轻量化、随迭代按需绘制，符合敏捷 “轻文档、重沟通” 理念。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 错误：强制每个类都画类图属于重型文档做法，违背敏捷精简原则。</a:t>
            </a:r>
          </a:p>
          <a:p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 错误：敏捷不是完全抛弃 UML，复杂业务仍需要简易 UML 辅助沟通。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3" name="Google Shape;45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8EB47A1B-60E7-A07D-74B4-16B8206DA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1:notes">
            <a:extLst>
              <a:ext uri="{FF2B5EF4-FFF2-40B4-BE49-F238E27FC236}">
                <a16:creationId xmlns:a16="http://schemas.microsoft.com/office/drawing/2014/main" id="{98E9EC44-D57C-7DE4-9D9D-AE7177CB83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1:notes">
            <a:extLst>
              <a:ext uri="{FF2B5EF4-FFF2-40B4-BE49-F238E27FC236}">
                <a16:creationId xmlns:a16="http://schemas.microsoft.com/office/drawing/2014/main" id="{A395C9B6-9117-2AB1-AE25-0B19D6EFFC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3167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8D1086FA-B160-CBC1-B592-9389E9C6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1:notes">
            <a:extLst>
              <a:ext uri="{FF2B5EF4-FFF2-40B4-BE49-F238E27FC236}">
                <a16:creationId xmlns:a16="http://schemas.microsoft.com/office/drawing/2014/main" id="{2FD59310-DFD1-787F-BD1B-87F7BDAB3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1:notes">
            <a:extLst>
              <a:ext uri="{FF2B5EF4-FFF2-40B4-BE49-F238E27FC236}">
                <a16:creationId xmlns:a16="http://schemas.microsoft.com/office/drawing/2014/main" id="{9586117D-D95D-9ED0-C6A5-E26D5C5D7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92689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809750"/>
            <a:ext cx="11049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综合应用实战与常见问题深度解答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571500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UML 基础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552700"/>
            <a:ext cx="11049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G08</a:t>
            </a:r>
            <a:r>
              <a:rPr lang="zh-CN" altLang="en-US" dirty="0">
                <a:solidFill>
                  <a:schemeClr val="bg1"/>
                </a:solidFill>
              </a:rPr>
              <a:t>小组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DA057C-DF41-E44E-C4B8-A81FC51EC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821" y="2190750"/>
            <a:ext cx="5750357" cy="57503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92759"/>
            <a:ext cx="3492400" cy="2377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792759"/>
            <a:ext cx="3492549" cy="2377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792759"/>
            <a:ext cx="3492400" cy="2377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3192809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3025" y="3192809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1325" y="3192809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课程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大纲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3783359"/>
            <a:ext cx="296693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核心回顾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4288184"/>
            <a:ext cx="2825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快速梳理结构图与行为图的关键建模要素。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83025" y="3783359"/>
            <a:ext cx="296708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综合应用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83025" y="4288184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通过电商、物联网案例解析多图协同建模。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61325" y="3783359"/>
            <a:ext cx="296693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疑难解答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61325" y="4288184"/>
            <a:ext cx="2825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针对建模过程中的高频误区提供标准方案。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5524500" y="1771650"/>
            <a:ext cx="11430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295275" y="5715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01. 核心概念回顾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11455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从孤立的图示到统一的建模语言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90812"/>
            <a:ext cx="52387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690812"/>
            <a:ext cx="52387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357187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401955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446722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81800" y="357187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81800" y="401955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81800" y="4467225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结构图 vs 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行为图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971550" y="3090862"/>
            <a:ext cx="466058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静态结构 (Static)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81800" y="3090862"/>
            <a:ext cx="466058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动态行为 (Behavioral)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71550" y="3529012"/>
            <a:ext cx="4438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1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类图 (Class Diagram)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71550" y="3976687"/>
            <a:ext cx="4438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1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对象图 (Object Diagram)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71550" y="4424362"/>
            <a:ext cx="4438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1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部署图 (Deployment Diagram)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81800" y="3529012"/>
            <a:ext cx="4438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1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顺序图 (Sequence Diagram)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781800" y="3976687"/>
            <a:ext cx="4438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1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状态机图 (State Machine)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81800" y="4424362"/>
            <a:ext cx="4438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1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活动图 (Activity Diagram)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4050"/>
            <a:ext cx="110490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857500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3552825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4248150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4943475"/>
            <a:ext cx="102489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随堂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练习</a:t>
            </a: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 01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971550" y="2324100"/>
            <a:ext cx="1076134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Q1: 下面哪种图主要用于描述系统硬件的物理拓扑结构？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5524500" y="1885950"/>
            <a:ext cx="11430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295275" y="57150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02. 综合案例 A：电商系统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222885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从需求获取到订单全生命周期建模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3832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47850"/>
            <a:ext cx="2196256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用例建模：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电商平台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3019425"/>
            <a:ext cx="550068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核心参与者与目标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04825" y="34575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34575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买家：</a:t>
            </a: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 搜索商品、下单支付、评价。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04825" y="39528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39528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系统管理员：</a:t>
            </a: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 管理库存、处理异常订单。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04825" y="4448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44481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支付网关：</a:t>
            </a:r>
            <a:r>
              <a:rPr lang="en-US" sz="15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 外部参与者，处理交易。</a:t>
            </a: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0BA0E5-5473-B27D-8A22-D666A6179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870" y="1866900"/>
            <a:ext cx="5319884" cy="4257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832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4785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静态建模：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领域模型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381750" y="3228975"/>
            <a:ext cx="550068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类与关联关系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381750" y="3667125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通过类图定义系统的“骨架”。核心实体包括：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324600" y="390995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381750" y="3910905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Order (订单)：</a:t>
            </a:r>
            <a:r>
              <a:rPr lang="en-US" sz="135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 包含订单号、状态、总额。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324600" y="418424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381750" y="4185195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OrderItem (订单项)：</a:t>
            </a:r>
            <a:r>
              <a:rPr lang="en-US" sz="135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 与商品关联。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324600" y="445853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381750" y="4459485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关系：</a:t>
            </a:r>
            <a:r>
              <a:rPr lang="en-US" sz="135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 Order 与 OrderItem 是组合关系 (Composition)。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571500" y="446529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动态建模：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结算交互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2928044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描述买家、购物车、订单中心和支付网关之间的实时消息传递。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10733" y="4543425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提交订单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4791075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买家发起请求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3383413" y="4543425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库存预扣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3444180" y="4791075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系统验证存量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256094" y="4543425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创建支付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16860" y="4791075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调用外部接口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9128774" y="4543425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结果确认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9189541" y="4791075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更新订单状态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1672530" y="4124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545210" y="4124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7417891" y="4124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0290571" y="4124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8" name="Google Shape;218;p22"/>
          <p:cNvGraphicFramePr/>
          <p:nvPr>
            <p:extLst>
              <p:ext uri="{D42A27DB-BD31-4B8C-83A1-F6EECF244321}">
                <p14:modId xmlns:p14="http://schemas.microsoft.com/office/powerpoint/2010/main" val="2528686261"/>
              </p:ext>
            </p:extLst>
          </p:nvPr>
        </p:nvGraphicFramePr>
        <p:xfrm>
          <a:off x="571500" y="2805112"/>
          <a:ext cx="11049000" cy="2543200"/>
        </p:xfrm>
        <a:graphic>
          <a:graphicData uri="http://schemas.openxmlformats.org/drawingml/2006/table">
            <a:tbl>
              <a:tblPr firstRow="1" bandRow="1">
                <a:noFill/>
                <a:tableStyleId>{8A30EFF4-EE89-4EBF-AA7F-A20DBA9FDDD2}</a:tableStyleId>
              </a:tblPr>
              <a:tblGrid>
                <a:gridCol w="188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D4B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源状态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D4B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触发事件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D4B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目标状态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D4B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待支付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支付成功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待发货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系统扣减库存并生成物流单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待支付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24小时超时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已取消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释放预扣库存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待收货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确认收货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已完成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更新买家积分与评价权限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9" name="Google Shape;219;p22"/>
          <p:cNvSpPr/>
          <p:nvPr/>
        </p:nvSpPr>
        <p:spPr>
          <a:xfrm>
            <a:off x="571500" y="3462337"/>
            <a:ext cx="188282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2454324" y="3462337"/>
            <a:ext cx="234523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4799558" y="3462337"/>
            <a:ext cx="227349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7073056" y="3462337"/>
            <a:ext cx="454744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71500" y="4095750"/>
            <a:ext cx="18828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2454324" y="4095750"/>
            <a:ext cx="23452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4799558" y="4095750"/>
            <a:ext cx="22734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7073056" y="4095750"/>
            <a:ext cx="45474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571500" y="4714875"/>
            <a:ext cx="18828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2454324" y="4714875"/>
            <a:ext cx="23452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4799558" y="4714875"/>
            <a:ext cx="22734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7073056" y="4714875"/>
            <a:ext cx="45474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71500" y="5334000"/>
            <a:ext cx="188282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2454324" y="5334000"/>
            <a:ext cx="23452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4799558" y="5334000"/>
            <a:ext cx="22734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7073056" y="5334000"/>
            <a:ext cx="45474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状态建模：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订单生命周期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4050"/>
            <a:ext cx="110490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857500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3552825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4248150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4943475"/>
            <a:ext cx="102489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随堂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练习</a:t>
            </a: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 02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971550" y="2324100"/>
            <a:ext cx="1076134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Q2: 在描述订单从“待支付”变为“待发货”的过程时，最适合使用哪种 UML 图？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/>
          <p:nvPr/>
        </p:nvSpPr>
        <p:spPr>
          <a:xfrm>
            <a:off x="5524500" y="1771650"/>
            <a:ext cx="11430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295275" y="5715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03. 综合案例 B：智能家居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571500" y="211455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物联网边缘计算与云端同步建模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5525" y="9525"/>
            <a:ext cx="6076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800100" y="2387054"/>
            <a:ext cx="49606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物联网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571500" y="2387054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571500" y="3491954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分布式架构挑战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571500" y="3739604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在智能家居场景中，模型必须反映物理设备、网关与云服务的部署关系。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571500" y="3983384"/>
            <a:ext cx="4953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Deployment Diagram：</a:t>
            </a: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 明确传感器节点通过 MQTT 协议与网关通信，网关通过 HTTPS 与云端同步。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92759"/>
            <a:ext cx="3492400" cy="2377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792759"/>
            <a:ext cx="3492549" cy="2377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792759"/>
            <a:ext cx="3492400" cy="2377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3192809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3025" y="3192809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1325" y="3192809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业务流程：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自动化联动</a:t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 txBox="1"/>
          <p:nvPr/>
        </p:nvSpPr>
        <p:spPr>
          <a:xfrm>
            <a:off x="904875" y="3783359"/>
            <a:ext cx="296693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触发条件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904875" y="4288184"/>
            <a:ext cx="2825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温湿度传感器上报数据高于设定值。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4683025" y="3783359"/>
            <a:ext cx="296708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逻辑判断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4683025" y="4288184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网关判断当前是否有人在家，选择联动模式。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8461325" y="3783359"/>
            <a:ext cx="296693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执行动作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8461325" y="4288184"/>
            <a:ext cx="2825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开启空调并推送消息到手机 APP。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3832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4785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7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交互建模：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设备配网</a:t>
            </a:r>
            <a:endParaRPr/>
          </a:p>
        </p:txBody>
      </p:sp>
      <p:sp>
        <p:nvSpPr>
          <p:cNvPr id="297" name="Google Shape;297;p27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 txBox="1"/>
          <p:nvPr/>
        </p:nvSpPr>
        <p:spPr>
          <a:xfrm>
            <a:off x="571500" y="3276748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2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通信图 (Communication Diagram)</a:t>
            </a: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 强调对象之间的路径关系。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514350" y="3709124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571500" y="3711029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1. 手机发现新设备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514350" y="3952904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571500" y="3954809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2. 传递 Wi-Fi 凭证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514350" y="4196685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571500" y="4198590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3. 设备向云端注册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514350" y="4440465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571500" y="4442370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4. 云端下发绑定令牌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4050"/>
            <a:ext cx="110490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857500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3552825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4248150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4943475"/>
            <a:ext cx="102489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8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随堂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练习</a:t>
            </a: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 03</a:t>
            </a:r>
            <a:endParaRPr/>
          </a:p>
        </p:txBody>
      </p:sp>
      <p:sp>
        <p:nvSpPr>
          <p:cNvPr id="318" name="Google Shape;318;p28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 txBox="1"/>
          <p:nvPr/>
        </p:nvSpPr>
        <p:spPr>
          <a:xfrm>
            <a:off x="971550" y="2324100"/>
            <a:ext cx="1076134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Q3: 关于“组合关系 (Composition)”与“聚合关系 (Aggregation)”的区别，正确的是？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9"/>
          <p:cNvSpPr/>
          <p:nvPr/>
        </p:nvSpPr>
        <p:spPr>
          <a:xfrm>
            <a:off x="5524500" y="1771650"/>
            <a:ext cx="11430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9"/>
          <p:cNvSpPr txBox="1"/>
          <p:nvPr/>
        </p:nvSpPr>
        <p:spPr>
          <a:xfrm>
            <a:off x="295275" y="5715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04. 建模最佳实践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571500" y="211455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设计模式与 UML 的完美结合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6572"/>
            <a:ext cx="3492400" cy="2329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816572"/>
            <a:ext cx="3492549" cy="2329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816572"/>
            <a:ext cx="3492400" cy="2329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318804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3025" y="318804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1325" y="3188047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映射 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设计模式</a:t>
            </a:r>
            <a:endParaRPr/>
          </a:p>
        </p:txBody>
      </p:sp>
      <p:sp>
        <p:nvSpPr>
          <p:cNvPr id="340" name="Google Shape;340;p30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904875" y="3759547"/>
            <a:ext cx="296693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观察者模式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904875" y="4264372"/>
            <a:ext cx="2825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使用类图描述 Subject 与 Observer 的抽象关系及解耦方案。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4683025" y="3759547"/>
            <a:ext cx="296708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单例模式</a:t>
            </a: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4683025" y="4264372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在类图中通过私有构造函数与静态实例体现全局唯一性。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8461325" y="3759547"/>
            <a:ext cx="296693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策略模式</a:t>
            </a: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8461325" y="4264372"/>
            <a:ext cx="2825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利用泛化 (Generalization) 描述不同算法实现的替换能力。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3832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4785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1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管理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建模复杂度</a:t>
            </a:r>
            <a:endParaRPr/>
          </a:p>
        </p:txBody>
      </p:sp>
      <p:sp>
        <p:nvSpPr>
          <p:cNvPr id="355" name="Google Shape;355;p31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1"/>
          <p:cNvSpPr txBox="1"/>
          <p:nvPr/>
        </p:nvSpPr>
        <p:spPr>
          <a:xfrm>
            <a:off x="571500" y="3370064"/>
            <a:ext cx="550068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包图 (Package Diagram)</a:t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571500" y="3617714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当系统类过多时，使用包图进行逻辑分组：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514350" y="3859589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359" name="Google Shape;359;p31"/>
          <p:cNvSpPr txBox="1"/>
          <p:nvPr/>
        </p:nvSpPr>
        <p:spPr>
          <a:xfrm>
            <a:off x="571500" y="3861494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按功能模块划分 (User, Pay, Product)</a:t>
            </a:r>
            <a:endParaRPr/>
          </a:p>
        </p:txBody>
      </p:sp>
      <p:sp>
        <p:nvSpPr>
          <p:cNvPr id="360" name="Google Shape;360;p31"/>
          <p:cNvSpPr txBox="1"/>
          <p:nvPr/>
        </p:nvSpPr>
        <p:spPr>
          <a:xfrm>
            <a:off x="514350" y="4103370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361" name="Google Shape;361;p31"/>
          <p:cNvSpPr txBox="1"/>
          <p:nvPr/>
        </p:nvSpPr>
        <p:spPr>
          <a:xfrm>
            <a:off x="571500" y="4105275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按技术层次划分 (DAO, Service, Controller)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514350" y="4347150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571500" y="4349055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控制依赖关系，避免循环依赖。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4050"/>
            <a:ext cx="110490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857500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3552825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4248150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4943475"/>
            <a:ext cx="102489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2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随堂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练习</a:t>
            </a: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 04</a:t>
            </a:r>
            <a:endParaRPr/>
          </a:p>
        </p:txBody>
      </p:sp>
      <p:sp>
        <p:nvSpPr>
          <p:cNvPr id="375" name="Google Shape;375;p32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2"/>
          <p:cNvSpPr txBox="1"/>
          <p:nvPr/>
        </p:nvSpPr>
        <p:spPr>
          <a:xfrm>
            <a:off x="971550" y="2324100"/>
            <a:ext cx="1076134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Q4: 在 UML 类图中，表示“接口实现”关系应使用哪种连线？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3"/>
          <p:cNvSpPr/>
          <p:nvPr/>
        </p:nvSpPr>
        <p:spPr>
          <a:xfrm>
            <a:off x="5524500" y="1771650"/>
            <a:ext cx="11430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 txBox="1"/>
          <p:nvPr/>
        </p:nvSpPr>
        <p:spPr>
          <a:xfrm>
            <a:off x="295275" y="5715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05. 常见建模误区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571500" y="211455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避开陷阱，提升模型的专业度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4"/>
          <p:cNvSpPr txBox="1"/>
          <p:nvPr/>
        </p:nvSpPr>
        <p:spPr>
          <a:xfrm>
            <a:off x="571500" y="3200400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80%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571500" y="4343400"/>
            <a:ext cx="52387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的设计只需 20% 的 UML</a:t>
            </a:r>
            <a:endParaRPr/>
          </a:p>
        </p:txBody>
      </p:sp>
      <p:sp>
        <p:nvSpPr>
          <p:cNvPr id="392" name="Google Shape;392;p34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误区 A：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过度建模</a:t>
            </a:r>
            <a:endParaRPr/>
          </a:p>
        </p:txBody>
      </p:sp>
      <p:sp>
        <p:nvSpPr>
          <p:cNvPr id="393" name="Google Shape;393;p34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4"/>
          <p:cNvSpPr txBox="1"/>
          <p:nvPr/>
        </p:nvSpPr>
        <p:spPr>
          <a:xfrm>
            <a:off x="6381750" y="3370064"/>
            <a:ext cx="550068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拒绝“画图工”</a:t>
            </a:r>
            <a:endParaRPr/>
          </a:p>
        </p:txBody>
      </p:sp>
      <p:sp>
        <p:nvSpPr>
          <p:cNvPr id="395" name="Google Shape;395;p34"/>
          <p:cNvSpPr txBox="1"/>
          <p:nvPr/>
        </p:nvSpPr>
        <p:spPr>
          <a:xfrm>
            <a:off x="6381750" y="3617714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UML 的初衷是</a:t>
            </a:r>
            <a:r>
              <a:rPr lang="en-US" sz="12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沟通</a:t>
            </a: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而非艺术创作。常见的过度建模表现：</a:t>
            </a:r>
            <a:endParaRPr/>
          </a:p>
        </p:txBody>
      </p:sp>
      <p:sp>
        <p:nvSpPr>
          <p:cNvPr id="396" name="Google Shape;396;p34"/>
          <p:cNvSpPr txBox="1"/>
          <p:nvPr/>
        </p:nvSpPr>
        <p:spPr>
          <a:xfrm>
            <a:off x="6324600" y="3859589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397" name="Google Shape;397;p34"/>
          <p:cNvSpPr txBox="1"/>
          <p:nvPr/>
        </p:nvSpPr>
        <p:spPr>
          <a:xfrm>
            <a:off x="6381750" y="3861494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为每一个简单的 Getter/Setter 绘图。</a:t>
            </a:r>
            <a:endParaRPr/>
          </a:p>
        </p:txBody>
      </p:sp>
      <p:sp>
        <p:nvSpPr>
          <p:cNvPr id="398" name="Google Shape;398;p34"/>
          <p:cNvSpPr txBox="1"/>
          <p:nvPr/>
        </p:nvSpPr>
        <p:spPr>
          <a:xfrm>
            <a:off x="6324600" y="4103370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399" name="Google Shape;399;p34"/>
          <p:cNvSpPr txBox="1"/>
          <p:nvPr/>
        </p:nvSpPr>
        <p:spPr>
          <a:xfrm>
            <a:off x="6381750" y="4105275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在草图阶段追求绝对的符号严谨。</a:t>
            </a:r>
            <a:endParaRPr/>
          </a:p>
        </p:txBody>
      </p:sp>
      <p:sp>
        <p:nvSpPr>
          <p:cNvPr id="400" name="Google Shape;400;p34"/>
          <p:cNvSpPr txBox="1"/>
          <p:nvPr/>
        </p:nvSpPr>
        <p:spPr>
          <a:xfrm>
            <a:off x="6324600" y="4347150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401" name="Google Shape;401;p34"/>
          <p:cNvSpPr txBox="1"/>
          <p:nvPr/>
        </p:nvSpPr>
        <p:spPr>
          <a:xfrm>
            <a:off x="6381750" y="4349055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模型与代码同步成本过高，导致模型失效。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7" name="Google Shape;407;p35"/>
          <p:cNvGraphicFramePr/>
          <p:nvPr>
            <p:extLst>
              <p:ext uri="{D42A27DB-BD31-4B8C-83A1-F6EECF244321}">
                <p14:modId xmlns:p14="http://schemas.microsoft.com/office/powerpoint/2010/main" val="1204068414"/>
              </p:ext>
            </p:extLst>
          </p:nvPr>
        </p:nvGraphicFramePr>
        <p:xfrm>
          <a:off x="571500" y="3114675"/>
          <a:ext cx="11049000" cy="1924050"/>
        </p:xfrm>
        <a:graphic>
          <a:graphicData uri="http://schemas.openxmlformats.org/drawingml/2006/table">
            <a:tbl>
              <a:tblPr firstRow="1" bandRow="1">
                <a:noFill/>
                <a:tableStyleId>{8A30EFF4-EE89-4EBF-AA7F-A20DBA9FDDD2}</a:tableStyleId>
              </a:tblPr>
              <a:tblGrid>
                <a:gridCol w="368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D4B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错误做法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D4B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导致后果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D4B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修正方案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混淆异步与同步消息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逻辑死锁或并行错误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同步用实心箭头，异步用普通箭头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生命线中对象未创建即通信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逻辑不成立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使用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«create»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显式标记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8" name="Google Shape;408;p35"/>
          <p:cNvSpPr/>
          <p:nvPr/>
        </p:nvSpPr>
        <p:spPr>
          <a:xfrm>
            <a:off x="571500" y="3771900"/>
            <a:ext cx="36829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4254400" y="3771900"/>
            <a:ext cx="290601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7160418" y="3771900"/>
            <a:ext cx="446008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5"/>
          <p:cNvSpPr/>
          <p:nvPr/>
        </p:nvSpPr>
        <p:spPr>
          <a:xfrm>
            <a:off x="571500" y="4405312"/>
            <a:ext cx="3682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4254400" y="4405312"/>
            <a:ext cx="29060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7160418" y="4405312"/>
            <a:ext cx="44600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571500" y="5024437"/>
            <a:ext cx="3682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4254400" y="5024437"/>
            <a:ext cx="29060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7160418" y="5024437"/>
            <a:ext cx="44600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误区 B：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时序图二义性</a:t>
            </a:r>
            <a:endParaRPr/>
          </a:p>
        </p:txBody>
      </p:sp>
      <p:sp>
        <p:nvSpPr>
          <p:cNvPr id="418" name="Google Shape;418;p35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65102"/>
            <a:ext cx="3492400" cy="2032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965102"/>
            <a:ext cx="3492549" cy="2032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965102"/>
            <a:ext cx="3492400" cy="203254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6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误区 C：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命名不规范</a:t>
            </a:r>
            <a:endParaRPr/>
          </a:p>
        </p:txBody>
      </p:sp>
      <p:sp>
        <p:nvSpPr>
          <p:cNvPr id="428" name="Google Shape;428;p36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904875" y="3336577"/>
            <a:ext cx="296693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动词 vs 名词</a:t>
            </a:r>
            <a:endParaRPr/>
          </a:p>
        </p:txBody>
      </p:sp>
      <p:sp>
        <p:nvSpPr>
          <p:cNvPr id="430" name="Google Shape;430;p36"/>
          <p:cNvSpPr txBox="1"/>
          <p:nvPr/>
        </p:nvSpPr>
        <p:spPr>
          <a:xfrm>
            <a:off x="904875" y="3841402"/>
            <a:ext cx="28256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用例图应使用动宾短语（如：生成报表），类名应使用名词（如：ReportGenerator）。</a:t>
            </a:r>
            <a:endParaRPr/>
          </a:p>
        </p:txBody>
      </p:sp>
      <p:sp>
        <p:nvSpPr>
          <p:cNvPr id="431" name="Google Shape;431;p36"/>
          <p:cNvSpPr txBox="1"/>
          <p:nvPr/>
        </p:nvSpPr>
        <p:spPr>
          <a:xfrm>
            <a:off x="4683025" y="3336577"/>
            <a:ext cx="296708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术语一致性</a:t>
            </a:r>
            <a:endParaRPr/>
          </a:p>
        </p:txBody>
      </p:sp>
      <p:sp>
        <p:nvSpPr>
          <p:cNvPr id="432" name="Google Shape;432;p36"/>
          <p:cNvSpPr txBox="1"/>
          <p:nvPr/>
        </p:nvSpPr>
        <p:spPr>
          <a:xfrm>
            <a:off x="4683025" y="3841402"/>
            <a:ext cx="28257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模型、代码、文档中的领域术语必须统一，避免“Customer”与“User”混用。</a:t>
            </a:r>
            <a:endParaRPr/>
          </a:p>
        </p:txBody>
      </p:sp>
      <p:sp>
        <p:nvSpPr>
          <p:cNvPr id="433" name="Google Shape;433;p36"/>
          <p:cNvSpPr txBox="1"/>
          <p:nvPr/>
        </p:nvSpPr>
        <p:spPr>
          <a:xfrm>
            <a:off x="8461325" y="3336577"/>
            <a:ext cx="296693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可见性标记</a:t>
            </a:r>
            <a:endParaRPr/>
          </a:p>
        </p:txBody>
      </p:sp>
      <p:sp>
        <p:nvSpPr>
          <p:cNvPr id="434" name="Google Shape;434;p36"/>
          <p:cNvSpPr txBox="1"/>
          <p:nvPr/>
        </p:nvSpPr>
        <p:spPr>
          <a:xfrm>
            <a:off x="8461325" y="3841402"/>
            <a:ext cx="2825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正确使用 +, -, # 标记访问控制权限，直接影响自动代码生成。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832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4785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模型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重构</a:t>
            </a: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实战</a:t>
            </a:r>
            <a:endParaRPr/>
          </a:p>
        </p:txBody>
      </p:sp>
      <p:sp>
        <p:nvSpPr>
          <p:cNvPr id="443" name="Google Shape;443;p37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7"/>
          <p:cNvSpPr txBox="1"/>
          <p:nvPr/>
        </p:nvSpPr>
        <p:spPr>
          <a:xfrm>
            <a:off x="6381750" y="3396704"/>
            <a:ext cx="550068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优化方案</a:t>
            </a:r>
            <a:endParaRPr/>
          </a:p>
        </p:txBody>
      </p:sp>
      <p:sp>
        <p:nvSpPr>
          <p:cNvPr id="445" name="Google Shape;445;p37"/>
          <p:cNvSpPr txBox="1"/>
          <p:nvPr/>
        </p:nvSpPr>
        <p:spPr>
          <a:xfrm>
            <a:off x="6324600" y="3832949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446" name="Google Shape;446;p37"/>
          <p:cNvSpPr txBox="1"/>
          <p:nvPr/>
        </p:nvSpPr>
        <p:spPr>
          <a:xfrm>
            <a:off x="6381750" y="3834854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将巨大型类 (God Class) 拆分为多个小类。</a:t>
            </a:r>
            <a:endParaRPr/>
          </a:p>
        </p:txBody>
      </p:sp>
      <p:sp>
        <p:nvSpPr>
          <p:cNvPr id="447" name="Google Shape;447;p37"/>
          <p:cNvSpPr txBox="1"/>
          <p:nvPr/>
        </p:nvSpPr>
        <p:spPr>
          <a:xfrm>
            <a:off x="6324600" y="4076729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448" name="Google Shape;448;p37"/>
          <p:cNvSpPr txBox="1"/>
          <p:nvPr/>
        </p:nvSpPr>
        <p:spPr>
          <a:xfrm>
            <a:off x="6381750" y="4078634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将硬编码的流程转化为</a:t>
            </a:r>
            <a:r>
              <a:rPr lang="en-US" sz="12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状态模式</a:t>
            </a: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/>
          </a:p>
        </p:txBody>
      </p:sp>
      <p:sp>
        <p:nvSpPr>
          <p:cNvPr id="449" name="Google Shape;449;p37"/>
          <p:cNvSpPr txBox="1"/>
          <p:nvPr/>
        </p:nvSpPr>
        <p:spPr>
          <a:xfrm>
            <a:off x="6324600" y="4320510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450" name="Google Shape;450;p37"/>
          <p:cNvSpPr txBox="1"/>
          <p:nvPr/>
        </p:nvSpPr>
        <p:spPr>
          <a:xfrm>
            <a:off x="6381750" y="4322415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引入抽象类减少重复逻辑。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4050"/>
            <a:ext cx="110490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857500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3552825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4248150"/>
            <a:ext cx="102489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4943475"/>
            <a:ext cx="102489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随堂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练习</a:t>
            </a: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 05</a:t>
            </a:r>
            <a:endParaRPr/>
          </a:p>
        </p:txBody>
      </p:sp>
      <p:sp>
        <p:nvSpPr>
          <p:cNvPr id="462" name="Google Shape;462;p38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8"/>
          <p:cNvSpPr txBox="1"/>
          <p:nvPr/>
        </p:nvSpPr>
        <p:spPr>
          <a:xfrm>
            <a:off x="971550" y="2324100"/>
            <a:ext cx="1076134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Q5: 在进行 Agile 开发时，哪种 UML 使用方式最受推崇？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9"/>
          <p:cNvSpPr/>
          <p:nvPr/>
        </p:nvSpPr>
        <p:spPr>
          <a:xfrm>
            <a:off x="5524500" y="1771650"/>
            <a:ext cx="11430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9"/>
          <p:cNvSpPr txBox="1"/>
          <p:nvPr/>
        </p:nvSpPr>
        <p:spPr>
          <a:xfrm>
            <a:off x="295275" y="5715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06. 建模工具与趋势</a:t>
            </a:r>
            <a:endParaRPr/>
          </a:p>
        </p:txBody>
      </p:sp>
      <p:sp>
        <p:nvSpPr>
          <p:cNvPr id="471" name="Google Shape;471;p39"/>
          <p:cNvSpPr txBox="1"/>
          <p:nvPr/>
        </p:nvSpPr>
        <p:spPr>
          <a:xfrm>
            <a:off x="571500" y="211455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工欲善其事，必先利其器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1334"/>
            <a:ext cx="3492400" cy="232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821334"/>
            <a:ext cx="3492549" cy="232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821334"/>
            <a:ext cx="3492400" cy="232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3221384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3025" y="3221384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1325" y="3221384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0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推荐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建模工具</a:t>
            </a:r>
            <a:endParaRPr/>
          </a:p>
        </p:txBody>
      </p:sp>
      <p:sp>
        <p:nvSpPr>
          <p:cNvPr id="484" name="Google Shape;484;p40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0"/>
          <p:cNvSpPr txBox="1"/>
          <p:nvPr/>
        </p:nvSpPr>
        <p:spPr>
          <a:xfrm>
            <a:off x="904875" y="3811934"/>
            <a:ext cx="296693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PlantUML</a:t>
            </a:r>
            <a:endParaRPr/>
          </a:p>
        </p:txBody>
      </p:sp>
      <p:sp>
        <p:nvSpPr>
          <p:cNvPr id="486" name="Google Shape;486;p40"/>
          <p:cNvSpPr txBox="1"/>
          <p:nvPr/>
        </p:nvSpPr>
        <p:spPr>
          <a:xfrm>
            <a:off x="904875" y="4259609"/>
            <a:ext cx="2825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代码即图 (Diagram as Code)，极其适合集成在 Git 流程中。</a:t>
            </a:r>
            <a:endParaRPr/>
          </a:p>
        </p:txBody>
      </p:sp>
      <p:sp>
        <p:nvSpPr>
          <p:cNvPr id="487" name="Google Shape;487;p40"/>
          <p:cNvSpPr txBox="1"/>
          <p:nvPr/>
        </p:nvSpPr>
        <p:spPr>
          <a:xfrm>
            <a:off x="4683025" y="3811934"/>
            <a:ext cx="29670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Enterprise Architect</a:t>
            </a:r>
            <a:endParaRPr/>
          </a:p>
        </p:txBody>
      </p:sp>
      <p:sp>
        <p:nvSpPr>
          <p:cNvPr id="488" name="Google Shape;488;p40"/>
          <p:cNvSpPr txBox="1"/>
          <p:nvPr/>
        </p:nvSpPr>
        <p:spPr>
          <a:xfrm>
            <a:off x="4683025" y="4259609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重量级工具，适合大型复杂系统的全生命周期管理。</a:t>
            </a:r>
            <a:endParaRPr/>
          </a:p>
        </p:txBody>
      </p:sp>
      <p:sp>
        <p:nvSpPr>
          <p:cNvPr id="489" name="Google Shape;489;p40"/>
          <p:cNvSpPr txBox="1"/>
          <p:nvPr/>
        </p:nvSpPr>
        <p:spPr>
          <a:xfrm>
            <a:off x="8461325" y="3811934"/>
            <a:ext cx="296693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Lucidchart / Draw.io</a:t>
            </a:r>
            <a:endParaRPr/>
          </a:p>
        </p:txBody>
      </p:sp>
      <p:sp>
        <p:nvSpPr>
          <p:cNvPr id="490" name="Google Shape;490;p40"/>
          <p:cNvSpPr txBox="1"/>
          <p:nvPr/>
        </p:nvSpPr>
        <p:spPr>
          <a:xfrm>
            <a:off x="8461325" y="4259609"/>
            <a:ext cx="2825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轻量化云协作，适合敏捷团队快速构思。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832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4785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1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建模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未来趋势</a:t>
            </a:r>
            <a:endParaRPr/>
          </a:p>
        </p:txBody>
      </p:sp>
      <p:sp>
        <p:nvSpPr>
          <p:cNvPr id="499" name="Google Shape;499;p41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1"/>
          <p:cNvSpPr txBox="1"/>
          <p:nvPr/>
        </p:nvSpPr>
        <p:spPr>
          <a:xfrm>
            <a:off x="6324600" y="3399561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501" name="Google Shape;501;p41"/>
          <p:cNvSpPr txBox="1"/>
          <p:nvPr/>
        </p:nvSpPr>
        <p:spPr>
          <a:xfrm>
            <a:off x="6381750" y="3401466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可执行 UML (Executable UML)：</a:t>
            </a: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 模型直接编译运行。</a:t>
            </a:r>
            <a:endParaRPr/>
          </a:p>
        </p:txBody>
      </p:sp>
      <p:sp>
        <p:nvSpPr>
          <p:cNvPr id="502" name="Google Shape;502;p41"/>
          <p:cNvSpPr txBox="1"/>
          <p:nvPr/>
        </p:nvSpPr>
        <p:spPr>
          <a:xfrm>
            <a:off x="6324600" y="3786217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503" name="Google Shape;503;p41"/>
          <p:cNvSpPr txBox="1"/>
          <p:nvPr/>
        </p:nvSpPr>
        <p:spPr>
          <a:xfrm>
            <a:off x="6381750" y="3788122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AI 辅助建模：</a:t>
            </a: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 通过自然语言生成初始 UML 架构。</a:t>
            </a:r>
            <a:endParaRPr/>
          </a:p>
        </p:txBody>
      </p:sp>
      <p:sp>
        <p:nvSpPr>
          <p:cNvPr id="504" name="Google Shape;504;p41"/>
          <p:cNvSpPr txBox="1"/>
          <p:nvPr/>
        </p:nvSpPr>
        <p:spPr>
          <a:xfrm>
            <a:off x="6324600" y="4172872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endParaRPr/>
          </a:p>
        </p:txBody>
      </p:sp>
      <p:sp>
        <p:nvSpPr>
          <p:cNvPr id="505" name="Google Shape;505;p41"/>
          <p:cNvSpPr txBox="1"/>
          <p:nvPr/>
        </p:nvSpPr>
        <p:spPr>
          <a:xfrm>
            <a:off x="6381750" y="4174777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低代码平台集成：</a:t>
            </a: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 建模即业务开发。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832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005137"/>
            <a:ext cx="5238750" cy="19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84785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42"/>
          <p:cNvSpPr txBox="1"/>
          <p:nvPr/>
        </p:nvSpPr>
        <p:spPr>
          <a:xfrm>
            <a:off x="6781800" y="3405187"/>
            <a:ext cx="466058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常见提问：</a:t>
            </a:r>
            <a:endParaRPr/>
          </a:p>
        </p:txBody>
      </p:sp>
      <p:sp>
        <p:nvSpPr>
          <p:cNvPr id="515" name="Google Shape;515;p42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问题与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解答</a:t>
            </a: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 (Q&amp;A)</a:t>
            </a:r>
            <a:endParaRPr/>
          </a:p>
        </p:txBody>
      </p:sp>
      <p:sp>
        <p:nvSpPr>
          <p:cNvPr id="516" name="Google Shape;516;p42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2"/>
          <p:cNvSpPr txBox="1"/>
          <p:nvPr/>
        </p:nvSpPr>
        <p:spPr>
          <a:xfrm>
            <a:off x="6781800" y="3700462"/>
            <a:ext cx="4438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“我们团队不用 Java，UML 还有意义吗？”</a:t>
            </a:r>
            <a:endParaRPr/>
          </a:p>
        </p:txBody>
      </p:sp>
      <p:sp>
        <p:nvSpPr>
          <p:cNvPr id="518" name="Google Shape;518;p42"/>
          <p:cNvSpPr txBox="1"/>
          <p:nvPr/>
        </p:nvSpPr>
        <p:spPr>
          <a:xfrm>
            <a:off x="6781800" y="4070002"/>
            <a:ext cx="44386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答：UML 是语言无关的。无论使用 Python、Go 还是 Rust，逻辑架构和行为设计是通用的沟通桥梁。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02322"/>
            <a:ext cx="3492400" cy="1758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3102322"/>
            <a:ext cx="3492549" cy="1758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3102322"/>
            <a:ext cx="3492400" cy="175825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3"/>
          <p:cNvSpPr txBox="1"/>
          <p:nvPr/>
        </p:nvSpPr>
        <p:spPr>
          <a:xfrm>
            <a:off x="800100" y="571500"/>
            <a:ext cx="1136142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课程</a:t>
            </a:r>
            <a:r>
              <a:rPr lang="en-US" sz="4200" b="1" i="0" u="none" strike="noStrike" cap="non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/>
          </a:p>
        </p:txBody>
      </p:sp>
      <p:sp>
        <p:nvSpPr>
          <p:cNvPr id="528" name="Google Shape;528;p43"/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3"/>
          <p:cNvSpPr txBox="1"/>
          <p:nvPr/>
        </p:nvSpPr>
        <p:spPr>
          <a:xfrm>
            <a:off x="904875" y="3473797"/>
            <a:ext cx="296693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核心是思想</a:t>
            </a:r>
            <a:endParaRPr/>
          </a:p>
        </p:txBody>
      </p:sp>
      <p:sp>
        <p:nvSpPr>
          <p:cNvPr id="530" name="Google Shape;530;p43"/>
          <p:cNvSpPr txBox="1"/>
          <p:nvPr/>
        </p:nvSpPr>
        <p:spPr>
          <a:xfrm>
            <a:off x="904875" y="3978622"/>
            <a:ext cx="2825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理解 OOAD (面向对象分析与设计) 远比掌握绘图软件重要。</a:t>
            </a:r>
            <a:endParaRPr/>
          </a:p>
        </p:txBody>
      </p:sp>
      <p:sp>
        <p:nvSpPr>
          <p:cNvPr id="531" name="Google Shape;531;p43"/>
          <p:cNvSpPr txBox="1"/>
          <p:nvPr/>
        </p:nvSpPr>
        <p:spPr>
          <a:xfrm>
            <a:off x="4683025" y="3473797"/>
            <a:ext cx="296708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协作是目标</a:t>
            </a:r>
            <a:endParaRPr/>
          </a:p>
        </p:txBody>
      </p:sp>
      <p:sp>
        <p:nvSpPr>
          <p:cNvPr id="532" name="Google Shape;532;p43"/>
          <p:cNvSpPr txBox="1"/>
          <p:nvPr/>
        </p:nvSpPr>
        <p:spPr>
          <a:xfrm>
            <a:off x="4683025" y="3978622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模型是为了让开发、测试和架构师达成共识。</a:t>
            </a:r>
            <a:endParaRPr/>
          </a:p>
        </p:txBody>
      </p:sp>
      <p:sp>
        <p:nvSpPr>
          <p:cNvPr id="533" name="Google Shape;533;p43"/>
          <p:cNvSpPr txBox="1"/>
          <p:nvPr/>
        </p:nvSpPr>
        <p:spPr>
          <a:xfrm>
            <a:off x="8461325" y="3473797"/>
            <a:ext cx="296693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实践是路径</a:t>
            </a:r>
            <a:endParaRPr/>
          </a:p>
        </p:txBody>
      </p:sp>
      <p:sp>
        <p:nvSpPr>
          <p:cNvPr id="534" name="Google Shape;534;p43"/>
          <p:cNvSpPr txBox="1"/>
          <p:nvPr/>
        </p:nvSpPr>
        <p:spPr>
          <a:xfrm>
            <a:off x="8461325" y="3978622"/>
            <a:ext cx="2825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在真实项目中绘制并不断迭代模型。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522">
          <a:extLst>
            <a:ext uri="{FF2B5EF4-FFF2-40B4-BE49-F238E27FC236}">
              <a16:creationId xmlns:a16="http://schemas.microsoft.com/office/drawing/2014/main" id="{4EB4681D-F0D0-3579-2816-1C1E5637F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3" descr="image.png">
            <a:extLst>
              <a:ext uri="{FF2B5EF4-FFF2-40B4-BE49-F238E27FC236}">
                <a16:creationId xmlns:a16="http://schemas.microsoft.com/office/drawing/2014/main" id="{1A187326-0FF9-C5FB-C790-0301748FC6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43" descr="image.png">
            <a:extLst>
              <a:ext uri="{FF2B5EF4-FFF2-40B4-BE49-F238E27FC236}">
                <a16:creationId xmlns:a16="http://schemas.microsoft.com/office/drawing/2014/main" id="{7333A6E1-BAD0-BF41-4D69-814058344F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1354404"/>
            <a:ext cx="10639425" cy="4932096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3">
            <a:extLst>
              <a:ext uri="{FF2B5EF4-FFF2-40B4-BE49-F238E27FC236}">
                <a16:creationId xmlns:a16="http://schemas.microsoft.com/office/drawing/2014/main" id="{38B159E9-A2F6-5913-1184-49166FFC3C62}"/>
              </a:ext>
            </a:extLst>
          </p:cNvPr>
          <p:cNvSpPr txBox="1"/>
          <p:nvPr/>
        </p:nvSpPr>
        <p:spPr>
          <a:xfrm>
            <a:off x="800100" y="571500"/>
            <a:ext cx="113614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200" b="1" i="0" u="none" strike="noStrike" cap="none" dirty="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参考</a:t>
            </a:r>
            <a:r>
              <a:rPr lang="zh-CN" altLang="en-US" sz="4200" b="1" i="0" u="none" strike="noStrike" cap="non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文献</a:t>
            </a:r>
            <a:endParaRPr dirty="0"/>
          </a:p>
        </p:txBody>
      </p:sp>
      <p:sp>
        <p:nvSpPr>
          <p:cNvPr id="528" name="Google Shape;528;p43">
            <a:extLst>
              <a:ext uri="{FF2B5EF4-FFF2-40B4-BE49-F238E27FC236}">
                <a16:creationId xmlns:a16="http://schemas.microsoft.com/office/drawing/2014/main" id="{9075AC4A-64C4-B877-AD79-0C5FC6ABF06D}"/>
              </a:ext>
            </a:extLst>
          </p:cNvPr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3">
            <a:extLst>
              <a:ext uri="{FF2B5EF4-FFF2-40B4-BE49-F238E27FC236}">
                <a16:creationId xmlns:a16="http://schemas.microsoft.com/office/drawing/2014/main" id="{13FE77A8-8EDF-FD42-C794-ECE54DDE0E93}"/>
              </a:ext>
            </a:extLst>
          </p:cNvPr>
          <p:cNvSpPr txBox="1"/>
          <p:nvPr/>
        </p:nvSpPr>
        <p:spPr>
          <a:xfrm>
            <a:off x="904875" y="2204625"/>
            <a:ext cx="10126447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atinLnBrk="1"/>
            <a:r>
              <a:rPr lang="zh-CN" altLang="zh-CN" dirty="0">
                <a:solidFill>
                  <a:schemeClr val="bg1"/>
                </a:solidFill>
              </a:rPr>
              <a:t>[1]刘明钰,姚敦红. 基于UML的仓库管理系统设计 [J]. 信息与电脑(理论版), 2020, 32 (14): 126-127.</a:t>
            </a:r>
            <a:endParaRPr lang="en-US" altLang="zh-CN" dirty="0">
              <a:solidFill>
                <a:schemeClr val="bg1"/>
              </a:solidFill>
            </a:endParaRPr>
          </a:p>
          <a:p>
            <a:pPr latinLnBrk="1"/>
            <a:endParaRPr lang="zh-CN" altLang="zh-CN" dirty="0">
              <a:solidFill>
                <a:schemeClr val="bg1"/>
              </a:solidFill>
            </a:endParaRPr>
          </a:p>
          <a:p>
            <a:pPr latinLnBrk="1"/>
            <a:r>
              <a:rPr lang="zh-CN" altLang="zh-CN" dirty="0">
                <a:solidFill>
                  <a:schemeClr val="bg1"/>
                </a:solidFill>
              </a:rPr>
              <a:t>[2]刘秋香,刘振伟. 浅析几款主流的UML建模工具 [J]. 电脑知识与技术, 2018, 14 (32): 245+253. DOI:10.14004/j.cnki.ckt.2018.3820.</a:t>
            </a:r>
          </a:p>
          <a:p>
            <a:pPr latinLnBrk="1"/>
            <a:endParaRPr lang="en-US" altLang="zh-CN" dirty="0">
              <a:solidFill>
                <a:schemeClr val="bg1"/>
              </a:solidFill>
            </a:endParaRPr>
          </a:p>
          <a:p>
            <a:pPr latinLnBrk="1"/>
            <a:r>
              <a:rPr lang="zh-CN" altLang="zh-CN" dirty="0">
                <a:solidFill>
                  <a:schemeClr val="bg1"/>
                </a:solidFill>
              </a:rPr>
              <a:t>[3]秦佳. 基于UML的电子商务系统设计 [J]. 电子技术与软件工程, 2017, (23): 59. DOI:10.20109/j.cnki.etse.2017.23.043.</a:t>
            </a:r>
          </a:p>
          <a:p>
            <a:pPr latinLnBrk="1"/>
            <a:endParaRPr lang="en-US" altLang="zh-CN" dirty="0">
              <a:solidFill>
                <a:schemeClr val="bg1"/>
              </a:solidFill>
            </a:endParaRPr>
          </a:p>
          <a:p>
            <a:pPr latinLnBrk="1"/>
            <a:r>
              <a:rPr lang="zh-CN" altLang="zh-CN" dirty="0">
                <a:solidFill>
                  <a:schemeClr val="bg1"/>
                </a:solidFill>
              </a:rPr>
              <a:t>[4]陈晓丹,李思明,申俊瑛. “UML建模工具”课程教学改革与实践 [J]. 电脑知识与技术, 2012, 8 (28): 6725-6726+6736.</a:t>
            </a:r>
          </a:p>
          <a:p>
            <a:pPr latinLnBrk="1"/>
            <a:endParaRPr lang="en-US" altLang="zh-CN" dirty="0">
              <a:solidFill>
                <a:schemeClr val="bg1"/>
              </a:solidFill>
            </a:endParaRPr>
          </a:p>
          <a:p>
            <a:pPr latinLnBrk="1"/>
            <a:r>
              <a:rPr lang="zh-CN" altLang="zh-CN" dirty="0">
                <a:solidFill>
                  <a:schemeClr val="bg1"/>
                </a:solidFill>
              </a:rPr>
              <a:t>[5]田琴兰. 基于面向对象的智能家居系统建模研究[D]. 北京交通大学, 2012.</a:t>
            </a:r>
          </a:p>
          <a:p>
            <a:pPr latinLnBrk="1"/>
            <a:endParaRPr lang="en-US" altLang="zh-CN" dirty="0">
              <a:solidFill>
                <a:schemeClr val="bg1"/>
              </a:solidFill>
            </a:endParaRPr>
          </a:p>
          <a:p>
            <a:pPr latinLnBrk="1"/>
            <a:r>
              <a:rPr lang="zh-CN" altLang="zh-CN" dirty="0">
                <a:solidFill>
                  <a:schemeClr val="bg1"/>
                </a:solidFill>
              </a:rPr>
              <a:t>[6]李俊. 基于UML的建模工具的设计及关键技术的研究[D]. 中南大学, 2009.</a:t>
            </a:r>
          </a:p>
          <a:p>
            <a:pPr latinLnBrk="1"/>
            <a:endParaRPr lang="en-US" altLang="zh-CN" dirty="0">
              <a:solidFill>
                <a:schemeClr val="bg1"/>
              </a:solidFill>
            </a:endParaRPr>
          </a:p>
          <a:p>
            <a:pPr latinLnBrk="1"/>
            <a:r>
              <a:rPr lang="zh-CN" altLang="zh-CN" dirty="0">
                <a:solidFill>
                  <a:schemeClr val="bg1"/>
                </a:solidFill>
              </a:rPr>
              <a:t>[7]陈娟. 基于UML的面向对象的系统分析与设计[D]. 武汉理工大学, 2005.</a:t>
            </a:r>
          </a:p>
          <a:p>
            <a:pPr latinLnBrk="1"/>
            <a:endParaRPr lang="en-US" altLang="zh-CN" dirty="0">
              <a:solidFill>
                <a:schemeClr val="bg1"/>
              </a:solidFill>
            </a:endParaRPr>
          </a:p>
          <a:p>
            <a:pPr latinLnBrk="1"/>
            <a:r>
              <a:rPr lang="zh-CN" altLang="zh-CN" dirty="0">
                <a:solidFill>
                  <a:schemeClr val="bg1"/>
                </a:solidFill>
              </a:rPr>
              <a:t>[8]邵维忠,梅宏. 统一建模语言UML述评 [J]. 计算机研究与发展, 1999, (4): 2-11.</a:t>
            </a:r>
          </a:p>
        </p:txBody>
      </p:sp>
    </p:spTree>
    <p:extLst>
      <p:ext uri="{BB962C8B-B14F-4D97-AF65-F5344CB8AC3E}">
        <p14:creationId xmlns:p14="http://schemas.microsoft.com/office/powerpoint/2010/main" val="396221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522">
          <a:extLst>
            <a:ext uri="{FF2B5EF4-FFF2-40B4-BE49-F238E27FC236}">
              <a16:creationId xmlns:a16="http://schemas.microsoft.com/office/drawing/2014/main" id="{F942427D-49F2-B8B4-BC8C-8D5985D26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3" descr="image.png">
            <a:extLst>
              <a:ext uri="{FF2B5EF4-FFF2-40B4-BE49-F238E27FC236}">
                <a16:creationId xmlns:a16="http://schemas.microsoft.com/office/drawing/2014/main" id="{08B6FE0D-D071-B4C0-DEC8-88EC364CDC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3">
            <a:extLst>
              <a:ext uri="{FF2B5EF4-FFF2-40B4-BE49-F238E27FC236}">
                <a16:creationId xmlns:a16="http://schemas.microsoft.com/office/drawing/2014/main" id="{85ED9216-BA56-FB91-3042-CE80899619E0}"/>
              </a:ext>
            </a:extLst>
          </p:cNvPr>
          <p:cNvSpPr txBox="1"/>
          <p:nvPr/>
        </p:nvSpPr>
        <p:spPr>
          <a:xfrm>
            <a:off x="800100" y="571500"/>
            <a:ext cx="113614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200" b="1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评价</a:t>
            </a:r>
            <a:r>
              <a:rPr lang="zh-CN" altLang="en-US" sz="4200" b="1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打分</a:t>
            </a:r>
            <a:endParaRPr lang="zh-CN" altLang="en-US" dirty="0"/>
          </a:p>
        </p:txBody>
      </p:sp>
      <p:sp>
        <p:nvSpPr>
          <p:cNvPr id="528" name="Google Shape;528;p43">
            <a:extLst>
              <a:ext uri="{FF2B5EF4-FFF2-40B4-BE49-F238E27FC236}">
                <a16:creationId xmlns:a16="http://schemas.microsoft.com/office/drawing/2014/main" id="{5CBC6C8B-7BFB-4338-A07D-6EF3D4C6182D}"/>
              </a:ext>
            </a:extLst>
          </p:cNvPr>
          <p:cNvSpPr/>
          <p:nvPr/>
        </p:nvSpPr>
        <p:spPr>
          <a:xfrm>
            <a:off x="571500" y="571500"/>
            <a:ext cx="76200" cy="723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524;p43" descr="image.png">
            <a:extLst>
              <a:ext uri="{FF2B5EF4-FFF2-40B4-BE49-F238E27FC236}">
                <a16:creationId xmlns:a16="http://schemas.microsoft.com/office/drawing/2014/main" id="{E2D70CA4-440C-43CB-FD11-25EF0DB5A7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699" y="1822577"/>
            <a:ext cx="10639425" cy="346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59A2B6C-F9E6-BD0B-1967-7CB966763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3675" y="2352952"/>
            <a:ext cx="9046625" cy="265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79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1048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05819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90589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4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7448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058221"/>
            <a:ext cx="923032" cy="731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8429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5"/>
          <p:cNvSpPr txBox="1"/>
          <p:nvPr/>
        </p:nvSpPr>
        <p:spPr>
          <a:xfrm>
            <a:off x="800100" y="571500"/>
            <a:ext cx="1136142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Image Sources</a:t>
            </a:r>
            <a:endParaRPr/>
          </a:p>
        </p:txBody>
      </p:sp>
      <p:sp>
        <p:nvSpPr>
          <p:cNvPr id="555" name="Google Shape;555;p4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5"/>
          <p:cNvSpPr/>
          <p:nvPr/>
        </p:nvSpPr>
        <p:spPr>
          <a:xfrm>
            <a:off x="571500" y="157162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5"/>
          <p:cNvSpPr/>
          <p:nvPr/>
        </p:nvSpPr>
        <p:spPr>
          <a:xfrm>
            <a:off x="571500" y="235639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5"/>
          <p:cNvSpPr/>
          <p:nvPr/>
        </p:nvSpPr>
        <p:spPr>
          <a:xfrm>
            <a:off x="571500" y="314116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5"/>
          <p:cNvSpPr/>
          <p:nvPr/>
        </p:nvSpPr>
        <p:spPr>
          <a:xfrm>
            <a:off x="571500" y="392593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45"/>
          <p:cNvSpPr/>
          <p:nvPr/>
        </p:nvSpPr>
        <p:spPr>
          <a:xfrm>
            <a:off x="571500" y="490879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5"/>
          <p:cNvSpPr/>
          <p:nvPr/>
        </p:nvSpPr>
        <p:spPr>
          <a:xfrm>
            <a:off x="571500" y="23468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5"/>
          <p:cNvSpPr/>
          <p:nvPr/>
        </p:nvSpPr>
        <p:spPr>
          <a:xfrm>
            <a:off x="571500" y="23468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5"/>
          <p:cNvSpPr/>
          <p:nvPr/>
        </p:nvSpPr>
        <p:spPr>
          <a:xfrm>
            <a:off x="571500" y="31316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5"/>
          <p:cNvSpPr/>
          <p:nvPr/>
        </p:nvSpPr>
        <p:spPr>
          <a:xfrm>
            <a:off x="571500" y="31316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5"/>
          <p:cNvSpPr/>
          <p:nvPr/>
        </p:nvSpPr>
        <p:spPr>
          <a:xfrm>
            <a:off x="571500" y="39164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5"/>
          <p:cNvSpPr/>
          <p:nvPr/>
        </p:nvSpPr>
        <p:spPr>
          <a:xfrm>
            <a:off x="571500" y="39164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5"/>
          <p:cNvSpPr/>
          <p:nvPr/>
        </p:nvSpPr>
        <p:spPr>
          <a:xfrm>
            <a:off x="571500" y="48992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5"/>
          <p:cNvSpPr/>
          <p:nvPr/>
        </p:nvSpPr>
        <p:spPr>
          <a:xfrm>
            <a:off x="571500" y="48992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5"/>
          <p:cNvSpPr/>
          <p:nvPr/>
        </p:nvSpPr>
        <p:spPr>
          <a:xfrm>
            <a:off x="571500" y="568404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5"/>
          <p:cNvSpPr/>
          <p:nvPr/>
        </p:nvSpPr>
        <p:spPr>
          <a:xfrm>
            <a:off x="571500" y="568404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5"/>
          <p:cNvSpPr txBox="1"/>
          <p:nvPr/>
        </p:nvSpPr>
        <p:spPr>
          <a:xfrm>
            <a:off x="1666875" y="17145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https://www.conceptdraw.com/How-To-Guide/picture/UML-use-case-diagram-template-System-of-goods-selling-via-catalogues.png</a:t>
            </a:r>
            <a:endParaRPr/>
          </a:p>
        </p:txBody>
      </p:sp>
      <p:sp>
        <p:nvSpPr>
          <p:cNvPr id="572" name="Google Shape;572;p45"/>
          <p:cNvSpPr txBox="1"/>
          <p:nvPr/>
        </p:nvSpPr>
        <p:spPr>
          <a:xfrm>
            <a:off x="1666875" y="19602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www.conceptdraw.com</a:t>
            </a:r>
            <a:endParaRPr/>
          </a:p>
        </p:txBody>
      </p:sp>
      <p:sp>
        <p:nvSpPr>
          <p:cNvPr id="573" name="Google Shape;573;p45"/>
          <p:cNvSpPr txBox="1"/>
          <p:nvPr/>
        </p:nvSpPr>
        <p:spPr>
          <a:xfrm>
            <a:off x="1666875" y="249927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https://cdn.processon.io/admin/knowledge/article_content_img/69ba33769f45934b6e20ef52.png</a:t>
            </a:r>
            <a:endParaRPr/>
          </a:p>
        </p:txBody>
      </p:sp>
      <p:sp>
        <p:nvSpPr>
          <p:cNvPr id="574" name="Google Shape;574;p45"/>
          <p:cNvSpPr txBox="1"/>
          <p:nvPr/>
        </p:nvSpPr>
        <p:spPr>
          <a:xfrm>
            <a:off x="1666875" y="274498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www.processon.io</a:t>
            </a:r>
            <a:endParaRPr/>
          </a:p>
        </p:txBody>
      </p:sp>
      <p:sp>
        <p:nvSpPr>
          <p:cNvPr id="575" name="Google Shape;575;p45"/>
          <p:cNvSpPr txBox="1"/>
          <p:nvPr/>
        </p:nvSpPr>
        <p:spPr>
          <a:xfrm>
            <a:off x="1666875" y="328404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https://www.mdpi.com/sensors/sensors-21-03784/article_deploy/html/images/sensors-21-03784-g001.png</a:t>
            </a:r>
            <a:endParaRPr/>
          </a:p>
        </p:txBody>
      </p:sp>
      <p:sp>
        <p:nvSpPr>
          <p:cNvPr id="576" name="Google Shape;576;p45"/>
          <p:cNvSpPr txBox="1"/>
          <p:nvPr/>
        </p:nvSpPr>
        <p:spPr>
          <a:xfrm>
            <a:off x="1666875" y="352975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www.mdpi.com</a:t>
            </a:r>
            <a:endParaRPr/>
          </a:p>
        </p:txBody>
      </p:sp>
      <p:sp>
        <p:nvSpPr>
          <p:cNvPr id="577" name="Google Shape;577;p45"/>
          <p:cNvSpPr txBox="1"/>
          <p:nvPr/>
        </p:nvSpPr>
        <p:spPr>
          <a:xfrm>
            <a:off x="1666875" y="406881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https://static.vecteezy.com/system/resources/thumbnails/075/404/627/small_2x/futuristic-abstract-wave-background-with-flowing-blue-lines-glowing-dots-and-connected-network-nodes-representing-data-and-technology-vector.jpg</a:t>
            </a:r>
            <a:endParaRPr/>
          </a:p>
        </p:txBody>
      </p:sp>
      <p:sp>
        <p:nvSpPr>
          <p:cNvPr id="578" name="Google Shape;578;p45"/>
          <p:cNvSpPr txBox="1"/>
          <p:nvPr/>
        </p:nvSpPr>
        <p:spPr>
          <a:xfrm>
            <a:off x="1666875" y="451261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www.vecteezy.com</a:t>
            </a:r>
            <a:endParaRPr/>
          </a:p>
        </p:txBody>
      </p:sp>
      <p:sp>
        <p:nvSpPr>
          <p:cNvPr id="579" name="Google Shape;579;p45"/>
          <p:cNvSpPr txBox="1"/>
          <p:nvPr/>
        </p:nvSpPr>
        <p:spPr>
          <a:xfrm>
            <a:off x="1666875" y="505167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https://assets.qlik.com/image/upload/f_auto/q_auto/v1702367209/qlik/glossary/dashboard-examples/seo-hero-dashboard-examples_uyouwd.jpg</a:t>
            </a:r>
            <a:endParaRPr/>
          </a:p>
        </p:txBody>
      </p:sp>
      <p:sp>
        <p:nvSpPr>
          <p:cNvPr id="580" name="Google Shape;580;p45"/>
          <p:cNvSpPr txBox="1"/>
          <p:nvPr/>
        </p:nvSpPr>
        <p:spPr>
          <a:xfrm>
            <a:off x="1666875" y="529738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www.qlik.com</a:t>
            </a:r>
            <a:endParaRPr/>
          </a:p>
        </p:txBody>
      </p:sp>
      <p:sp>
        <p:nvSpPr>
          <p:cNvPr id="581" name="Google Shape;581;p45"/>
          <p:cNvSpPr txBox="1"/>
          <p:nvPr/>
        </p:nvSpPr>
        <p:spPr>
          <a:xfrm>
            <a:off x="1666875" y="583644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https://cms.boardmix.com/images/articles/uml-class-diagram.png</a:t>
            </a:r>
            <a:endParaRPr/>
          </a:p>
        </p:txBody>
      </p:sp>
      <p:sp>
        <p:nvSpPr>
          <p:cNvPr id="582" name="Google Shape;582;p45"/>
          <p:cNvSpPr txBox="1"/>
          <p:nvPr/>
        </p:nvSpPr>
        <p:spPr>
          <a:xfrm>
            <a:off x="1666875" y="608215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boardmix.com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7467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94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6"/>
          <p:cNvSpPr txBox="1"/>
          <p:nvPr/>
        </p:nvSpPr>
        <p:spPr>
          <a:xfrm>
            <a:off x="800100" y="571500"/>
            <a:ext cx="1136142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Image Sources</a:t>
            </a:r>
            <a:endParaRPr dirty="0"/>
          </a:p>
        </p:txBody>
      </p:sp>
      <p:sp>
        <p:nvSpPr>
          <p:cNvPr id="591" name="Google Shape;591;p46"/>
          <p:cNvSpPr/>
          <p:nvPr/>
        </p:nvSpPr>
        <p:spPr>
          <a:xfrm>
            <a:off x="571500" y="571500"/>
            <a:ext cx="76200" cy="771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6"/>
          <p:cNvSpPr/>
          <p:nvPr/>
        </p:nvSpPr>
        <p:spPr>
          <a:xfrm>
            <a:off x="571500" y="322525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6"/>
          <p:cNvSpPr/>
          <p:nvPr/>
        </p:nvSpPr>
        <p:spPr>
          <a:xfrm>
            <a:off x="571500" y="4000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6"/>
          <p:cNvSpPr/>
          <p:nvPr/>
        </p:nvSpPr>
        <p:spPr>
          <a:xfrm>
            <a:off x="571500" y="4000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6"/>
          <p:cNvSpPr txBox="1"/>
          <p:nvPr/>
        </p:nvSpPr>
        <p:spPr>
          <a:xfrm>
            <a:off x="1666875" y="336812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https://cdn-images.visual-paradigm.com/guide/uml/what-is-deployment-diagram/02-deployment-diagram-notations.png</a:t>
            </a:r>
            <a:endParaRPr/>
          </a:p>
        </p:txBody>
      </p:sp>
      <p:sp>
        <p:nvSpPr>
          <p:cNvPr id="596" name="Google Shape;596;p46"/>
          <p:cNvSpPr txBox="1"/>
          <p:nvPr/>
        </p:nvSpPr>
        <p:spPr>
          <a:xfrm>
            <a:off x="1666875" y="36138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www.visual-paradigm.com</a:t>
            </a:r>
            <a:endParaRPr/>
          </a:p>
        </p:txBody>
      </p:sp>
      <p:sp>
        <p:nvSpPr>
          <p:cNvPr id="597" name="Google Shape;597;p46"/>
          <p:cNvSpPr txBox="1"/>
          <p:nvPr/>
        </p:nvSpPr>
        <p:spPr>
          <a:xfrm>
            <a:off x="1666875" y="41529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https://media.istockphoto.com/id/2153774982/vector/glowing-blue-question-mark.jpg?s=612x612&amp;w=0&amp;k=20&amp;c=Q0KQJaPHwSSm8v3jPnqbzc0ZC0jKwNiHY3-asULNpTY=</a:t>
            </a:r>
            <a:endParaRPr/>
          </a:p>
        </p:txBody>
      </p:sp>
      <p:sp>
        <p:nvSpPr>
          <p:cNvPr id="598" name="Google Shape;598;p46"/>
          <p:cNvSpPr txBox="1"/>
          <p:nvPr/>
        </p:nvSpPr>
        <p:spPr>
          <a:xfrm>
            <a:off x="1666875" y="43986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1629</Words>
  <Application>Microsoft Office PowerPoint</Application>
  <PresentationFormat>宽屏</PresentationFormat>
  <Paragraphs>255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9" baseType="lpstr">
      <vt:lpstr>Noto Sans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a96766</cp:lastModifiedBy>
  <cp:revision>7</cp:revision>
  <dcterms:modified xsi:type="dcterms:W3CDTF">2026-06-06T05:10:33Z</dcterms:modified>
</cp:coreProperties>
</file>