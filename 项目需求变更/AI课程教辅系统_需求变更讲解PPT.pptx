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均值</c:v>
          </c:tx>
          <c:spPr>
            <a:solidFill>
              <a:srgbClr val="1E3A8A"/>
            </a:solidFill>
          </c:spPr>
          <c:invertIfNegative val="1"/>
          <c:dLbls>
            <c:delete val="1"/>
          </c:dLbls>
          <c:cat>
            <c:strLit>
              <c:ptCount val="4"/>
              <c:pt idx="0">
                <c:v>XM01 利益</c:v>
              </c:pt>
              <c:pt idx="1">
                <c:v>XM01 损失</c:v>
              </c:pt>
              <c:pt idx="2">
                <c:v>XM02 利益</c:v>
              </c:pt>
              <c:pt idx="3">
                <c:v>XM02 损失</c:v>
              </c:pt>
            </c:strLit>
          </c:cat>
          <c:val>
            <c:numLit>
              <c:formatCode>General</c:formatCode>
              <c:ptCount val="4"/>
              <c:pt idx="0">
                <c:v>5.67</c:v>
              </c:pt>
              <c:pt idx="1">
                <c:v>4.67</c:v>
              </c:pt>
              <c:pt idx="2">
                <c:v>5.33</c:v>
              </c:pt>
              <c:pt idx="3">
                <c:v>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A59-43E2-8DBB-43D225E4CA4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2E8F0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64748B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BD5E1"/>
            </a:solidFill>
            <a:prstDash val="solid"/>
          </a:ln>
        </c:spPr>
        <c:txPr>
          <a:bodyPr anchorCtr="1"/>
          <a:lstStyle/>
          <a:p>
            <a:pPr>
              <a:defRPr sz="938">
                <a:solidFill>
                  <a:srgbClr val="101827"/>
                </a:solidFill>
              </a:defRPr>
            </a:pPr>
            <a:endParaRPr lang="zh-CN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开场先把这次优化版的视觉重点说清楚：更适合正式评审展示。</a:t>
            </a:r>
          </a:p>
          <a:p>
            <a:r>
              <a:t>核心结论保持不变：建议批准 CR-20260615-002，纳入 V1.1，分阶段实施。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这一页要讲清楚：变更不是为了好看，而是为了统一身份展示策略。</a:t>
            </a:r>
          </a:p>
          <a:p>
            <a:r>
              <a:t>把价值分别落到教师、学生、管理员三类角色。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这一页不需要逐字解释截图，重点说两项需求合起来变成用户资料展示能力。</a:t>
            </a:r>
          </a:p>
          <a:p>
            <a:r>
              <a:t>底部字段联动强调这不是纯前端改动。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 QFD 时要克制：这是排序辅助。</a:t>
            </a:r>
          </a:p>
          <a:p>
            <a:r>
              <a:t>强调利益均值超过 5，但样本只有 3 份，所以最终还要看迭代容量和风险。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把六类影响讲成一张范围地图。</a:t>
            </a:r>
          </a:p>
          <a:p>
            <a:r>
              <a:t>强调“边界清楚”：不会动核心 AI 教学闭环。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这页按三条线讲：上传安全、身份审计、页面同步。</a:t>
            </a:r>
          </a:p>
          <a:p>
            <a:r>
              <a:t>风险控制措施都可以变成开发和测试检查项。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验收页用作行动清单。</a:t>
            </a:r>
          </a:p>
          <a:p>
            <a:r>
              <a:t>强调同步制品也是验收的一部分，尤其是 SRS、数据字典和追踪矩阵。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最后一页作为备查页。</a:t>
            </a:r>
          </a:p>
          <a:p>
            <a:r>
              <a:t>如果评审时追问事实来源，就指向这些受控制品。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4F8E4-FA75-70B3-EB82-8CCEB1934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357DB6-37EC-737C-8058-DD35019472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B5B741-5104-562E-5479-CFBE141869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4A5BB2-C0A2-6E5C-F9C8-F73087E8DF8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5227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3684F581-3AC8-4318-8122-1112CD482B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61950" cy="6858000"/>
          </a:xfrm>
          <a:prstGeom prst="rect">
            <a:avLst/>
          </a:prstGeom>
          <a:solidFill>
            <a:srgbClr val="1E3A8A"/>
          </a:solidFill>
          <a:ln w="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92AAD72-F218-4687-89CB-F9BE7B6D8893}"/>
              </a:ext>
            </a:extLst>
          </p:cNvPr>
          <p:cNvSpPr>
            <a:spLocks noGrp="1"/>
          </p:cNvSpPr>
          <p:nvPr/>
        </p:nvSpPr>
        <p:spPr>
          <a:xfrm>
            <a:off x="361950" y="0"/>
            <a:ext cx="11830050" cy="1123950"/>
          </a:xfrm>
          <a:prstGeom prst="rect">
            <a:avLst/>
          </a:prstGeom>
          <a:solidFill>
            <a:srgbClr val="EAF1FF"/>
          </a:solidFill>
          <a:ln w="0">
            <a:solidFill>
              <a:srgbClr val="EAF1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pill-CR-20260615-002">
            <a:extLst>
              <a:ext uri="{FF2B5EF4-FFF2-40B4-BE49-F238E27FC236}">
                <a16:creationId xmlns:a16="http://schemas.microsoft.com/office/drawing/2014/main" id="{4D18F088-55E7-4CD1-B9D4-1F8B1F72C846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16002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CR-20260615-002</a:t>
            </a:r>
          </a:p>
        </p:txBody>
      </p:sp>
      <p:sp>
        <p:nvSpPr>
          <p:cNvPr id="4" name="cover-kicker">
            <a:extLst>
              <a:ext uri="{FF2B5EF4-FFF2-40B4-BE49-F238E27FC236}">
                <a16:creationId xmlns:a16="http://schemas.microsoft.com/office/drawing/2014/main" id="{B305A060-4267-44A0-95BC-B804EDC1D7CB}"/>
              </a:ext>
            </a:extLst>
          </p:cNvPr>
          <p:cNvSpPr>
            <a:spLocks noGrp="1"/>
          </p:cNvSpPr>
          <p:nvPr/>
        </p:nvSpPr>
        <p:spPr>
          <a:xfrm>
            <a:off x="711495" y="1791143"/>
            <a:ext cx="10769009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dirty="0" err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需求变更讲解</a:t>
            </a:r>
            <a:endParaRPr sz="1050" b="1" dirty="0">
              <a:solidFill>
                <a:srgbClr val="0F766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cover-title">
            <a:extLst>
              <a:ext uri="{FF2B5EF4-FFF2-40B4-BE49-F238E27FC236}">
                <a16:creationId xmlns:a16="http://schemas.microsoft.com/office/drawing/2014/main" id="{518E7D10-9B63-40D6-B1CE-E04582C1ABD4}"/>
              </a:ext>
            </a:extLst>
          </p:cNvPr>
          <p:cNvSpPr>
            <a:spLocks noGrp="1"/>
          </p:cNvSpPr>
          <p:nvPr/>
        </p:nvSpPr>
        <p:spPr>
          <a:xfrm>
            <a:off x="711495" y="2134043"/>
            <a:ext cx="10769009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42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 dirty="0" err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用户资料展示能力增强</a:t>
            </a:r>
            <a:endParaRPr sz="4200" b="1" dirty="0">
              <a:solidFill>
                <a:srgbClr val="10182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cover-sub">
            <a:extLst>
              <a:ext uri="{FF2B5EF4-FFF2-40B4-BE49-F238E27FC236}">
                <a16:creationId xmlns:a16="http://schemas.microsoft.com/office/drawing/2014/main" id="{C8FE7031-EF86-457B-9171-38BFB61D74A5}"/>
              </a:ext>
            </a:extLst>
          </p:cNvPr>
          <p:cNvSpPr>
            <a:spLocks noGrp="1"/>
          </p:cNvSpPr>
          <p:nvPr/>
        </p:nvSpPr>
        <p:spPr>
          <a:xfrm>
            <a:off x="749595" y="3029393"/>
            <a:ext cx="10730909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50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G08</a:t>
            </a:r>
            <a:r>
              <a:rPr lang="zh-CN" altLang="en-US" sz="150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小组</a:t>
            </a:r>
            <a:endParaRPr sz="1500" dirty="0">
              <a:solidFill>
                <a:srgbClr val="64748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DD95DAE0-4F2B-4D99-B77B-9972BEADFBD5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553700" cy="0"/>
          </a:xfrm>
          <a:prstGeom prst="line">
            <a:avLst/>
          </a:prstGeom>
          <a:noFill/>
          <a:ln w="952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footer">
            <a:extLst>
              <a:ext uri="{FF2B5EF4-FFF2-40B4-BE49-F238E27FC236}">
                <a16:creationId xmlns:a16="http://schemas.microsoft.com/office/drawing/2014/main" id="{14B174F8-DF97-4FE2-9E3E-3FD4049EEB4C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13">
                <a:solidFill>
                  <a:srgbClr val="8290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290A2"/>
                </a:solidFill>
                <a:latin typeface="Microsoft YaHei"/>
                <a:ea typeface="Microsoft YaHei"/>
                <a:cs typeface="Microsoft YaHei"/>
              </a:rPr>
              <a:t>AI课程教辅系统 · 需求变更汇报</a:t>
            </a:r>
          </a:p>
        </p:txBody>
      </p:sp>
      <p:sp>
        <p:nvSpPr>
          <p:cNvPr id="31" name="footer-page">
            <a:extLst>
              <a:ext uri="{FF2B5EF4-FFF2-40B4-BE49-F238E27FC236}">
                <a16:creationId xmlns:a16="http://schemas.microsoft.com/office/drawing/2014/main" id="{DC6108A2-4947-4850-B114-EF08684C69E0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1">
                <a:solidFill>
                  <a:srgbClr val="8290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290A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0D58B0C7-8002-ACBC-06AB-E3EA7B0A88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032" y="3029393"/>
            <a:ext cx="3592033" cy="3592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213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left-spine">
            <a:extLst>
              <a:ext uri="{FF2B5EF4-FFF2-40B4-BE49-F238E27FC236}">
                <a16:creationId xmlns:a16="http://schemas.microsoft.com/office/drawing/2014/main" id="{39979CA1-682C-4091-959A-2EE9871A97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61950" cy="6858000"/>
          </a:xfrm>
          <a:prstGeom prst="rect">
            <a:avLst/>
          </a:prstGeom>
          <a:solidFill>
            <a:srgbClr val="1E3A8A"/>
          </a:solidFill>
          <a:ln w="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spine-num">
            <a:extLst>
              <a:ext uri="{FF2B5EF4-FFF2-40B4-BE49-F238E27FC236}">
                <a16:creationId xmlns:a16="http://schemas.microsoft.com/office/drawing/2014/main" id="{AF483571-32F0-4E3E-B449-14AC429746C7}"/>
              </a:ext>
            </a:extLst>
          </p:cNvPr>
          <p:cNvSpPr>
            <a:spLocks noGrp="1"/>
          </p:cNvSpPr>
          <p:nvPr/>
        </p:nvSpPr>
        <p:spPr>
          <a:xfrm>
            <a:off x="66675" y="32385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section-label">
            <a:extLst>
              <a:ext uri="{FF2B5EF4-FFF2-40B4-BE49-F238E27FC236}">
                <a16:creationId xmlns:a16="http://schemas.microsoft.com/office/drawing/2014/main" id="{E0C8A16F-5D9F-40C8-8C2C-F711C82E1FFE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CONTEXT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6E7B7E02-C5E2-4684-A23E-17805C9D61A5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变更的真正问题：身份展示没有统一标准</a:t>
            </a:r>
          </a:p>
        </p:txBody>
      </p:sp>
      <p:sp>
        <p:nvSpPr>
          <p:cNvPr id="5" name="slide-subtitle">
            <a:extLst>
              <a:ext uri="{FF2B5EF4-FFF2-40B4-BE49-F238E27FC236}">
                <a16:creationId xmlns:a16="http://schemas.microsoft.com/office/drawing/2014/main" id="{05C3FC9D-15BD-42B4-8A1A-0B48CD822807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现有基线有多角色入口，但头像、昵称与真实姓名的展示边界不清。</a:t>
            </a:r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F280D25C-9BB8-4229-A5FA-3F2EE0169135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553700" cy="0"/>
          </a:xfrm>
          <a:prstGeom prst="line">
            <a:avLst/>
          </a:prstGeom>
          <a:noFill/>
          <a:ln w="952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F4123FC2-C7A8-4B83-B049-5AA5C8F27258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13">
                <a:solidFill>
                  <a:srgbClr val="8290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290A2"/>
                </a:solidFill>
                <a:latin typeface="Microsoft YaHei"/>
                <a:ea typeface="Microsoft YaHei"/>
                <a:cs typeface="Microsoft YaHei"/>
              </a:rPr>
              <a:t>AI课程教辅系统 · CR-20260615-002 · 用户资料展示能力增强</a:t>
            </a:r>
          </a:p>
        </p:txBody>
      </p:sp>
      <p:sp>
        <p:nvSpPr>
          <p:cNvPr id="8" name="footer-page">
            <a:extLst>
              <a:ext uri="{FF2B5EF4-FFF2-40B4-BE49-F238E27FC236}">
                <a16:creationId xmlns:a16="http://schemas.microsoft.com/office/drawing/2014/main" id="{D38C458A-7A01-416B-B312-50DCD0983E40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1">
                <a:solidFill>
                  <a:srgbClr val="8290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290A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problem">
            <a:extLst>
              <a:ext uri="{FF2B5EF4-FFF2-40B4-BE49-F238E27FC236}">
                <a16:creationId xmlns:a16="http://schemas.microsoft.com/office/drawing/2014/main" id="{59FDB26E-4831-422D-8935-E5C59320E8A1}"/>
              </a:ext>
            </a:extLst>
          </p:cNvPr>
          <p:cNvSpPr>
            <a:spLocks noGrp="1"/>
          </p:cNvSpPr>
          <p:nvPr/>
        </p:nvSpPr>
        <p:spPr>
          <a:xfrm>
            <a:off x="723900" y="1695450"/>
            <a:ext cx="4953000" cy="3543300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0" name="problem-title">
            <a:extLst>
              <a:ext uri="{FF2B5EF4-FFF2-40B4-BE49-F238E27FC236}">
                <a16:creationId xmlns:a16="http://schemas.microsoft.com/office/drawing/2014/main" id="{1256E091-ABD2-44D4-B674-E84E4B8AECE4}"/>
              </a:ext>
            </a:extLst>
          </p:cNvPr>
          <p:cNvSpPr>
            <a:spLocks noGrp="1"/>
          </p:cNvSpPr>
          <p:nvPr/>
        </p:nvSpPr>
        <p:spPr>
          <a:xfrm>
            <a:off x="1028700" y="200025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当前基线缺口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34A345E-57C1-4B40-B295-AA803DAF7708}"/>
              </a:ext>
            </a:extLst>
          </p:cNvPr>
          <p:cNvSpPr>
            <a:spLocks noGrp="1"/>
          </p:cNvSpPr>
          <p:nvPr/>
        </p:nvSpPr>
        <p:spPr>
          <a:xfrm>
            <a:off x="1104900" y="2667000"/>
            <a:ext cx="76200" cy="76200"/>
          </a:xfrm>
          <a:prstGeom prst="ellipse">
            <a:avLst/>
          </a:prstGeom>
          <a:solidFill>
            <a:srgbClr val="1E3A8A"/>
          </a:solidFill>
          <a:ln w="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bullet">
            <a:extLst>
              <a:ext uri="{FF2B5EF4-FFF2-40B4-BE49-F238E27FC236}">
                <a16:creationId xmlns:a16="http://schemas.microsoft.com/office/drawing/2014/main" id="{1E7A1CA0-28A0-41C6-BB7D-84998A469AC8}"/>
              </a:ext>
            </a:extLst>
          </p:cNvPr>
          <p:cNvSpPr>
            <a:spLocks noGrp="1"/>
          </p:cNvSpPr>
          <p:nvPr/>
        </p:nvSpPr>
        <p:spPr>
          <a:xfrm>
            <a:off x="1295400" y="259080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38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头像来源、默认头像、修改后同步范围不明确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5CA67D4-7A08-461E-BE09-ABF97FF947EA}"/>
              </a:ext>
            </a:extLst>
          </p:cNvPr>
          <p:cNvSpPr>
            <a:spLocks noGrp="1"/>
          </p:cNvSpPr>
          <p:nvPr/>
        </p:nvSpPr>
        <p:spPr>
          <a:xfrm>
            <a:off x="1104900" y="3200400"/>
            <a:ext cx="76200" cy="76200"/>
          </a:xfrm>
          <a:prstGeom prst="ellipse">
            <a:avLst/>
          </a:prstGeom>
          <a:solidFill>
            <a:srgbClr val="1E3A8A"/>
          </a:solidFill>
          <a:ln w="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bullet">
            <a:extLst>
              <a:ext uri="{FF2B5EF4-FFF2-40B4-BE49-F238E27FC236}">
                <a16:creationId xmlns:a16="http://schemas.microsoft.com/office/drawing/2014/main" id="{27061536-00F7-43E8-847F-DE1018C05005}"/>
              </a:ext>
            </a:extLst>
          </p:cNvPr>
          <p:cNvSpPr>
            <a:spLocks noGrp="1"/>
          </p:cNvSpPr>
          <p:nvPr/>
        </p:nvSpPr>
        <p:spPr>
          <a:xfrm>
            <a:off x="1295400" y="312420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38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昵称与真实姓名在展示/审计场景中边界不清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4E3D6CC-1BD4-451F-95F4-6294844BDB6A}"/>
              </a:ext>
            </a:extLst>
          </p:cNvPr>
          <p:cNvSpPr>
            <a:spLocks noGrp="1"/>
          </p:cNvSpPr>
          <p:nvPr/>
        </p:nvSpPr>
        <p:spPr>
          <a:xfrm>
            <a:off x="1104900" y="3733800"/>
            <a:ext cx="76200" cy="76200"/>
          </a:xfrm>
          <a:prstGeom prst="ellipse">
            <a:avLst/>
          </a:prstGeom>
          <a:solidFill>
            <a:srgbClr val="1E3A8A"/>
          </a:solidFill>
          <a:ln w="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bullet">
            <a:extLst>
              <a:ext uri="{FF2B5EF4-FFF2-40B4-BE49-F238E27FC236}">
                <a16:creationId xmlns:a16="http://schemas.microsoft.com/office/drawing/2014/main" id="{B633AA8D-64DF-44D0-9686-942BB4ACF0C4}"/>
              </a:ext>
            </a:extLst>
          </p:cNvPr>
          <p:cNvSpPr>
            <a:spLocks noGrp="1"/>
          </p:cNvSpPr>
          <p:nvPr/>
        </p:nvSpPr>
        <p:spPr>
          <a:xfrm>
            <a:off x="1295400" y="365760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38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教师端、学生端、管理员端可能各自处理展示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A66FCC42-3F7C-4C0F-86BB-8D40D2EA17A7}"/>
              </a:ext>
            </a:extLst>
          </p:cNvPr>
          <p:cNvSpPr>
            <a:spLocks noGrp="1"/>
          </p:cNvSpPr>
          <p:nvPr/>
        </p:nvSpPr>
        <p:spPr>
          <a:xfrm>
            <a:off x="1104900" y="4267200"/>
            <a:ext cx="76200" cy="76200"/>
          </a:xfrm>
          <a:prstGeom prst="ellipse">
            <a:avLst/>
          </a:prstGeom>
          <a:solidFill>
            <a:srgbClr val="1E3A8A"/>
          </a:solidFill>
          <a:ln w="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bullet">
            <a:extLst>
              <a:ext uri="{FF2B5EF4-FFF2-40B4-BE49-F238E27FC236}">
                <a16:creationId xmlns:a16="http://schemas.microsoft.com/office/drawing/2014/main" id="{DC2440F0-953A-4A2A-9387-5CE7932A856F}"/>
              </a:ext>
            </a:extLst>
          </p:cNvPr>
          <p:cNvSpPr>
            <a:spLocks noGrp="1"/>
          </p:cNvSpPr>
          <p:nvPr/>
        </p:nvSpPr>
        <p:spPr>
          <a:xfrm>
            <a:off x="1295400" y="419100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38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后续页面分别补丁，容易形成返工和不一致</a:t>
            </a:r>
          </a:p>
        </p:txBody>
      </p:sp>
      <p:sp>
        <p:nvSpPr>
          <p:cNvPr id="19" name="role">
            <a:extLst>
              <a:ext uri="{FF2B5EF4-FFF2-40B4-BE49-F238E27FC236}">
                <a16:creationId xmlns:a16="http://schemas.microsoft.com/office/drawing/2014/main" id="{48B3C3F2-AEC1-46D2-88EC-59E2CC4854C9}"/>
              </a:ext>
            </a:extLst>
          </p:cNvPr>
          <p:cNvSpPr>
            <a:spLocks noGrp="1"/>
          </p:cNvSpPr>
          <p:nvPr/>
        </p:nvSpPr>
        <p:spPr>
          <a:xfrm>
            <a:off x="6134100" y="1695450"/>
            <a:ext cx="4762500" cy="3543300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20" name="role-title">
            <a:extLst>
              <a:ext uri="{FF2B5EF4-FFF2-40B4-BE49-F238E27FC236}">
                <a16:creationId xmlns:a16="http://schemas.microsoft.com/office/drawing/2014/main" id="{25F3B593-6E34-4D13-BDDF-AA74DBAD8FFE}"/>
              </a:ext>
            </a:extLst>
          </p:cNvPr>
          <p:cNvSpPr>
            <a:spLocks noGrp="1"/>
          </p:cNvSpPr>
          <p:nvPr/>
        </p:nvSpPr>
        <p:spPr>
          <a:xfrm>
            <a:off x="6438900" y="20002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三类角色看到的价值</a:t>
            </a:r>
          </a:p>
        </p:txBody>
      </p:sp>
      <p:sp>
        <p:nvSpPr>
          <p:cNvPr id="21" name="role-card0">
            <a:extLst>
              <a:ext uri="{FF2B5EF4-FFF2-40B4-BE49-F238E27FC236}">
                <a16:creationId xmlns:a16="http://schemas.microsoft.com/office/drawing/2014/main" id="{E6E277B9-3611-4579-8BC7-21B5544FC3AA}"/>
              </a:ext>
            </a:extLst>
          </p:cNvPr>
          <p:cNvSpPr>
            <a:spLocks noGrp="1"/>
          </p:cNvSpPr>
          <p:nvPr/>
        </p:nvSpPr>
        <p:spPr>
          <a:xfrm>
            <a:off x="6438900" y="2571750"/>
            <a:ext cx="3848100" cy="495300"/>
          </a:xfrm>
          <a:prstGeom prst="roundRect">
            <a:avLst>
              <a:gd name="adj" fmla="val 19231"/>
            </a:avLst>
          </a:prstGeom>
          <a:solidFill>
            <a:srgbClr val="EAF1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role-name0">
            <a:extLst>
              <a:ext uri="{FF2B5EF4-FFF2-40B4-BE49-F238E27FC236}">
                <a16:creationId xmlns:a16="http://schemas.microsoft.com/office/drawing/2014/main" id="{1C364204-0E6F-456A-97DB-E62F554260B6}"/>
              </a:ext>
            </a:extLst>
          </p:cNvPr>
          <p:cNvSpPr>
            <a:spLocks noGrp="1"/>
          </p:cNvSpPr>
          <p:nvPr/>
        </p:nvSpPr>
        <p:spPr>
          <a:xfrm>
            <a:off x="6648450" y="2705100"/>
            <a:ext cx="781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63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教师端</a:t>
            </a:r>
          </a:p>
        </p:txBody>
      </p:sp>
      <p:sp>
        <p:nvSpPr>
          <p:cNvPr id="23" name="role-desc0">
            <a:extLst>
              <a:ext uri="{FF2B5EF4-FFF2-40B4-BE49-F238E27FC236}">
                <a16:creationId xmlns:a16="http://schemas.microsoft.com/office/drawing/2014/main" id="{06AAEC82-9987-4298-B013-6CF2B4783414}"/>
              </a:ext>
            </a:extLst>
          </p:cNvPr>
          <p:cNvSpPr>
            <a:spLocks noGrp="1"/>
          </p:cNvSpPr>
          <p:nvPr/>
        </p:nvSpPr>
        <p:spPr>
          <a:xfrm>
            <a:off x="7524750" y="2667000"/>
            <a:ext cx="2495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65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快速识别工作台、审核记录、发布记录操作者</a:t>
            </a:r>
          </a:p>
        </p:txBody>
      </p:sp>
      <p:sp>
        <p:nvSpPr>
          <p:cNvPr id="24" name="role-card1">
            <a:extLst>
              <a:ext uri="{FF2B5EF4-FFF2-40B4-BE49-F238E27FC236}">
                <a16:creationId xmlns:a16="http://schemas.microsoft.com/office/drawing/2014/main" id="{A48C9634-0E6C-462E-B2E8-D17B7F9CA01E}"/>
              </a:ext>
            </a:extLst>
          </p:cNvPr>
          <p:cNvSpPr>
            <a:spLocks noGrp="1"/>
          </p:cNvSpPr>
          <p:nvPr/>
        </p:nvSpPr>
        <p:spPr>
          <a:xfrm>
            <a:off x="6438900" y="3295650"/>
            <a:ext cx="3848100" cy="495300"/>
          </a:xfrm>
          <a:prstGeom prst="roundRect">
            <a:avLst>
              <a:gd name="adj" fmla="val 19231"/>
            </a:avLst>
          </a:prstGeom>
          <a:solidFill>
            <a:srgbClr val="E6F4F0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role-name1">
            <a:extLst>
              <a:ext uri="{FF2B5EF4-FFF2-40B4-BE49-F238E27FC236}">
                <a16:creationId xmlns:a16="http://schemas.microsoft.com/office/drawing/2014/main" id="{CEDC8847-0BB9-4C65-A0C7-3C6E8359C873}"/>
              </a:ext>
            </a:extLst>
          </p:cNvPr>
          <p:cNvSpPr>
            <a:spLocks noGrp="1"/>
          </p:cNvSpPr>
          <p:nvPr/>
        </p:nvSpPr>
        <p:spPr>
          <a:xfrm>
            <a:off x="6648450" y="3429000"/>
            <a:ext cx="781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63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学生端</a:t>
            </a:r>
          </a:p>
        </p:txBody>
      </p:sp>
      <p:sp>
        <p:nvSpPr>
          <p:cNvPr id="26" name="role-desc1">
            <a:extLst>
              <a:ext uri="{FF2B5EF4-FFF2-40B4-BE49-F238E27FC236}">
                <a16:creationId xmlns:a16="http://schemas.microsoft.com/office/drawing/2014/main" id="{F14A69E9-A4AA-406A-958E-C3A790BF2EA2}"/>
              </a:ext>
            </a:extLst>
          </p:cNvPr>
          <p:cNvSpPr>
            <a:spLocks noGrp="1"/>
          </p:cNvSpPr>
          <p:nvPr/>
        </p:nvSpPr>
        <p:spPr>
          <a:xfrm>
            <a:off x="7524750" y="3390900"/>
            <a:ext cx="2495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65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公开互动可显示昵称，减少真实姓名暴露</a:t>
            </a:r>
          </a:p>
        </p:txBody>
      </p:sp>
      <p:sp>
        <p:nvSpPr>
          <p:cNvPr id="27" name="role-card2">
            <a:extLst>
              <a:ext uri="{FF2B5EF4-FFF2-40B4-BE49-F238E27FC236}">
                <a16:creationId xmlns:a16="http://schemas.microsoft.com/office/drawing/2014/main" id="{25B55CA7-1257-44C4-9CEA-9B3855FF05A4}"/>
              </a:ext>
            </a:extLst>
          </p:cNvPr>
          <p:cNvSpPr>
            <a:spLocks noGrp="1"/>
          </p:cNvSpPr>
          <p:nvPr/>
        </p:nvSpPr>
        <p:spPr>
          <a:xfrm>
            <a:off x="6438900" y="4019550"/>
            <a:ext cx="3848100" cy="495300"/>
          </a:xfrm>
          <a:prstGeom prst="roundRect">
            <a:avLst>
              <a:gd name="adj" fmla="val 19231"/>
            </a:avLst>
          </a:prstGeom>
          <a:solidFill>
            <a:srgbClr val="FFF4D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role-name2">
            <a:extLst>
              <a:ext uri="{FF2B5EF4-FFF2-40B4-BE49-F238E27FC236}">
                <a16:creationId xmlns:a16="http://schemas.microsoft.com/office/drawing/2014/main" id="{72ED562D-3080-4610-8EB2-EFCD1E52D247}"/>
              </a:ext>
            </a:extLst>
          </p:cNvPr>
          <p:cNvSpPr>
            <a:spLocks noGrp="1"/>
          </p:cNvSpPr>
          <p:nvPr/>
        </p:nvSpPr>
        <p:spPr>
          <a:xfrm>
            <a:off x="6648450" y="4152900"/>
            <a:ext cx="781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63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管理员端</a:t>
            </a:r>
          </a:p>
        </p:txBody>
      </p:sp>
      <p:sp>
        <p:nvSpPr>
          <p:cNvPr id="29" name="role-desc2">
            <a:extLst>
              <a:ext uri="{FF2B5EF4-FFF2-40B4-BE49-F238E27FC236}">
                <a16:creationId xmlns:a16="http://schemas.microsoft.com/office/drawing/2014/main" id="{6473F7EC-8E5B-4547-8CDC-50A80936A53C}"/>
              </a:ext>
            </a:extLst>
          </p:cNvPr>
          <p:cNvSpPr>
            <a:spLocks noGrp="1"/>
          </p:cNvSpPr>
          <p:nvPr/>
        </p:nvSpPr>
        <p:spPr>
          <a:xfrm>
            <a:off x="7524750" y="4114800"/>
            <a:ext cx="2495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65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区分真实姓名、昵称和展示策略，保留审计一致性</a:t>
            </a:r>
          </a:p>
        </p:txBody>
      </p:sp>
      <p:sp>
        <p:nvSpPr>
          <p:cNvPr id="30" name="takeaway">
            <a:extLst>
              <a:ext uri="{FF2B5EF4-FFF2-40B4-BE49-F238E27FC236}">
                <a16:creationId xmlns:a16="http://schemas.microsoft.com/office/drawing/2014/main" id="{CB68CAA4-BAAF-4BA0-A136-470D330FA6F6}"/>
              </a:ext>
            </a:extLst>
          </p:cNvPr>
          <p:cNvSpPr>
            <a:spLocks noGrp="1"/>
          </p:cNvSpPr>
          <p:nvPr/>
        </p:nvSpPr>
        <p:spPr>
          <a:xfrm>
            <a:off x="1028700" y="5562600"/>
            <a:ext cx="933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设计判断：这是一个“跨角色身份展示标准化”问题，不是孤立的 UI 文案调整。</a:t>
            </a:r>
          </a:p>
        </p:txBody>
      </p:sp>
    </p:spTree>
    <p:extLst>
      <p:ext uri="{BB962C8B-B14F-4D97-AF65-F5344CB8AC3E}">
        <p14:creationId xmlns:p14="http://schemas.microsoft.com/office/powerpoint/2010/main" val="560533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eft-spine">
            <a:extLst>
              <a:ext uri="{FF2B5EF4-FFF2-40B4-BE49-F238E27FC236}">
                <a16:creationId xmlns:a16="http://schemas.microsoft.com/office/drawing/2014/main" id="{6727BF44-1A40-44F6-BB5E-66FCC30EEC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61950" cy="6858000"/>
          </a:xfrm>
          <a:prstGeom prst="rect">
            <a:avLst/>
          </a:prstGeom>
          <a:solidFill>
            <a:srgbClr val="1E3A8A"/>
          </a:solidFill>
          <a:ln w="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spine-num">
            <a:extLst>
              <a:ext uri="{FF2B5EF4-FFF2-40B4-BE49-F238E27FC236}">
                <a16:creationId xmlns:a16="http://schemas.microsoft.com/office/drawing/2014/main" id="{023E3CB4-F743-4691-AE47-E41007C2041B}"/>
              </a:ext>
            </a:extLst>
          </p:cNvPr>
          <p:cNvSpPr>
            <a:spLocks noGrp="1"/>
          </p:cNvSpPr>
          <p:nvPr/>
        </p:nvSpPr>
        <p:spPr>
          <a:xfrm>
            <a:off x="66675" y="32385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section-label">
            <a:extLst>
              <a:ext uri="{FF2B5EF4-FFF2-40B4-BE49-F238E27FC236}">
                <a16:creationId xmlns:a16="http://schemas.microsoft.com/office/drawing/2014/main" id="{6882EF8A-D555-45D5-81E6-AFF37E3E3DA7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CHANGE CONTENT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323BAB34-F5AD-4AD3-B642-99ABCFE63207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XM01 + XM02：一个统一的资料展示能力</a:t>
            </a:r>
          </a:p>
        </p:txBody>
      </p:sp>
      <p:sp>
        <p:nvSpPr>
          <p:cNvPr id="5" name="slide-subtitle">
            <a:extLst>
              <a:ext uri="{FF2B5EF4-FFF2-40B4-BE49-F238E27FC236}">
                <a16:creationId xmlns:a16="http://schemas.microsoft.com/office/drawing/2014/main" id="{1F88E336-B8EE-4203-801C-3BF643CF108D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两项需求共同形成头像、昵称、真实姓名展示策略的基础能力。</a:t>
            </a:r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13B4D90B-DF5D-4DBE-A584-4440DDFA5DDE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553700" cy="0"/>
          </a:xfrm>
          <a:prstGeom prst="line">
            <a:avLst/>
          </a:prstGeom>
          <a:noFill/>
          <a:ln w="952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36DEC9C7-1F74-4FE0-A7E1-204A042198D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13">
                <a:solidFill>
                  <a:srgbClr val="8290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290A2"/>
                </a:solidFill>
                <a:latin typeface="Microsoft YaHei"/>
                <a:ea typeface="Microsoft YaHei"/>
                <a:cs typeface="Microsoft YaHei"/>
              </a:rPr>
              <a:t>AI课程教辅系统 · CR-20260615-002 · 用户资料展示能力增强</a:t>
            </a:r>
          </a:p>
        </p:txBody>
      </p:sp>
      <p:sp>
        <p:nvSpPr>
          <p:cNvPr id="8" name="footer-page">
            <a:extLst>
              <a:ext uri="{FF2B5EF4-FFF2-40B4-BE49-F238E27FC236}">
                <a16:creationId xmlns:a16="http://schemas.microsoft.com/office/drawing/2014/main" id="{6F88E260-FBB9-4BB7-AFBF-6882FA00FAB6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1">
                <a:solidFill>
                  <a:srgbClr val="8290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290A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xm01">
            <a:extLst>
              <a:ext uri="{FF2B5EF4-FFF2-40B4-BE49-F238E27FC236}">
                <a16:creationId xmlns:a16="http://schemas.microsoft.com/office/drawing/2014/main" id="{055E9D6E-7633-4F05-AD39-73162132AD6C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5067300" cy="4038600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0" name="pill-XM01 显示头像">
            <a:extLst>
              <a:ext uri="{FF2B5EF4-FFF2-40B4-BE49-F238E27FC236}">
                <a16:creationId xmlns:a16="http://schemas.microsoft.com/office/drawing/2014/main" id="{ACD54776-D677-438D-8010-14D8CF38034D}"/>
              </a:ext>
            </a:extLst>
          </p:cNvPr>
          <p:cNvSpPr>
            <a:spLocks noGrp="1"/>
          </p:cNvSpPr>
          <p:nvPr/>
        </p:nvSpPr>
        <p:spPr>
          <a:xfrm>
            <a:off x="990600" y="1866900"/>
            <a:ext cx="1200150" cy="26670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9525">
            <a:solidFill>
              <a:srgbClr val="EAF1FF"/>
            </a:solidFill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XM01 显示头像</a:t>
            </a:r>
          </a:p>
        </p:txBody>
      </p:sp>
      <p:sp>
        <p:nvSpPr>
          <p:cNvPr id="11" name="xm01-copy">
            <a:extLst>
              <a:ext uri="{FF2B5EF4-FFF2-40B4-BE49-F238E27FC236}">
                <a16:creationId xmlns:a16="http://schemas.microsoft.com/office/drawing/2014/main" id="{34A2FF7E-95AF-4404-A6A3-2DF6349794C6}"/>
              </a:ext>
            </a:extLst>
          </p:cNvPr>
          <p:cNvSpPr>
            <a:spLocks noGrp="1"/>
          </p:cNvSpPr>
          <p:nvPr/>
        </p:nvSpPr>
        <p:spPr>
          <a:xfrm>
            <a:off x="990600" y="2286000"/>
            <a:ext cx="4048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38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登录后展示头像；用户可在个人中心上传或修改；未设置头像时展示默认头像。</a:t>
            </a: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26272" y="2914650"/>
            <a:ext cx="2843456" cy="2114550"/>
          </a:xfrm>
          <a:prstGeom prst="roundRect">
            <a:avLst/>
          </a:prstGeom>
        </p:spPr>
      </p:pic>
      <p:sp>
        <p:nvSpPr>
          <p:cNvPr id="13" name="xm02">
            <a:extLst>
              <a:ext uri="{FF2B5EF4-FFF2-40B4-BE49-F238E27FC236}">
                <a16:creationId xmlns:a16="http://schemas.microsoft.com/office/drawing/2014/main" id="{AC06FDAC-DFF3-4572-BAE8-1C4869FC8CDF}"/>
              </a:ext>
            </a:extLst>
          </p:cNvPr>
          <p:cNvSpPr>
            <a:spLocks noGrp="1"/>
          </p:cNvSpPr>
          <p:nvPr/>
        </p:nvSpPr>
        <p:spPr>
          <a:xfrm>
            <a:off x="6438900" y="1619250"/>
            <a:ext cx="5067300" cy="4038600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4" name="pill-XM02 显示昵称">
            <a:extLst>
              <a:ext uri="{FF2B5EF4-FFF2-40B4-BE49-F238E27FC236}">
                <a16:creationId xmlns:a16="http://schemas.microsoft.com/office/drawing/2014/main" id="{62AEB8A3-3AC3-42C1-BE0E-0DE3184CB430}"/>
              </a:ext>
            </a:extLst>
          </p:cNvPr>
          <p:cNvSpPr>
            <a:spLocks noGrp="1"/>
          </p:cNvSpPr>
          <p:nvPr/>
        </p:nvSpPr>
        <p:spPr>
          <a:xfrm>
            <a:off x="6743700" y="1866900"/>
            <a:ext cx="1200150" cy="266700"/>
          </a:xfrm>
          <a:prstGeom prst="roundRect">
            <a:avLst>
              <a:gd name="adj" fmla="val 50000"/>
            </a:avLst>
          </a:prstGeom>
          <a:solidFill>
            <a:srgbClr val="E6F4F0"/>
          </a:solidFill>
          <a:ln w="9525">
            <a:solidFill>
              <a:srgbClr val="E6F4F0"/>
            </a:solidFill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XM02 显示昵称</a:t>
            </a:r>
          </a:p>
        </p:txBody>
      </p:sp>
      <p:sp>
        <p:nvSpPr>
          <p:cNvPr id="15" name="xm02-copy">
            <a:extLst>
              <a:ext uri="{FF2B5EF4-FFF2-40B4-BE49-F238E27FC236}">
                <a16:creationId xmlns:a16="http://schemas.microsoft.com/office/drawing/2014/main" id="{859B6D39-A948-4C37-A5EE-893AB175BDF6}"/>
              </a:ext>
            </a:extLst>
          </p:cNvPr>
          <p:cNvSpPr>
            <a:spLocks noGrp="1"/>
          </p:cNvSpPr>
          <p:nvPr/>
        </p:nvSpPr>
        <p:spPr>
          <a:xfrm>
            <a:off x="6743700" y="2286000"/>
            <a:ext cx="4048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38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支持显示名称配置；用户可选择显示真实姓名或昵称；保存后相关页面同步更新。</a:t>
            </a: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00603" y="2914650"/>
            <a:ext cx="2667644" cy="2114550"/>
          </a:xfrm>
          <a:prstGeom prst="roundRect">
            <a:avLst/>
          </a:prstGeom>
        </p:spPr>
      </p:pic>
      <p:sp>
        <p:nvSpPr>
          <p:cNvPr id="17" name="fields">
            <a:extLst>
              <a:ext uri="{FF2B5EF4-FFF2-40B4-BE49-F238E27FC236}">
                <a16:creationId xmlns:a16="http://schemas.microsoft.com/office/drawing/2014/main" id="{40A068BE-F07D-44FB-A36B-C038BA0CFF91}"/>
              </a:ext>
            </a:extLst>
          </p:cNvPr>
          <p:cNvSpPr>
            <a:spLocks noGrp="1"/>
          </p:cNvSpPr>
          <p:nvPr/>
        </p:nvSpPr>
        <p:spPr>
          <a:xfrm>
            <a:off x="1638300" y="5829300"/>
            <a:ext cx="8915400" cy="361950"/>
          </a:xfrm>
          <a:prstGeom prst="roundRect">
            <a:avLst>
              <a:gd name="adj" fmla="val 26316"/>
            </a:avLst>
          </a:prstGeom>
          <a:solidFill>
            <a:srgbClr val="EEF3F8"/>
          </a:solidFill>
          <a:ln w="9525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fields-text">
            <a:extLst>
              <a:ext uri="{FF2B5EF4-FFF2-40B4-BE49-F238E27FC236}">
                <a16:creationId xmlns:a16="http://schemas.microsoft.com/office/drawing/2014/main" id="{6C37F0F7-34BB-4A61-BEAA-6A831FE7E6CA}"/>
              </a:ext>
            </a:extLst>
          </p:cNvPr>
          <p:cNvSpPr>
            <a:spLocks noGrp="1"/>
          </p:cNvSpPr>
          <p:nvPr/>
        </p:nvSpPr>
        <p:spPr>
          <a:xfrm>
            <a:off x="1866900" y="5905500"/>
            <a:ext cx="8477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88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字段联动：头像地址 · 默认头像状态 · 昵称 · 显示策略 · 更新时间</a:t>
            </a:r>
          </a:p>
        </p:txBody>
      </p:sp>
    </p:spTree>
    <p:extLst>
      <p:ext uri="{BB962C8B-B14F-4D97-AF65-F5344CB8AC3E}">
        <p14:creationId xmlns:p14="http://schemas.microsoft.com/office/powerpoint/2010/main" val="1511210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left-spine">
            <a:extLst>
              <a:ext uri="{FF2B5EF4-FFF2-40B4-BE49-F238E27FC236}">
                <a16:creationId xmlns:a16="http://schemas.microsoft.com/office/drawing/2014/main" id="{22D68727-3054-49F3-A189-6B0B5B5DEA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61950" cy="6858000"/>
          </a:xfrm>
          <a:prstGeom prst="rect">
            <a:avLst/>
          </a:prstGeom>
          <a:solidFill>
            <a:srgbClr val="1E3A8A"/>
          </a:solidFill>
          <a:ln w="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spine-num">
            <a:extLst>
              <a:ext uri="{FF2B5EF4-FFF2-40B4-BE49-F238E27FC236}">
                <a16:creationId xmlns:a16="http://schemas.microsoft.com/office/drawing/2014/main" id="{514963C7-C1B7-4CB0-9514-6D8378468099}"/>
              </a:ext>
            </a:extLst>
          </p:cNvPr>
          <p:cNvSpPr>
            <a:spLocks noGrp="1"/>
          </p:cNvSpPr>
          <p:nvPr/>
        </p:nvSpPr>
        <p:spPr>
          <a:xfrm>
            <a:off x="66675" y="32385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section-label">
            <a:extLst>
              <a:ext uri="{FF2B5EF4-FFF2-40B4-BE49-F238E27FC236}">
                <a16:creationId xmlns:a16="http://schemas.microsoft.com/office/drawing/2014/main" id="{C5B30097-F1FF-4F16-AEB9-A4096B678C74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EVIDENCE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14340F64-FC36-4478-AE23-518120467F80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QFD证据：两项需求均达到中高优先级</a:t>
            </a:r>
          </a:p>
        </p:txBody>
      </p:sp>
      <p:sp>
        <p:nvSpPr>
          <p:cNvPr id="5" name="slide-subtitle">
            <a:extLst>
              <a:ext uri="{FF2B5EF4-FFF2-40B4-BE49-F238E27FC236}">
                <a16:creationId xmlns:a16="http://schemas.microsoft.com/office/drawing/2014/main" id="{A4B70D2D-69FA-4463-864A-7E64EAEE3420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3份有效样本覆盖教师、管理员、学生；样本量小，用作排序辅助而非唯一排期依据。</a:t>
            </a:r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E9368A0B-0266-4B45-A576-5293C89B4A16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553700" cy="0"/>
          </a:xfrm>
          <a:prstGeom prst="line">
            <a:avLst/>
          </a:prstGeom>
          <a:noFill/>
          <a:ln w="952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E5ED6A14-0B5D-4D3A-BF83-787D84AFDEE0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13">
                <a:solidFill>
                  <a:srgbClr val="8290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290A2"/>
                </a:solidFill>
                <a:latin typeface="Microsoft YaHei"/>
                <a:ea typeface="Microsoft YaHei"/>
                <a:cs typeface="Microsoft YaHei"/>
              </a:rPr>
              <a:t>AI课程教辅系统 · CR-20260615-002 · 用户资料展示能力增强</a:t>
            </a:r>
          </a:p>
        </p:txBody>
      </p:sp>
      <p:sp>
        <p:nvSpPr>
          <p:cNvPr id="8" name="footer-page">
            <a:extLst>
              <a:ext uri="{FF2B5EF4-FFF2-40B4-BE49-F238E27FC236}">
                <a16:creationId xmlns:a16="http://schemas.microsoft.com/office/drawing/2014/main" id="{1701362A-FF45-412C-8942-E5238857EB80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1">
                <a:solidFill>
                  <a:srgbClr val="8290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290A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9" name="metric-XM01 利益均值">
            <a:extLst>
              <a:ext uri="{FF2B5EF4-FFF2-40B4-BE49-F238E27FC236}">
                <a16:creationId xmlns:a16="http://schemas.microsoft.com/office/drawing/2014/main" id="{C240E89B-7045-4304-B3FB-1E88A7EF9791}"/>
              </a:ext>
            </a:extLst>
          </p:cNvPr>
          <p:cNvSpPr>
            <a:spLocks noGrp="1"/>
          </p:cNvSpPr>
          <p:nvPr/>
        </p:nvSpPr>
        <p:spPr>
          <a:xfrm>
            <a:off x="971548" y="1619250"/>
            <a:ext cx="4024225" cy="1257300"/>
          </a:xfrm>
          <a:prstGeom prst="roundRect">
            <a:avLst>
              <a:gd name="adj" fmla="val 10606"/>
            </a:avLst>
          </a:prstGeom>
          <a:solidFill>
            <a:srgbClr val="EAF1FF"/>
          </a:solidFill>
          <a:ln w="9525">
            <a:solidFill>
              <a:srgbClr val="D7E0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algn="ctr"/>
            <a:endParaRPr lang="zh-CN" altLang="en-US"/>
          </a:p>
        </p:txBody>
      </p:sp>
      <p:sp>
        <p:nvSpPr>
          <p:cNvPr id="10" name="metric-label">
            <a:extLst>
              <a:ext uri="{FF2B5EF4-FFF2-40B4-BE49-F238E27FC236}">
                <a16:creationId xmlns:a16="http://schemas.microsoft.com/office/drawing/2014/main" id="{13483D42-5D39-49E5-98C4-89D3B65B1088}"/>
              </a:ext>
            </a:extLst>
          </p:cNvPr>
          <p:cNvSpPr>
            <a:spLocks noGrp="1"/>
          </p:cNvSpPr>
          <p:nvPr/>
        </p:nvSpPr>
        <p:spPr>
          <a:xfrm>
            <a:off x="971549" y="1771650"/>
            <a:ext cx="40242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XM01 利益均值</a:t>
            </a:r>
          </a:p>
        </p:txBody>
      </p:sp>
      <p:sp>
        <p:nvSpPr>
          <p:cNvPr id="11" name="metric-value">
            <a:extLst>
              <a:ext uri="{FF2B5EF4-FFF2-40B4-BE49-F238E27FC236}">
                <a16:creationId xmlns:a16="http://schemas.microsoft.com/office/drawing/2014/main" id="{41CF8AF8-9948-4259-BAB5-FC09A27C9F52}"/>
              </a:ext>
            </a:extLst>
          </p:cNvPr>
          <p:cNvSpPr>
            <a:spLocks noGrp="1"/>
          </p:cNvSpPr>
          <p:nvPr/>
        </p:nvSpPr>
        <p:spPr>
          <a:xfrm>
            <a:off x="971549" y="2000250"/>
            <a:ext cx="40242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34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dirty="0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5.67</a:t>
            </a:r>
          </a:p>
        </p:txBody>
      </p:sp>
      <p:sp>
        <p:nvSpPr>
          <p:cNvPr id="12" name="metric-note">
            <a:extLst>
              <a:ext uri="{FF2B5EF4-FFF2-40B4-BE49-F238E27FC236}">
                <a16:creationId xmlns:a16="http://schemas.microsoft.com/office/drawing/2014/main" id="{B29BD926-5750-4646-B5AA-8C071C3A7139}"/>
              </a:ext>
            </a:extLst>
          </p:cNvPr>
          <p:cNvSpPr>
            <a:spLocks noGrp="1"/>
          </p:cNvSpPr>
          <p:nvPr/>
        </p:nvSpPr>
        <p:spPr>
          <a:xfrm>
            <a:off x="971549" y="2571750"/>
            <a:ext cx="4024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13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头像提升识别效率</a:t>
            </a:r>
          </a:p>
        </p:txBody>
      </p:sp>
      <p:sp>
        <p:nvSpPr>
          <p:cNvPr id="13" name="metric-XM02 利益均值">
            <a:extLst>
              <a:ext uri="{FF2B5EF4-FFF2-40B4-BE49-F238E27FC236}">
                <a16:creationId xmlns:a16="http://schemas.microsoft.com/office/drawing/2014/main" id="{53521072-E68C-4D22-9FD4-F1602A643548}"/>
              </a:ext>
            </a:extLst>
          </p:cNvPr>
          <p:cNvSpPr>
            <a:spLocks noGrp="1"/>
          </p:cNvSpPr>
          <p:nvPr/>
        </p:nvSpPr>
        <p:spPr>
          <a:xfrm>
            <a:off x="7029893" y="1619250"/>
            <a:ext cx="4032000" cy="1257300"/>
          </a:xfrm>
          <a:prstGeom prst="roundRect">
            <a:avLst>
              <a:gd name="adj" fmla="val 10606"/>
            </a:avLst>
          </a:prstGeom>
          <a:solidFill>
            <a:srgbClr val="E6F4F0"/>
          </a:solidFill>
          <a:ln w="9525">
            <a:solidFill>
              <a:srgbClr val="D7E0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4" name="metric-label">
            <a:extLst>
              <a:ext uri="{FF2B5EF4-FFF2-40B4-BE49-F238E27FC236}">
                <a16:creationId xmlns:a16="http://schemas.microsoft.com/office/drawing/2014/main" id="{C2D4C473-1A12-481D-AC18-C6E9D5961098}"/>
              </a:ext>
            </a:extLst>
          </p:cNvPr>
          <p:cNvSpPr>
            <a:spLocks noGrp="1"/>
          </p:cNvSpPr>
          <p:nvPr/>
        </p:nvSpPr>
        <p:spPr>
          <a:xfrm>
            <a:off x="7029893" y="1724025"/>
            <a:ext cx="403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XM02 利益均值</a:t>
            </a:r>
          </a:p>
        </p:txBody>
      </p:sp>
      <p:sp>
        <p:nvSpPr>
          <p:cNvPr id="15" name="metric-value">
            <a:extLst>
              <a:ext uri="{FF2B5EF4-FFF2-40B4-BE49-F238E27FC236}">
                <a16:creationId xmlns:a16="http://schemas.microsoft.com/office/drawing/2014/main" id="{B19B36B5-1625-41D8-BB09-242589445D07}"/>
              </a:ext>
            </a:extLst>
          </p:cNvPr>
          <p:cNvSpPr>
            <a:spLocks noGrp="1"/>
          </p:cNvSpPr>
          <p:nvPr/>
        </p:nvSpPr>
        <p:spPr>
          <a:xfrm>
            <a:off x="7029893" y="1952625"/>
            <a:ext cx="403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345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dirty="0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5.33</a:t>
            </a:r>
          </a:p>
        </p:txBody>
      </p:sp>
      <p:sp>
        <p:nvSpPr>
          <p:cNvPr id="16" name="metric-note">
            <a:extLst>
              <a:ext uri="{FF2B5EF4-FFF2-40B4-BE49-F238E27FC236}">
                <a16:creationId xmlns:a16="http://schemas.microsoft.com/office/drawing/2014/main" id="{4C735653-5436-4FB1-B58B-66A3FE52FFE2}"/>
              </a:ext>
            </a:extLst>
          </p:cNvPr>
          <p:cNvSpPr>
            <a:spLocks noGrp="1"/>
          </p:cNvSpPr>
          <p:nvPr/>
        </p:nvSpPr>
        <p:spPr>
          <a:xfrm>
            <a:off x="7029893" y="2524125"/>
            <a:ext cx="403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13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昵称支持隐私与个性化</a:t>
            </a:r>
          </a:p>
        </p:txBody>
      </p:sp>
      <p:sp>
        <p:nvSpPr>
          <p:cNvPr id="21" name="chart-card">
            <a:extLst>
              <a:ext uri="{FF2B5EF4-FFF2-40B4-BE49-F238E27FC236}">
                <a16:creationId xmlns:a16="http://schemas.microsoft.com/office/drawing/2014/main" id="{034D8191-3A43-4969-B2B9-77F245C20CBB}"/>
              </a:ext>
            </a:extLst>
          </p:cNvPr>
          <p:cNvSpPr>
            <a:spLocks noGrp="1"/>
          </p:cNvSpPr>
          <p:nvPr/>
        </p:nvSpPr>
        <p:spPr>
          <a:xfrm>
            <a:off x="2694910" y="3309938"/>
            <a:ext cx="704850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graphicFrame>
        <p:nvGraphicFramePr>
          <p:cNvPr id="55" name="Chart"/>
          <p:cNvGraphicFramePr/>
          <p:nvPr>
            <p:extLst>
              <p:ext uri="{D42A27DB-BD31-4B8C-83A1-F6EECF244321}">
                <p14:modId xmlns:p14="http://schemas.microsoft.com/office/powerpoint/2010/main" val="1419655103"/>
              </p:ext>
            </p:extLst>
          </p:nvPr>
        </p:nvGraphicFramePr>
        <p:xfrm>
          <a:off x="3114010" y="3690938"/>
          <a:ext cx="6191250" cy="1352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03413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left-spine">
            <a:extLst>
              <a:ext uri="{FF2B5EF4-FFF2-40B4-BE49-F238E27FC236}">
                <a16:creationId xmlns:a16="http://schemas.microsoft.com/office/drawing/2014/main" id="{5B2C7705-3C53-4EFF-A2CF-DB82A5B596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61950" cy="6858000"/>
          </a:xfrm>
          <a:prstGeom prst="rect">
            <a:avLst/>
          </a:prstGeom>
          <a:solidFill>
            <a:srgbClr val="1E3A8A"/>
          </a:solidFill>
          <a:ln w="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spine-num">
            <a:extLst>
              <a:ext uri="{FF2B5EF4-FFF2-40B4-BE49-F238E27FC236}">
                <a16:creationId xmlns:a16="http://schemas.microsoft.com/office/drawing/2014/main" id="{467F6D08-E690-49FA-8E97-4FA5DB9A4683}"/>
              </a:ext>
            </a:extLst>
          </p:cNvPr>
          <p:cNvSpPr>
            <a:spLocks noGrp="1"/>
          </p:cNvSpPr>
          <p:nvPr/>
        </p:nvSpPr>
        <p:spPr>
          <a:xfrm>
            <a:off x="66675" y="32385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section-label">
            <a:extLst>
              <a:ext uri="{FF2B5EF4-FFF2-40B4-BE49-F238E27FC236}">
                <a16:creationId xmlns:a16="http://schemas.microsoft.com/office/drawing/2014/main" id="{E96FF161-A8A9-4504-8C89-A93B7503C165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IMPACT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8E1DEFBD-907C-4EE8-AB01-17C3F014DA60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影响范围中等，但治理边界清楚</a:t>
            </a:r>
          </a:p>
        </p:txBody>
      </p:sp>
      <p:sp>
        <p:nvSpPr>
          <p:cNvPr id="5" name="slide-subtitle">
            <a:extLst>
              <a:ext uri="{FF2B5EF4-FFF2-40B4-BE49-F238E27FC236}">
                <a16:creationId xmlns:a16="http://schemas.microsoft.com/office/drawing/2014/main" id="{76E4B67E-C443-440B-BB71-98C325A1BC05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核心 AI 教学闭环不变，主要集中在用户资料、展示组件、接口和回归测试。</a:t>
            </a:r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39E0C225-8BF8-44AC-900D-76A592760BFF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553700" cy="0"/>
          </a:xfrm>
          <a:prstGeom prst="line">
            <a:avLst/>
          </a:prstGeom>
          <a:noFill/>
          <a:ln w="952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3B7FB371-FC7D-410B-8822-6A61FC60BC06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13">
                <a:solidFill>
                  <a:srgbClr val="8290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290A2"/>
                </a:solidFill>
                <a:latin typeface="Microsoft YaHei"/>
                <a:ea typeface="Microsoft YaHei"/>
                <a:cs typeface="Microsoft YaHei"/>
              </a:rPr>
              <a:t>AI课程教辅系统 · CR-20260615-002 · 用户资料展示能力增强</a:t>
            </a:r>
          </a:p>
        </p:txBody>
      </p:sp>
      <p:sp>
        <p:nvSpPr>
          <p:cNvPr id="8" name="footer-page">
            <a:extLst>
              <a:ext uri="{FF2B5EF4-FFF2-40B4-BE49-F238E27FC236}">
                <a16:creationId xmlns:a16="http://schemas.microsoft.com/office/drawing/2014/main" id="{944C3BE3-72CB-40D8-809B-DFD3AAED54CE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1">
                <a:solidFill>
                  <a:srgbClr val="8290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290A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9" name="impact0">
            <a:extLst>
              <a:ext uri="{FF2B5EF4-FFF2-40B4-BE49-F238E27FC236}">
                <a16:creationId xmlns:a16="http://schemas.microsoft.com/office/drawing/2014/main" id="{AD8A4F21-523D-4D0B-81DE-89B096F2EC62}"/>
              </a:ext>
            </a:extLst>
          </p:cNvPr>
          <p:cNvSpPr>
            <a:spLocks noGrp="1"/>
          </p:cNvSpPr>
          <p:nvPr/>
        </p:nvSpPr>
        <p:spPr>
          <a:xfrm>
            <a:off x="781050" y="1695450"/>
            <a:ext cx="3028950" cy="1219200"/>
          </a:xfrm>
          <a:prstGeom prst="roundRect">
            <a:avLst>
              <a:gd name="adj" fmla="val 9375"/>
            </a:avLst>
          </a:prstGeom>
          <a:solidFill>
            <a:srgbClr val="E6F4F0"/>
          </a:solidFill>
          <a:ln w="9525">
            <a:solidFill>
              <a:srgbClr val="D7E0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0" name="impact-title0">
            <a:extLst>
              <a:ext uri="{FF2B5EF4-FFF2-40B4-BE49-F238E27FC236}">
                <a16:creationId xmlns:a16="http://schemas.microsoft.com/office/drawing/2014/main" id="{B59CFCA1-1BF5-4E4E-A8D5-6EB34ACCE5C9}"/>
              </a:ext>
            </a:extLst>
          </p:cNvPr>
          <p:cNvSpPr>
            <a:spLocks noGrp="1"/>
          </p:cNvSpPr>
          <p:nvPr/>
        </p:nvSpPr>
        <p:spPr>
          <a:xfrm>
            <a:off x="990600" y="19240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业务目标</a:t>
            </a:r>
          </a:p>
        </p:txBody>
      </p:sp>
      <p:sp>
        <p:nvSpPr>
          <p:cNvPr id="11" name="impact-desc0">
            <a:extLst>
              <a:ext uri="{FF2B5EF4-FFF2-40B4-BE49-F238E27FC236}">
                <a16:creationId xmlns:a16="http://schemas.microsoft.com/office/drawing/2014/main" id="{CF4884C8-10DE-4412-AE5B-82B3A0F84942}"/>
              </a:ext>
            </a:extLst>
          </p:cNvPr>
          <p:cNvSpPr>
            <a:spLocks noGrp="1"/>
          </p:cNvSpPr>
          <p:nvPr/>
        </p:nvSpPr>
        <p:spPr>
          <a:xfrm>
            <a:off x="990600" y="23431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识别 · 个性化 · 隐私选择</a:t>
            </a:r>
          </a:p>
        </p:txBody>
      </p:sp>
      <p:sp>
        <p:nvSpPr>
          <p:cNvPr id="12" name="pill-中">
            <a:extLst>
              <a:ext uri="{FF2B5EF4-FFF2-40B4-BE49-F238E27FC236}">
                <a16:creationId xmlns:a16="http://schemas.microsoft.com/office/drawing/2014/main" id="{8B1CA5C6-075D-4D64-AB49-8397CD89B1A2}"/>
              </a:ext>
            </a:extLst>
          </p:cNvPr>
          <p:cNvSpPr>
            <a:spLocks noGrp="1"/>
          </p:cNvSpPr>
          <p:nvPr/>
        </p:nvSpPr>
        <p:spPr>
          <a:xfrm>
            <a:off x="3162300" y="1905000"/>
            <a:ext cx="40005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中</a:t>
            </a:r>
          </a:p>
        </p:txBody>
      </p:sp>
      <p:sp>
        <p:nvSpPr>
          <p:cNvPr id="13" name="impact1">
            <a:extLst>
              <a:ext uri="{FF2B5EF4-FFF2-40B4-BE49-F238E27FC236}">
                <a16:creationId xmlns:a16="http://schemas.microsoft.com/office/drawing/2014/main" id="{CD1B7B41-A558-44BC-8278-E5CB5AEA9F34}"/>
              </a:ext>
            </a:extLst>
          </p:cNvPr>
          <p:cNvSpPr>
            <a:spLocks noGrp="1"/>
          </p:cNvSpPr>
          <p:nvPr/>
        </p:nvSpPr>
        <p:spPr>
          <a:xfrm>
            <a:off x="4362450" y="1695450"/>
            <a:ext cx="3028950" cy="1219200"/>
          </a:xfrm>
          <a:prstGeom prst="roundRect">
            <a:avLst>
              <a:gd name="adj" fmla="val 9375"/>
            </a:avLst>
          </a:prstGeom>
          <a:solidFill>
            <a:srgbClr val="EAF1FF"/>
          </a:solidFill>
          <a:ln w="9525">
            <a:solidFill>
              <a:srgbClr val="D7E0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4" name="impact-title1">
            <a:extLst>
              <a:ext uri="{FF2B5EF4-FFF2-40B4-BE49-F238E27FC236}">
                <a16:creationId xmlns:a16="http://schemas.microsoft.com/office/drawing/2014/main" id="{4E7DD4FA-4E4F-4250-BC5B-77F46B5EBDC9}"/>
              </a:ext>
            </a:extLst>
          </p:cNvPr>
          <p:cNvSpPr>
            <a:spLocks noGrp="1"/>
          </p:cNvSpPr>
          <p:nvPr/>
        </p:nvSpPr>
        <p:spPr>
          <a:xfrm>
            <a:off x="4572000" y="19240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功能范围</a:t>
            </a:r>
          </a:p>
        </p:txBody>
      </p:sp>
      <p:sp>
        <p:nvSpPr>
          <p:cNvPr id="15" name="impact-desc1">
            <a:extLst>
              <a:ext uri="{FF2B5EF4-FFF2-40B4-BE49-F238E27FC236}">
                <a16:creationId xmlns:a16="http://schemas.microsoft.com/office/drawing/2014/main" id="{D49420D4-9A58-4C02-82C9-7620D24DB6EB}"/>
              </a:ext>
            </a:extLst>
          </p:cNvPr>
          <p:cNvSpPr>
            <a:spLocks noGrp="1"/>
          </p:cNvSpPr>
          <p:nvPr/>
        </p:nvSpPr>
        <p:spPr>
          <a:xfrm>
            <a:off x="4572000" y="23431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入口 · 个人中心 · 三端页面</a:t>
            </a:r>
          </a:p>
        </p:txBody>
      </p:sp>
      <p:sp>
        <p:nvSpPr>
          <p:cNvPr id="16" name="pill-中">
            <a:extLst>
              <a:ext uri="{FF2B5EF4-FFF2-40B4-BE49-F238E27FC236}">
                <a16:creationId xmlns:a16="http://schemas.microsoft.com/office/drawing/2014/main" id="{B4046D01-74D8-4691-B681-C1C34B3FB500}"/>
              </a:ext>
            </a:extLst>
          </p:cNvPr>
          <p:cNvSpPr>
            <a:spLocks noGrp="1"/>
          </p:cNvSpPr>
          <p:nvPr/>
        </p:nvSpPr>
        <p:spPr>
          <a:xfrm>
            <a:off x="6743700" y="1905000"/>
            <a:ext cx="40005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中</a:t>
            </a:r>
          </a:p>
        </p:txBody>
      </p:sp>
      <p:sp>
        <p:nvSpPr>
          <p:cNvPr id="17" name="impact2">
            <a:extLst>
              <a:ext uri="{FF2B5EF4-FFF2-40B4-BE49-F238E27FC236}">
                <a16:creationId xmlns:a16="http://schemas.microsoft.com/office/drawing/2014/main" id="{B7F55894-DBDE-4B0C-990B-C9BCE755B1B9}"/>
              </a:ext>
            </a:extLst>
          </p:cNvPr>
          <p:cNvSpPr>
            <a:spLocks noGrp="1"/>
          </p:cNvSpPr>
          <p:nvPr/>
        </p:nvSpPr>
        <p:spPr>
          <a:xfrm>
            <a:off x="7943850" y="1695450"/>
            <a:ext cx="3028950" cy="1219200"/>
          </a:xfrm>
          <a:prstGeom prst="roundRect">
            <a:avLst>
              <a:gd name="adj" fmla="val 9375"/>
            </a:avLst>
          </a:prstGeom>
          <a:solidFill>
            <a:srgbClr val="FFF4DA"/>
          </a:solidFill>
          <a:ln w="9525">
            <a:solidFill>
              <a:srgbClr val="D7E0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8" name="impact-title2">
            <a:extLst>
              <a:ext uri="{FF2B5EF4-FFF2-40B4-BE49-F238E27FC236}">
                <a16:creationId xmlns:a16="http://schemas.microsoft.com/office/drawing/2014/main" id="{41238EBB-3A84-4535-A704-CCBD13366A2F}"/>
              </a:ext>
            </a:extLst>
          </p:cNvPr>
          <p:cNvSpPr>
            <a:spLocks noGrp="1"/>
          </p:cNvSpPr>
          <p:nvPr/>
        </p:nvSpPr>
        <p:spPr>
          <a:xfrm>
            <a:off x="8153400" y="19240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数据结构</a:t>
            </a:r>
          </a:p>
        </p:txBody>
      </p:sp>
      <p:sp>
        <p:nvSpPr>
          <p:cNvPr id="19" name="impact-desc2">
            <a:extLst>
              <a:ext uri="{FF2B5EF4-FFF2-40B4-BE49-F238E27FC236}">
                <a16:creationId xmlns:a16="http://schemas.microsoft.com/office/drawing/2014/main" id="{F04A167A-22B5-43D3-BD30-CAE087C5E1E2}"/>
              </a:ext>
            </a:extLst>
          </p:cNvPr>
          <p:cNvSpPr>
            <a:spLocks noGrp="1"/>
          </p:cNvSpPr>
          <p:nvPr/>
        </p:nvSpPr>
        <p:spPr>
          <a:xfrm>
            <a:off x="8153400" y="23431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头像 · 昵称 · 显示策略</a:t>
            </a:r>
          </a:p>
        </p:txBody>
      </p:sp>
      <p:sp>
        <p:nvSpPr>
          <p:cNvPr id="20" name="pill-中">
            <a:extLst>
              <a:ext uri="{FF2B5EF4-FFF2-40B4-BE49-F238E27FC236}">
                <a16:creationId xmlns:a16="http://schemas.microsoft.com/office/drawing/2014/main" id="{A8BAC9E7-163C-482E-8D3F-54D6E2298E6B}"/>
              </a:ext>
            </a:extLst>
          </p:cNvPr>
          <p:cNvSpPr>
            <a:spLocks noGrp="1"/>
          </p:cNvSpPr>
          <p:nvPr/>
        </p:nvSpPr>
        <p:spPr>
          <a:xfrm>
            <a:off x="10325100" y="1905000"/>
            <a:ext cx="40005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中</a:t>
            </a:r>
          </a:p>
        </p:txBody>
      </p:sp>
      <p:sp>
        <p:nvSpPr>
          <p:cNvPr id="21" name="impact3">
            <a:extLst>
              <a:ext uri="{FF2B5EF4-FFF2-40B4-BE49-F238E27FC236}">
                <a16:creationId xmlns:a16="http://schemas.microsoft.com/office/drawing/2014/main" id="{BFB6BF52-E4A8-4211-9559-D4C1484D086C}"/>
              </a:ext>
            </a:extLst>
          </p:cNvPr>
          <p:cNvSpPr>
            <a:spLocks noGrp="1"/>
          </p:cNvSpPr>
          <p:nvPr/>
        </p:nvSpPr>
        <p:spPr>
          <a:xfrm>
            <a:off x="781050" y="3429000"/>
            <a:ext cx="3028950" cy="1219200"/>
          </a:xfrm>
          <a:prstGeom prst="roundRect">
            <a:avLst>
              <a:gd name="adj" fmla="val 9375"/>
            </a:avLst>
          </a:prstGeom>
          <a:solidFill>
            <a:srgbClr val="EAF1FF"/>
          </a:solidFill>
          <a:ln w="9525">
            <a:solidFill>
              <a:srgbClr val="D7E0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22" name="impact-title3">
            <a:extLst>
              <a:ext uri="{FF2B5EF4-FFF2-40B4-BE49-F238E27FC236}">
                <a16:creationId xmlns:a16="http://schemas.microsoft.com/office/drawing/2014/main" id="{458E2D41-37DC-4B28-ADA5-67020140CD39}"/>
              </a:ext>
            </a:extLst>
          </p:cNvPr>
          <p:cNvSpPr>
            <a:spLocks noGrp="1"/>
          </p:cNvSpPr>
          <p:nvPr/>
        </p:nvSpPr>
        <p:spPr>
          <a:xfrm>
            <a:off x="990600" y="36576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接口契约</a:t>
            </a:r>
          </a:p>
        </p:txBody>
      </p:sp>
      <p:sp>
        <p:nvSpPr>
          <p:cNvPr id="23" name="impact-desc3">
            <a:extLst>
              <a:ext uri="{FF2B5EF4-FFF2-40B4-BE49-F238E27FC236}">
                <a16:creationId xmlns:a16="http://schemas.microsoft.com/office/drawing/2014/main" id="{53FD6FF8-0A7B-4775-B9F4-1F3D9BAA9526}"/>
              </a:ext>
            </a:extLst>
          </p:cNvPr>
          <p:cNvSpPr>
            <a:spLocks noGrp="1"/>
          </p:cNvSpPr>
          <p:nvPr/>
        </p:nvSpPr>
        <p:spPr>
          <a:xfrm>
            <a:off x="990600" y="407670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资料读取/更新 · 头像上传</a:t>
            </a:r>
          </a:p>
        </p:txBody>
      </p:sp>
      <p:sp>
        <p:nvSpPr>
          <p:cNvPr id="24" name="pill-中">
            <a:extLst>
              <a:ext uri="{FF2B5EF4-FFF2-40B4-BE49-F238E27FC236}">
                <a16:creationId xmlns:a16="http://schemas.microsoft.com/office/drawing/2014/main" id="{8EA2CE0C-C88D-430C-9702-D1EC27B50C97}"/>
              </a:ext>
            </a:extLst>
          </p:cNvPr>
          <p:cNvSpPr>
            <a:spLocks noGrp="1"/>
          </p:cNvSpPr>
          <p:nvPr/>
        </p:nvSpPr>
        <p:spPr>
          <a:xfrm>
            <a:off x="3162300" y="3638550"/>
            <a:ext cx="40005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中</a:t>
            </a:r>
          </a:p>
        </p:txBody>
      </p:sp>
      <p:sp>
        <p:nvSpPr>
          <p:cNvPr id="25" name="impact4">
            <a:extLst>
              <a:ext uri="{FF2B5EF4-FFF2-40B4-BE49-F238E27FC236}">
                <a16:creationId xmlns:a16="http://schemas.microsoft.com/office/drawing/2014/main" id="{1802869C-CE18-4BEB-B049-B03682E96BF7}"/>
              </a:ext>
            </a:extLst>
          </p:cNvPr>
          <p:cNvSpPr>
            <a:spLocks noGrp="1"/>
          </p:cNvSpPr>
          <p:nvPr/>
        </p:nvSpPr>
        <p:spPr>
          <a:xfrm>
            <a:off x="4362450" y="3429000"/>
            <a:ext cx="3028950" cy="1219200"/>
          </a:xfrm>
          <a:prstGeom prst="roundRect">
            <a:avLst>
              <a:gd name="adj" fmla="val 9375"/>
            </a:avLst>
          </a:prstGeom>
          <a:solidFill>
            <a:srgbClr val="E6F4F0"/>
          </a:solidFill>
          <a:ln w="9525">
            <a:solidFill>
              <a:srgbClr val="D7E0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26" name="impact-title4">
            <a:extLst>
              <a:ext uri="{FF2B5EF4-FFF2-40B4-BE49-F238E27FC236}">
                <a16:creationId xmlns:a16="http://schemas.microsoft.com/office/drawing/2014/main" id="{436EF26F-61D8-484D-861D-01A288BAF344}"/>
              </a:ext>
            </a:extLst>
          </p:cNvPr>
          <p:cNvSpPr>
            <a:spLocks noGrp="1"/>
          </p:cNvSpPr>
          <p:nvPr/>
        </p:nvSpPr>
        <p:spPr>
          <a:xfrm>
            <a:off x="4572000" y="36576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质量属性</a:t>
            </a:r>
          </a:p>
        </p:txBody>
      </p:sp>
      <p:sp>
        <p:nvSpPr>
          <p:cNvPr id="27" name="impact-desc4">
            <a:extLst>
              <a:ext uri="{FF2B5EF4-FFF2-40B4-BE49-F238E27FC236}">
                <a16:creationId xmlns:a16="http://schemas.microsoft.com/office/drawing/2014/main" id="{B6CDA412-CF23-4FAC-A272-EB72983B601F}"/>
              </a:ext>
            </a:extLst>
          </p:cNvPr>
          <p:cNvSpPr>
            <a:spLocks noGrp="1"/>
          </p:cNvSpPr>
          <p:nvPr/>
        </p:nvSpPr>
        <p:spPr>
          <a:xfrm>
            <a:off x="4572000" y="407670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一致性 · 易用性 · 隐私友好</a:t>
            </a:r>
          </a:p>
        </p:txBody>
      </p:sp>
      <p:sp>
        <p:nvSpPr>
          <p:cNvPr id="28" name="pill-中">
            <a:extLst>
              <a:ext uri="{FF2B5EF4-FFF2-40B4-BE49-F238E27FC236}">
                <a16:creationId xmlns:a16="http://schemas.microsoft.com/office/drawing/2014/main" id="{6470E261-A5B6-475F-96D1-59A452AF06A9}"/>
              </a:ext>
            </a:extLst>
          </p:cNvPr>
          <p:cNvSpPr>
            <a:spLocks noGrp="1"/>
          </p:cNvSpPr>
          <p:nvPr/>
        </p:nvSpPr>
        <p:spPr>
          <a:xfrm>
            <a:off x="6743700" y="3638550"/>
            <a:ext cx="40005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中</a:t>
            </a:r>
          </a:p>
        </p:txBody>
      </p:sp>
      <p:sp>
        <p:nvSpPr>
          <p:cNvPr id="29" name="impact5">
            <a:extLst>
              <a:ext uri="{FF2B5EF4-FFF2-40B4-BE49-F238E27FC236}">
                <a16:creationId xmlns:a16="http://schemas.microsoft.com/office/drawing/2014/main" id="{88856078-0975-4D16-931C-F3F5D380D8D1}"/>
              </a:ext>
            </a:extLst>
          </p:cNvPr>
          <p:cNvSpPr>
            <a:spLocks noGrp="1"/>
          </p:cNvSpPr>
          <p:nvPr/>
        </p:nvSpPr>
        <p:spPr>
          <a:xfrm>
            <a:off x="7943850" y="3429000"/>
            <a:ext cx="3028950" cy="1219200"/>
          </a:xfrm>
          <a:prstGeom prst="roundRect">
            <a:avLst>
              <a:gd name="adj" fmla="val 9375"/>
            </a:avLst>
          </a:prstGeom>
          <a:solidFill>
            <a:srgbClr val="FDECEC"/>
          </a:solidFill>
          <a:ln w="9525">
            <a:solidFill>
              <a:srgbClr val="D7E0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30" name="impact-title5">
            <a:extLst>
              <a:ext uri="{FF2B5EF4-FFF2-40B4-BE49-F238E27FC236}">
                <a16:creationId xmlns:a16="http://schemas.microsoft.com/office/drawing/2014/main" id="{44A55135-3198-4DCA-844D-0D48563725FC}"/>
              </a:ext>
            </a:extLst>
          </p:cNvPr>
          <p:cNvSpPr>
            <a:spLocks noGrp="1"/>
          </p:cNvSpPr>
          <p:nvPr/>
        </p:nvSpPr>
        <p:spPr>
          <a:xfrm>
            <a:off x="8153400" y="36576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测试范围</a:t>
            </a:r>
          </a:p>
        </p:txBody>
      </p:sp>
      <p:sp>
        <p:nvSpPr>
          <p:cNvPr id="31" name="impact-desc5">
            <a:extLst>
              <a:ext uri="{FF2B5EF4-FFF2-40B4-BE49-F238E27FC236}">
                <a16:creationId xmlns:a16="http://schemas.microsoft.com/office/drawing/2014/main" id="{202B46E7-6D98-4EB7-B6D6-3288C6C3CC71}"/>
              </a:ext>
            </a:extLst>
          </p:cNvPr>
          <p:cNvSpPr>
            <a:spLocks noGrp="1"/>
          </p:cNvSpPr>
          <p:nvPr/>
        </p:nvSpPr>
        <p:spPr>
          <a:xfrm>
            <a:off x="8153400" y="407670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默认头像 · 异常输入 · 审计</a:t>
            </a:r>
          </a:p>
        </p:txBody>
      </p:sp>
      <p:sp>
        <p:nvSpPr>
          <p:cNvPr id="32" name="pill-中">
            <a:extLst>
              <a:ext uri="{FF2B5EF4-FFF2-40B4-BE49-F238E27FC236}">
                <a16:creationId xmlns:a16="http://schemas.microsoft.com/office/drawing/2014/main" id="{3845DA06-C5D7-417A-8F15-CEFA8D7E458B}"/>
              </a:ext>
            </a:extLst>
          </p:cNvPr>
          <p:cNvSpPr>
            <a:spLocks noGrp="1"/>
          </p:cNvSpPr>
          <p:nvPr/>
        </p:nvSpPr>
        <p:spPr>
          <a:xfrm>
            <a:off x="10325100" y="3638550"/>
            <a:ext cx="40005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中</a:t>
            </a:r>
          </a:p>
        </p:txBody>
      </p:sp>
      <p:sp>
        <p:nvSpPr>
          <p:cNvPr id="33" name="impact-line">
            <a:extLst>
              <a:ext uri="{FF2B5EF4-FFF2-40B4-BE49-F238E27FC236}">
                <a16:creationId xmlns:a16="http://schemas.microsoft.com/office/drawing/2014/main" id="{9F96AFBB-61B9-4DBF-9BFB-D08927987A1F}"/>
              </a:ext>
            </a:extLst>
          </p:cNvPr>
          <p:cNvSpPr>
            <a:spLocks noGrp="1"/>
          </p:cNvSpPr>
          <p:nvPr/>
        </p:nvSpPr>
        <p:spPr>
          <a:xfrm>
            <a:off x="1333500" y="56578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产品设计重点：先统一字段与组件，再扩展页面范围，避免多端各自实现。</a:t>
            </a:r>
          </a:p>
        </p:txBody>
      </p:sp>
    </p:spTree>
    <p:extLst>
      <p:ext uri="{BB962C8B-B14F-4D97-AF65-F5344CB8AC3E}">
        <p14:creationId xmlns:p14="http://schemas.microsoft.com/office/powerpoint/2010/main" val="302522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left-spine">
            <a:extLst>
              <a:ext uri="{FF2B5EF4-FFF2-40B4-BE49-F238E27FC236}">
                <a16:creationId xmlns:a16="http://schemas.microsoft.com/office/drawing/2014/main" id="{CABF7E07-A005-4587-968E-EEC2891CAA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61950" cy="6858000"/>
          </a:xfrm>
          <a:prstGeom prst="rect">
            <a:avLst/>
          </a:prstGeom>
          <a:solidFill>
            <a:srgbClr val="1E3A8A"/>
          </a:solidFill>
          <a:ln w="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" name="spine-num">
            <a:extLst>
              <a:ext uri="{FF2B5EF4-FFF2-40B4-BE49-F238E27FC236}">
                <a16:creationId xmlns:a16="http://schemas.microsoft.com/office/drawing/2014/main" id="{6AE131A7-08F3-4031-83AB-8DA41F3F9433}"/>
              </a:ext>
            </a:extLst>
          </p:cNvPr>
          <p:cNvSpPr>
            <a:spLocks noGrp="1"/>
          </p:cNvSpPr>
          <p:nvPr/>
        </p:nvSpPr>
        <p:spPr>
          <a:xfrm>
            <a:off x="66675" y="32385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lang="en-US" sz="82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  <a:endParaRPr sz="82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section-label">
            <a:extLst>
              <a:ext uri="{FF2B5EF4-FFF2-40B4-BE49-F238E27FC236}">
                <a16:creationId xmlns:a16="http://schemas.microsoft.com/office/drawing/2014/main" id="{DEE3F260-F02F-4C48-8884-31346CBA3CE3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RISK CONTROL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BFB1024C-5F70-42BD-AA34-E21CF6202968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风险控制从“规则、身份、同步”三条线收口</a:t>
            </a:r>
          </a:p>
        </p:txBody>
      </p:sp>
      <p:sp>
        <p:nvSpPr>
          <p:cNvPr id="5" name="slide-subtitle">
            <a:extLst>
              <a:ext uri="{FF2B5EF4-FFF2-40B4-BE49-F238E27FC236}">
                <a16:creationId xmlns:a16="http://schemas.microsoft.com/office/drawing/2014/main" id="{E1E42AEE-E228-4C97-9001-E97A244DF8D3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上线风险来自一致性、审计和隐私边界，而不是功能本身不可实现。</a:t>
            </a:r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70D92F6B-C61C-45B8-BA6C-C50969C7709C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553700" cy="0"/>
          </a:xfrm>
          <a:prstGeom prst="line">
            <a:avLst/>
          </a:prstGeom>
          <a:noFill/>
          <a:ln w="952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394F78D3-07F7-4D14-A5F0-7A69EBA0B73B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13">
                <a:solidFill>
                  <a:srgbClr val="8290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290A2"/>
                </a:solidFill>
                <a:latin typeface="Microsoft YaHei"/>
                <a:ea typeface="Microsoft YaHei"/>
                <a:cs typeface="Microsoft YaHei"/>
              </a:rPr>
              <a:t>AI课程教辅系统 · CR-20260615-002 · 用户资料展示能力增强</a:t>
            </a:r>
          </a:p>
        </p:txBody>
      </p:sp>
      <p:sp>
        <p:nvSpPr>
          <p:cNvPr id="8" name="footer-page">
            <a:extLst>
              <a:ext uri="{FF2B5EF4-FFF2-40B4-BE49-F238E27FC236}">
                <a16:creationId xmlns:a16="http://schemas.microsoft.com/office/drawing/2014/main" id="{A5BA83C4-D804-41FF-B7E6-4AEAF0F67360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1">
                <a:solidFill>
                  <a:srgbClr val="8290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290A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9" name="risk0">
            <a:extLst>
              <a:ext uri="{FF2B5EF4-FFF2-40B4-BE49-F238E27FC236}">
                <a16:creationId xmlns:a16="http://schemas.microsoft.com/office/drawing/2014/main" id="{2E3927DC-C166-496F-937A-A5FC8C18235A}"/>
              </a:ext>
            </a:extLst>
          </p:cNvPr>
          <p:cNvSpPr>
            <a:spLocks noGrp="1"/>
          </p:cNvSpPr>
          <p:nvPr/>
        </p:nvSpPr>
        <p:spPr>
          <a:xfrm>
            <a:off x="781050" y="1638300"/>
            <a:ext cx="4857750" cy="876300"/>
          </a:xfrm>
          <a:prstGeom prst="roundRect">
            <a:avLst>
              <a:gd name="adj" fmla="val 13043"/>
            </a:avLst>
          </a:prstGeom>
          <a:solidFill>
            <a:srgbClr val="FDECEC"/>
          </a:solidFill>
          <a:ln w="9525">
            <a:solidFill>
              <a:srgbClr val="D7E0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0" name="risk-title0">
            <a:extLst>
              <a:ext uri="{FF2B5EF4-FFF2-40B4-BE49-F238E27FC236}">
                <a16:creationId xmlns:a16="http://schemas.microsoft.com/office/drawing/2014/main" id="{BABA52AB-4110-4195-A719-AB1704549754}"/>
              </a:ext>
            </a:extLst>
          </p:cNvPr>
          <p:cNvSpPr>
            <a:spLocks noGrp="1"/>
          </p:cNvSpPr>
          <p:nvPr/>
        </p:nvSpPr>
        <p:spPr>
          <a:xfrm>
            <a:off x="990600" y="18288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头像上传安全</a:t>
            </a:r>
          </a:p>
        </p:txBody>
      </p:sp>
      <p:sp>
        <p:nvSpPr>
          <p:cNvPr id="11" name="risk-desc0">
            <a:extLst>
              <a:ext uri="{FF2B5EF4-FFF2-40B4-BE49-F238E27FC236}">
                <a16:creationId xmlns:a16="http://schemas.microsoft.com/office/drawing/2014/main" id="{3CCAE19A-8756-4F5C-AD67-0C37FFB8A3C5}"/>
              </a:ext>
            </a:extLst>
          </p:cNvPr>
          <p:cNvSpPr>
            <a:spLocks noGrp="1"/>
          </p:cNvSpPr>
          <p:nvPr/>
        </p:nvSpPr>
        <p:spPr>
          <a:xfrm>
            <a:off x="2895600" y="180975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48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限制格式与大小；服务端校验文件类型</a:t>
            </a:r>
          </a:p>
        </p:txBody>
      </p:sp>
      <p:sp>
        <p:nvSpPr>
          <p:cNvPr id="12" name="risk1">
            <a:extLst>
              <a:ext uri="{FF2B5EF4-FFF2-40B4-BE49-F238E27FC236}">
                <a16:creationId xmlns:a16="http://schemas.microsoft.com/office/drawing/2014/main" id="{4953FB1D-3DD5-4A01-837A-E20B659E17F1}"/>
              </a:ext>
            </a:extLst>
          </p:cNvPr>
          <p:cNvSpPr>
            <a:spLocks noGrp="1"/>
          </p:cNvSpPr>
          <p:nvPr/>
        </p:nvSpPr>
        <p:spPr>
          <a:xfrm>
            <a:off x="6210300" y="1638300"/>
            <a:ext cx="4857750" cy="876300"/>
          </a:xfrm>
          <a:prstGeom prst="roundRect">
            <a:avLst>
              <a:gd name="adj" fmla="val 13043"/>
            </a:avLst>
          </a:prstGeom>
          <a:solidFill>
            <a:srgbClr val="FFF4DA"/>
          </a:solidFill>
          <a:ln w="9525">
            <a:solidFill>
              <a:srgbClr val="D7E0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3" name="risk-title1">
            <a:extLst>
              <a:ext uri="{FF2B5EF4-FFF2-40B4-BE49-F238E27FC236}">
                <a16:creationId xmlns:a16="http://schemas.microsoft.com/office/drawing/2014/main" id="{075F0DCD-67EC-497B-BA5A-638F691EE1F6}"/>
              </a:ext>
            </a:extLst>
          </p:cNvPr>
          <p:cNvSpPr>
            <a:spLocks noGrp="1"/>
          </p:cNvSpPr>
          <p:nvPr/>
        </p:nvSpPr>
        <p:spPr>
          <a:xfrm>
            <a:off x="6419850" y="18288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真实身份混淆</a:t>
            </a:r>
          </a:p>
        </p:txBody>
      </p:sp>
      <p:sp>
        <p:nvSpPr>
          <p:cNvPr id="14" name="risk-desc1">
            <a:extLst>
              <a:ext uri="{FF2B5EF4-FFF2-40B4-BE49-F238E27FC236}">
                <a16:creationId xmlns:a16="http://schemas.microsoft.com/office/drawing/2014/main" id="{E9B522B0-C82A-48DF-A34C-8481D771873A}"/>
              </a:ext>
            </a:extLst>
          </p:cNvPr>
          <p:cNvSpPr>
            <a:spLocks noGrp="1"/>
          </p:cNvSpPr>
          <p:nvPr/>
        </p:nvSpPr>
        <p:spPr>
          <a:xfrm>
            <a:off x="8324850" y="180975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48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展示层用显示名称，审计层保留真实姓名</a:t>
            </a:r>
          </a:p>
        </p:txBody>
      </p:sp>
      <p:sp>
        <p:nvSpPr>
          <p:cNvPr id="15" name="risk2">
            <a:extLst>
              <a:ext uri="{FF2B5EF4-FFF2-40B4-BE49-F238E27FC236}">
                <a16:creationId xmlns:a16="http://schemas.microsoft.com/office/drawing/2014/main" id="{2A313852-023F-4E21-BA32-28091004CE7C}"/>
              </a:ext>
            </a:extLst>
          </p:cNvPr>
          <p:cNvSpPr>
            <a:spLocks noGrp="1"/>
          </p:cNvSpPr>
          <p:nvPr/>
        </p:nvSpPr>
        <p:spPr>
          <a:xfrm>
            <a:off x="781050" y="2895600"/>
            <a:ext cx="4857750" cy="876300"/>
          </a:xfrm>
          <a:prstGeom prst="roundRect">
            <a:avLst>
              <a:gd name="adj" fmla="val 13043"/>
            </a:avLst>
          </a:prstGeom>
          <a:solidFill>
            <a:srgbClr val="EAF1FF"/>
          </a:solidFill>
          <a:ln w="9525">
            <a:solidFill>
              <a:srgbClr val="D7E0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6" name="risk-title2">
            <a:extLst>
              <a:ext uri="{FF2B5EF4-FFF2-40B4-BE49-F238E27FC236}">
                <a16:creationId xmlns:a16="http://schemas.microsoft.com/office/drawing/2014/main" id="{4ED1F728-7CB3-4AC7-B618-EA23DB08B42B}"/>
              </a:ext>
            </a:extLst>
          </p:cNvPr>
          <p:cNvSpPr>
            <a:spLocks noGrp="1"/>
          </p:cNvSpPr>
          <p:nvPr/>
        </p:nvSpPr>
        <p:spPr>
          <a:xfrm>
            <a:off x="990600" y="30861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页面同步不一致</a:t>
            </a:r>
          </a:p>
        </p:txBody>
      </p:sp>
      <p:sp>
        <p:nvSpPr>
          <p:cNvPr id="17" name="risk-desc2">
            <a:extLst>
              <a:ext uri="{FF2B5EF4-FFF2-40B4-BE49-F238E27FC236}">
                <a16:creationId xmlns:a16="http://schemas.microsoft.com/office/drawing/2014/main" id="{1B3FD036-7426-4754-80FE-82B74A6D2B5D}"/>
              </a:ext>
            </a:extLst>
          </p:cNvPr>
          <p:cNvSpPr>
            <a:spLocks noGrp="1"/>
          </p:cNvSpPr>
          <p:nvPr/>
        </p:nvSpPr>
        <p:spPr>
          <a:xfrm>
            <a:off x="2895600" y="306705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48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抽象统一资料展示组件，建立页面清单回归</a:t>
            </a:r>
          </a:p>
        </p:txBody>
      </p:sp>
      <p:sp>
        <p:nvSpPr>
          <p:cNvPr id="18" name="risk3">
            <a:extLst>
              <a:ext uri="{FF2B5EF4-FFF2-40B4-BE49-F238E27FC236}">
                <a16:creationId xmlns:a16="http://schemas.microsoft.com/office/drawing/2014/main" id="{B2E4CCE1-5A60-43A0-924F-580344DBF888}"/>
              </a:ext>
            </a:extLst>
          </p:cNvPr>
          <p:cNvSpPr>
            <a:spLocks noGrp="1"/>
          </p:cNvSpPr>
          <p:nvPr/>
        </p:nvSpPr>
        <p:spPr>
          <a:xfrm>
            <a:off x="6210300" y="2895600"/>
            <a:ext cx="4857750" cy="876300"/>
          </a:xfrm>
          <a:prstGeom prst="roundRect">
            <a:avLst>
              <a:gd name="adj" fmla="val 13043"/>
            </a:avLst>
          </a:prstGeom>
          <a:solidFill>
            <a:srgbClr val="E6F4F0"/>
          </a:solidFill>
          <a:ln w="9525">
            <a:solidFill>
              <a:srgbClr val="D7E0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9" name="risk-title3">
            <a:extLst>
              <a:ext uri="{FF2B5EF4-FFF2-40B4-BE49-F238E27FC236}">
                <a16:creationId xmlns:a16="http://schemas.microsoft.com/office/drawing/2014/main" id="{B787C27F-C092-469D-8CD2-A797D8BA8826}"/>
              </a:ext>
            </a:extLst>
          </p:cNvPr>
          <p:cNvSpPr>
            <a:spLocks noGrp="1"/>
          </p:cNvSpPr>
          <p:nvPr/>
        </p:nvSpPr>
        <p:spPr>
          <a:xfrm>
            <a:off x="6419850" y="30861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隐私策略不清</a:t>
            </a:r>
          </a:p>
        </p:txBody>
      </p:sp>
      <p:sp>
        <p:nvSpPr>
          <p:cNvPr id="20" name="risk-desc3">
            <a:extLst>
              <a:ext uri="{FF2B5EF4-FFF2-40B4-BE49-F238E27FC236}">
                <a16:creationId xmlns:a16="http://schemas.microsoft.com/office/drawing/2014/main" id="{6442DFFD-AA75-447B-BA2C-CDE0F68CC021}"/>
              </a:ext>
            </a:extLst>
          </p:cNvPr>
          <p:cNvSpPr>
            <a:spLocks noGrp="1"/>
          </p:cNvSpPr>
          <p:nvPr/>
        </p:nvSpPr>
        <p:spPr>
          <a:xfrm>
            <a:off x="8324850" y="306705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48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公开互动优先昵称，正式管理与审计保留真名</a:t>
            </a:r>
          </a:p>
        </p:txBody>
      </p:sp>
      <p:sp>
        <p:nvSpPr>
          <p:cNvPr id="21" name="risk4">
            <a:extLst>
              <a:ext uri="{FF2B5EF4-FFF2-40B4-BE49-F238E27FC236}">
                <a16:creationId xmlns:a16="http://schemas.microsoft.com/office/drawing/2014/main" id="{5953C810-8B9C-4CBB-8836-C68ED80494E2}"/>
              </a:ext>
            </a:extLst>
          </p:cNvPr>
          <p:cNvSpPr>
            <a:spLocks noGrp="1"/>
          </p:cNvSpPr>
          <p:nvPr/>
        </p:nvSpPr>
        <p:spPr>
          <a:xfrm>
            <a:off x="781050" y="4152900"/>
            <a:ext cx="4857750" cy="876300"/>
          </a:xfrm>
          <a:prstGeom prst="roundRect">
            <a:avLst>
              <a:gd name="adj" fmla="val 13043"/>
            </a:avLst>
          </a:prstGeom>
          <a:solidFill>
            <a:srgbClr val="FFF4DA"/>
          </a:solidFill>
          <a:ln w="9525">
            <a:solidFill>
              <a:srgbClr val="D7E0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22" name="risk-title4">
            <a:extLst>
              <a:ext uri="{FF2B5EF4-FFF2-40B4-BE49-F238E27FC236}">
                <a16:creationId xmlns:a16="http://schemas.microsoft.com/office/drawing/2014/main" id="{2BE9D624-3127-4E34-81B2-B6DB5F5AB3A6}"/>
              </a:ext>
            </a:extLst>
          </p:cNvPr>
          <p:cNvSpPr>
            <a:spLocks noGrp="1"/>
          </p:cNvSpPr>
          <p:nvPr/>
        </p:nvSpPr>
        <p:spPr>
          <a:xfrm>
            <a:off x="990600" y="43434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历史默认数据缺失</a:t>
            </a:r>
          </a:p>
        </p:txBody>
      </p:sp>
      <p:sp>
        <p:nvSpPr>
          <p:cNvPr id="23" name="risk-desc4">
            <a:extLst>
              <a:ext uri="{FF2B5EF4-FFF2-40B4-BE49-F238E27FC236}">
                <a16:creationId xmlns:a16="http://schemas.microsoft.com/office/drawing/2014/main" id="{AA0ED9B6-0F29-4FD0-995E-899E5C6C4830}"/>
              </a:ext>
            </a:extLst>
          </p:cNvPr>
          <p:cNvSpPr>
            <a:spLocks noGrp="1"/>
          </p:cNvSpPr>
          <p:nvPr/>
        </p:nvSpPr>
        <p:spPr>
          <a:xfrm>
            <a:off x="2895600" y="432435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48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默认头像、空昵称处理；显示策略默认真实姓名</a:t>
            </a:r>
          </a:p>
        </p:txBody>
      </p:sp>
      <p:sp>
        <p:nvSpPr>
          <p:cNvPr id="24" name="risk5">
            <a:extLst>
              <a:ext uri="{FF2B5EF4-FFF2-40B4-BE49-F238E27FC236}">
                <a16:creationId xmlns:a16="http://schemas.microsoft.com/office/drawing/2014/main" id="{7C26AC19-95C3-4500-BBAB-8EC040E73EE5}"/>
              </a:ext>
            </a:extLst>
          </p:cNvPr>
          <p:cNvSpPr>
            <a:spLocks noGrp="1"/>
          </p:cNvSpPr>
          <p:nvPr/>
        </p:nvSpPr>
        <p:spPr>
          <a:xfrm>
            <a:off x="6210300" y="4152900"/>
            <a:ext cx="4857750" cy="876300"/>
          </a:xfrm>
          <a:prstGeom prst="roundRect">
            <a:avLst>
              <a:gd name="adj" fmla="val 13043"/>
            </a:avLst>
          </a:prstGeom>
          <a:solidFill>
            <a:srgbClr val="EAF1FF"/>
          </a:solidFill>
          <a:ln w="9525">
            <a:solidFill>
              <a:srgbClr val="D7E0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25" name="risk-title5">
            <a:extLst>
              <a:ext uri="{FF2B5EF4-FFF2-40B4-BE49-F238E27FC236}">
                <a16:creationId xmlns:a16="http://schemas.microsoft.com/office/drawing/2014/main" id="{B6C5C425-187A-44E7-970C-86753F580503}"/>
              </a:ext>
            </a:extLst>
          </p:cNvPr>
          <p:cNvSpPr>
            <a:spLocks noGrp="1"/>
          </p:cNvSpPr>
          <p:nvPr/>
        </p:nvSpPr>
        <p:spPr>
          <a:xfrm>
            <a:off x="6419850" y="43434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进度挤压</a:t>
            </a:r>
          </a:p>
        </p:txBody>
      </p:sp>
      <p:sp>
        <p:nvSpPr>
          <p:cNvPr id="26" name="risk-desc5">
            <a:extLst>
              <a:ext uri="{FF2B5EF4-FFF2-40B4-BE49-F238E27FC236}">
                <a16:creationId xmlns:a16="http://schemas.microsoft.com/office/drawing/2014/main" id="{56CA0D4F-B2F9-48A0-91E3-E4B5DB2264FB}"/>
              </a:ext>
            </a:extLst>
          </p:cNvPr>
          <p:cNvSpPr>
            <a:spLocks noGrp="1"/>
          </p:cNvSpPr>
          <p:nvPr/>
        </p:nvSpPr>
        <p:spPr>
          <a:xfrm>
            <a:off x="8324850" y="432435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48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高价值入口和字段能力先行，低风险范围后移</a:t>
            </a:r>
          </a:p>
        </p:txBody>
      </p:sp>
    </p:spTree>
    <p:extLst>
      <p:ext uri="{BB962C8B-B14F-4D97-AF65-F5344CB8AC3E}">
        <p14:creationId xmlns:p14="http://schemas.microsoft.com/office/powerpoint/2010/main" val="2100200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left-spine">
            <a:extLst>
              <a:ext uri="{FF2B5EF4-FFF2-40B4-BE49-F238E27FC236}">
                <a16:creationId xmlns:a16="http://schemas.microsoft.com/office/drawing/2014/main" id="{26B7193F-AA9F-480C-B2B8-8C003B703E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61950" cy="6858000"/>
          </a:xfrm>
          <a:prstGeom prst="rect">
            <a:avLst/>
          </a:prstGeom>
          <a:solidFill>
            <a:srgbClr val="1E3A8A"/>
          </a:solidFill>
          <a:ln w="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spine-num">
            <a:extLst>
              <a:ext uri="{FF2B5EF4-FFF2-40B4-BE49-F238E27FC236}">
                <a16:creationId xmlns:a16="http://schemas.microsoft.com/office/drawing/2014/main" id="{955CAF2E-7DE3-4790-A09E-8E9BBED0A714}"/>
              </a:ext>
            </a:extLst>
          </p:cNvPr>
          <p:cNvSpPr>
            <a:spLocks noGrp="1"/>
          </p:cNvSpPr>
          <p:nvPr/>
        </p:nvSpPr>
        <p:spPr>
          <a:xfrm>
            <a:off x="66675" y="32385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lang="en-US" sz="82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  <a:endParaRPr sz="82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section-label">
            <a:extLst>
              <a:ext uri="{FF2B5EF4-FFF2-40B4-BE49-F238E27FC236}">
                <a16:creationId xmlns:a16="http://schemas.microsoft.com/office/drawing/2014/main" id="{A79F321B-8486-403F-94A3-73EFBAEA4ADB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ACCEPTANCE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2907CF3F-0442-4545-8AD8-1F41C58A23D4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验收重点：同步、异常、审计一起看</a:t>
            </a:r>
          </a:p>
        </p:txBody>
      </p:sp>
      <p:sp>
        <p:nvSpPr>
          <p:cNvPr id="5" name="slide-subtitle">
            <a:extLst>
              <a:ext uri="{FF2B5EF4-FFF2-40B4-BE49-F238E27FC236}">
                <a16:creationId xmlns:a16="http://schemas.microsoft.com/office/drawing/2014/main" id="{62251F34-1581-4A94-92BC-28B2E029F79F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不要只看某个页面是否显示头像，要看策略保存后的多页面一致性。</a:t>
            </a:r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2820828F-8EE0-45B9-8BBB-7F1B7A4328A8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553700" cy="0"/>
          </a:xfrm>
          <a:prstGeom prst="line">
            <a:avLst/>
          </a:prstGeom>
          <a:noFill/>
          <a:ln w="952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FC5326E6-6F3B-4055-9027-2A49169D73C5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13">
                <a:solidFill>
                  <a:srgbClr val="8290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290A2"/>
                </a:solidFill>
                <a:latin typeface="Microsoft YaHei"/>
                <a:ea typeface="Microsoft YaHei"/>
                <a:cs typeface="Microsoft YaHei"/>
              </a:rPr>
              <a:t>AI课程教辅系统 · CR-20260615-002 · 用户资料展示能力增强</a:t>
            </a:r>
          </a:p>
        </p:txBody>
      </p:sp>
      <p:sp>
        <p:nvSpPr>
          <p:cNvPr id="8" name="footer-page">
            <a:extLst>
              <a:ext uri="{FF2B5EF4-FFF2-40B4-BE49-F238E27FC236}">
                <a16:creationId xmlns:a16="http://schemas.microsoft.com/office/drawing/2014/main" id="{0C150C8E-54D8-4541-878C-0E85E67FB863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1">
                <a:solidFill>
                  <a:srgbClr val="8290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290A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9" name="check-row0">
            <a:extLst>
              <a:ext uri="{FF2B5EF4-FFF2-40B4-BE49-F238E27FC236}">
                <a16:creationId xmlns:a16="http://schemas.microsoft.com/office/drawing/2014/main" id="{1119A864-0A10-467C-BD47-198E982EE19A}"/>
              </a:ext>
            </a:extLst>
          </p:cNvPr>
          <p:cNvSpPr>
            <a:spLocks noGrp="1"/>
          </p:cNvSpPr>
          <p:nvPr/>
        </p:nvSpPr>
        <p:spPr>
          <a:xfrm>
            <a:off x="838200" y="1638300"/>
            <a:ext cx="10363200" cy="533400"/>
          </a:xfrm>
          <a:prstGeom prst="roundRect">
            <a:avLst>
              <a:gd name="adj" fmla="val 17857"/>
            </a:avLst>
          </a:prstGeom>
          <a:solidFill>
            <a:srgbClr val="F0F5FA"/>
          </a:solidFill>
          <a:ln w="952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98B45524-8E7F-4279-96B9-8F7EB27CDEA5}"/>
              </a:ext>
            </a:extLst>
          </p:cNvPr>
          <p:cNvSpPr>
            <a:spLocks noGrp="1"/>
          </p:cNvSpPr>
          <p:nvPr/>
        </p:nvSpPr>
        <p:spPr>
          <a:xfrm>
            <a:off x="1028700" y="1800225"/>
            <a:ext cx="209550" cy="2095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check">
            <a:extLst>
              <a:ext uri="{FF2B5EF4-FFF2-40B4-BE49-F238E27FC236}">
                <a16:creationId xmlns:a16="http://schemas.microsoft.com/office/drawing/2014/main" id="{9F2B0D28-0D73-4303-948F-9164240F6A56}"/>
              </a:ext>
            </a:extLst>
          </p:cNvPr>
          <p:cNvSpPr>
            <a:spLocks noGrp="1"/>
          </p:cNvSpPr>
          <p:nvPr/>
        </p:nvSpPr>
        <p:spPr>
          <a:xfrm>
            <a:off x="1057275" y="1781175"/>
            <a:ext cx="152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2" name="check-name0">
            <a:extLst>
              <a:ext uri="{FF2B5EF4-FFF2-40B4-BE49-F238E27FC236}">
                <a16:creationId xmlns:a16="http://schemas.microsoft.com/office/drawing/2014/main" id="{AF66FCCE-47AB-4E99-BF4B-EE5CB724C19C}"/>
              </a:ext>
            </a:extLst>
          </p:cNvPr>
          <p:cNvSpPr>
            <a:spLocks noGrp="1"/>
          </p:cNvSpPr>
          <p:nvPr/>
        </p:nvSpPr>
        <p:spPr>
          <a:xfrm>
            <a:off x="1371600" y="180975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1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1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头像展示</a:t>
            </a:r>
          </a:p>
        </p:txBody>
      </p:sp>
      <p:sp>
        <p:nvSpPr>
          <p:cNvPr id="13" name="check-point0">
            <a:extLst>
              <a:ext uri="{FF2B5EF4-FFF2-40B4-BE49-F238E27FC236}">
                <a16:creationId xmlns:a16="http://schemas.microsoft.com/office/drawing/2014/main" id="{8902DC2A-C2F7-44FB-BED0-D233C4FB50D0}"/>
              </a:ext>
            </a:extLst>
          </p:cNvPr>
          <p:cNvSpPr>
            <a:spLocks noGrp="1"/>
          </p:cNvSpPr>
          <p:nvPr/>
        </p:nvSpPr>
        <p:spPr>
          <a:xfrm>
            <a:off x="2781300" y="17716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80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0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顶部导航、头像下拉、个人中心均显示；无头像用默认头像</a:t>
            </a:r>
          </a:p>
        </p:txBody>
      </p:sp>
      <p:sp>
        <p:nvSpPr>
          <p:cNvPr id="14" name="pill-三类角色页面走查">
            <a:extLst>
              <a:ext uri="{FF2B5EF4-FFF2-40B4-BE49-F238E27FC236}">
                <a16:creationId xmlns:a16="http://schemas.microsoft.com/office/drawing/2014/main" id="{7E9057B4-FFA1-453C-8A4B-99701120C3CF}"/>
              </a:ext>
            </a:extLst>
          </p:cNvPr>
          <p:cNvSpPr>
            <a:spLocks noGrp="1"/>
          </p:cNvSpPr>
          <p:nvPr/>
        </p:nvSpPr>
        <p:spPr>
          <a:xfrm>
            <a:off x="8305800" y="1771650"/>
            <a:ext cx="219075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三类角色页面走查</a:t>
            </a:r>
          </a:p>
        </p:txBody>
      </p:sp>
      <p:sp>
        <p:nvSpPr>
          <p:cNvPr id="15" name="check-row1">
            <a:extLst>
              <a:ext uri="{FF2B5EF4-FFF2-40B4-BE49-F238E27FC236}">
                <a16:creationId xmlns:a16="http://schemas.microsoft.com/office/drawing/2014/main" id="{F73E2A9B-1965-451B-A0A4-3529BB30B30F}"/>
              </a:ext>
            </a:extLst>
          </p:cNvPr>
          <p:cNvSpPr>
            <a:spLocks noGrp="1"/>
          </p:cNvSpPr>
          <p:nvPr/>
        </p:nvSpPr>
        <p:spPr>
          <a:xfrm>
            <a:off x="838200" y="2343150"/>
            <a:ext cx="1036320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0BD2CB2B-0D99-43C1-BDB3-BD22594653B5}"/>
              </a:ext>
            </a:extLst>
          </p:cNvPr>
          <p:cNvSpPr>
            <a:spLocks noGrp="1"/>
          </p:cNvSpPr>
          <p:nvPr/>
        </p:nvSpPr>
        <p:spPr>
          <a:xfrm>
            <a:off x="1028700" y="2505075"/>
            <a:ext cx="209550" cy="2095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check">
            <a:extLst>
              <a:ext uri="{FF2B5EF4-FFF2-40B4-BE49-F238E27FC236}">
                <a16:creationId xmlns:a16="http://schemas.microsoft.com/office/drawing/2014/main" id="{2B539FE2-6579-458C-AFA2-93AF7F52C5B3}"/>
              </a:ext>
            </a:extLst>
          </p:cNvPr>
          <p:cNvSpPr>
            <a:spLocks noGrp="1"/>
          </p:cNvSpPr>
          <p:nvPr/>
        </p:nvSpPr>
        <p:spPr>
          <a:xfrm>
            <a:off x="1057275" y="2486025"/>
            <a:ext cx="152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8" name="check-name1">
            <a:extLst>
              <a:ext uri="{FF2B5EF4-FFF2-40B4-BE49-F238E27FC236}">
                <a16:creationId xmlns:a16="http://schemas.microsoft.com/office/drawing/2014/main" id="{79559D68-7FD1-4D5D-A837-1DF81F4E8E54}"/>
              </a:ext>
            </a:extLst>
          </p:cNvPr>
          <p:cNvSpPr>
            <a:spLocks noGrp="1"/>
          </p:cNvSpPr>
          <p:nvPr/>
        </p:nvSpPr>
        <p:spPr>
          <a:xfrm>
            <a:off x="1371600" y="25146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1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1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头像修改</a:t>
            </a:r>
          </a:p>
        </p:txBody>
      </p:sp>
      <p:sp>
        <p:nvSpPr>
          <p:cNvPr id="19" name="check-point1">
            <a:extLst>
              <a:ext uri="{FF2B5EF4-FFF2-40B4-BE49-F238E27FC236}">
                <a16:creationId xmlns:a16="http://schemas.microsoft.com/office/drawing/2014/main" id="{133BA8FD-656D-411E-99E3-80B290ACA776}"/>
              </a:ext>
            </a:extLst>
          </p:cNvPr>
          <p:cNvSpPr>
            <a:spLocks noGrp="1"/>
          </p:cNvSpPr>
          <p:nvPr/>
        </p:nvSpPr>
        <p:spPr>
          <a:xfrm>
            <a:off x="2781300" y="24765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80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0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个人中心上传/更换后，刷新仍保持新头像</a:t>
            </a:r>
          </a:p>
        </p:txBody>
      </p:sp>
      <p:sp>
        <p:nvSpPr>
          <p:cNvPr id="20" name="pill-上传与刷新测试">
            <a:extLst>
              <a:ext uri="{FF2B5EF4-FFF2-40B4-BE49-F238E27FC236}">
                <a16:creationId xmlns:a16="http://schemas.microsoft.com/office/drawing/2014/main" id="{E1871CBB-CE52-4789-A040-13D4D262EE3E}"/>
              </a:ext>
            </a:extLst>
          </p:cNvPr>
          <p:cNvSpPr>
            <a:spLocks noGrp="1"/>
          </p:cNvSpPr>
          <p:nvPr/>
        </p:nvSpPr>
        <p:spPr>
          <a:xfrm>
            <a:off x="8305800" y="2476500"/>
            <a:ext cx="219075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上传与刷新测试</a:t>
            </a:r>
          </a:p>
        </p:txBody>
      </p:sp>
      <p:sp>
        <p:nvSpPr>
          <p:cNvPr id="21" name="check-row2">
            <a:extLst>
              <a:ext uri="{FF2B5EF4-FFF2-40B4-BE49-F238E27FC236}">
                <a16:creationId xmlns:a16="http://schemas.microsoft.com/office/drawing/2014/main" id="{8881955C-9B73-45F2-A052-F1F9E6A7C562}"/>
              </a:ext>
            </a:extLst>
          </p:cNvPr>
          <p:cNvSpPr>
            <a:spLocks noGrp="1"/>
          </p:cNvSpPr>
          <p:nvPr/>
        </p:nvSpPr>
        <p:spPr>
          <a:xfrm>
            <a:off x="838200" y="3048000"/>
            <a:ext cx="10363200" cy="533400"/>
          </a:xfrm>
          <a:prstGeom prst="roundRect">
            <a:avLst>
              <a:gd name="adj" fmla="val 17857"/>
            </a:avLst>
          </a:prstGeom>
          <a:solidFill>
            <a:srgbClr val="F0F5FA"/>
          </a:solidFill>
          <a:ln w="952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DCE8BA6F-B1CC-4E56-B093-25305B8F632F}"/>
              </a:ext>
            </a:extLst>
          </p:cNvPr>
          <p:cNvSpPr>
            <a:spLocks noGrp="1"/>
          </p:cNvSpPr>
          <p:nvPr/>
        </p:nvSpPr>
        <p:spPr>
          <a:xfrm>
            <a:off x="1028700" y="3209925"/>
            <a:ext cx="209550" cy="2095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check">
            <a:extLst>
              <a:ext uri="{FF2B5EF4-FFF2-40B4-BE49-F238E27FC236}">
                <a16:creationId xmlns:a16="http://schemas.microsoft.com/office/drawing/2014/main" id="{D2CF0F9C-7431-4276-A4E3-BCE46785D3C5}"/>
              </a:ext>
            </a:extLst>
          </p:cNvPr>
          <p:cNvSpPr>
            <a:spLocks noGrp="1"/>
          </p:cNvSpPr>
          <p:nvPr/>
        </p:nvSpPr>
        <p:spPr>
          <a:xfrm>
            <a:off x="1057275" y="3190875"/>
            <a:ext cx="152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4" name="check-name2">
            <a:extLst>
              <a:ext uri="{FF2B5EF4-FFF2-40B4-BE49-F238E27FC236}">
                <a16:creationId xmlns:a16="http://schemas.microsoft.com/office/drawing/2014/main" id="{1355AE44-19F9-4B4A-AD59-6FF620FAF525}"/>
              </a:ext>
            </a:extLst>
          </p:cNvPr>
          <p:cNvSpPr>
            <a:spLocks noGrp="1"/>
          </p:cNvSpPr>
          <p:nvPr/>
        </p:nvSpPr>
        <p:spPr>
          <a:xfrm>
            <a:off x="1371600" y="321945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1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1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昵称与策略</a:t>
            </a:r>
          </a:p>
        </p:txBody>
      </p:sp>
      <p:sp>
        <p:nvSpPr>
          <p:cNvPr id="25" name="check-point2">
            <a:extLst>
              <a:ext uri="{FF2B5EF4-FFF2-40B4-BE49-F238E27FC236}">
                <a16:creationId xmlns:a16="http://schemas.microsoft.com/office/drawing/2014/main" id="{2C2FEE93-26A2-4021-8D7F-5A6DF205C981}"/>
              </a:ext>
            </a:extLst>
          </p:cNvPr>
          <p:cNvSpPr>
            <a:spLocks noGrp="1"/>
          </p:cNvSpPr>
          <p:nvPr/>
        </p:nvSpPr>
        <p:spPr>
          <a:xfrm>
            <a:off x="2781300" y="31813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80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0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可维护昵称；可选真名或昵称；保存后同步</a:t>
            </a:r>
          </a:p>
        </p:txBody>
      </p:sp>
      <p:sp>
        <p:nvSpPr>
          <p:cNvPr id="26" name="pill-配置测试 + 页面回归">
            <a:extLst>
              <a:ext uri="{FF2B5EF4-FFF2-40B4-BE49-F238E27FC236}">
                <a16:creationId xmlns:a16="http://schemas.microsoft.com/office/drawing/2014/main" id="{F3B9FEF6-5543-4BD0-BFD1-0263FC657E5C}"/>
              </a:ext>
            </a:extLst>
          </p:cNvPr>
          <p:cNvSpPr>
            <a:spLocks noGrp="1"/>
          </p:cNvSpPr>
          <p:nvPr/>
        </p:nvSpPr>
        <p:spPr>
          <a:xfrm>
            <a:off x="8305800" y="3181350"/>
            <a:ext cx="219075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配置测试 + 页面回归</a:t>
            </a:r>
          </a:p>
        </p:txBody>
      </p:sp>
      <p:sp>
        <p:nvSpPr>
          <p:cNvPr id="27" name="check-row3">
            <a:extLst>
              <a:ext uri="{FF2B5EF4-FFF2-40B4-BE49-F238E27FC236}">
                <a16:creationId xmlns:a16="http://schemas.microsoft.com/office/drawing/2014/main" id="{D1201BC3-E6D3-4AB3-8E18-42ACAF91D708}"/>
              </a:ext>
            </a:extLst>
          </p:cNvPr>
          <p:cNvSpPr>
            <a:spLocks noGrp="1"/>
          </p:cNvSpPr>
          <p:nvPr/>
        </p:nvSpPr>
        <p:spPr>
          <a:xfrm>
            <a:off x="838200" y="3752850"/>
            <a:ext cx="1036320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346C52FC-277A-4C8F-9814-181135AF8022}"/>
              </a:ext>
            </a:extLst>
          </p:cNvPr>
          <p:cNvSpPr>
            <a:spLocks noGrp="1"/>
          </p:cNvSpPr>
          <p:nvPr/>
        </p:nvSpPr>
        <p:spPr>
          <a:xfrm>
            <a:off x="1028700" y="3914775"/>
            <a:ext cx="209550" cy="209550"/>
          </a:xfrm>
          <a:prstGeom prst="ellipse">
            <a:avLst/>
          </a:prstGeom>
          <a:solidFill>
            <a:srgbClr val="1E3A8A"/>
          </a:solidFill>
          <a:ln w="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check">
            <a:extLst>
              <a:ext uri="{FF2B5EF4-FFF2-40B4-BE49-F238E27FC236}">
                <a16:creationId xmlns:a16="http://schemas.microsoft.com/office/drawing/2014/main" id="{1D03B149-90E9-4B8E-8A02-B9AADBC661D9}"/>
              </a:ext>
            </a:extLst>
          </p:cNvPr>
          <p:cNvSpPr>
            <a:spLocks noGrp="1"/>
          </p:cNvSpPr>
          <p:nvPr/>
        </p:nvSpPr>
        <p:spPr>
          <a:xfrm>
            <a:off x="1057275" y="3895725"/>
            <a:ext cx="152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0" name="check-name3">
            <a:extLst>
              <a:ext uri="{FF2B5EF4-FFF2-40B4-BE49-F238E27FC236}">
                <a16:creationId xmlns:a16="http://schemas.microsoft.com/office/drawing/2014/main" id="{1AD12502-4D25-4723-92A1-28BC077F6357}"/>
              </a:ext>
            </a:extLst>
          </p:cNvPr>
          <p:cNvSpPr>
            <a:spLocks noGrp="1"/>
          </p:cNvSpPr>
          <p:nvPr/>
        </p:nvSpPr>
        <p:spPr>
          <a:xfrm>
            <a:off x="1371600" y="39243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1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1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异常输入</a:t>
            </a:r>
          </a:p>
        </p:txBody>
      </p:sp>
      <p:sp>
        <p:nvSpPr>
          <p:cNvPr id="31" name="check-point3">
            <a:extLst>
              <a:ext uri="{FF2B5EF4-FFF2-40B4-BE49-F238E27FC236}">
                <a16:creationId xmlns:a16="http://schemas.microsoft.com/office/drawing/2014/main" id="{3C377377-892C-45DA-BB12-E6BCC2A5B9D7}"/>
              </a:ext>
            </a:extLst>
          </p:cNvPr>
          <p:cNvSpPr>
            <a:spLocks noGrp="1"/>
          </p:cNvSpPr>
          <p:nvPr/>
        </p:nvSpPr>
        <p:spPr>
          <a:xfrm>
            <a:off x="2781300" y="38862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80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0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空昵称、超长昵称、非法头像格式/大小不保存并提示</a:t>
            </a:r>
          </a:p>
        </p:txBody>
      </p:sp>
      <p:sp>
        <p:nvSpPr>
          <p:cNvPr id="32" name="pill-异常输入测试">
            <a:extLst>
              <a:ext uri="{FF2B5EF4-FFF2-40B4-BE49-F238E27FC236}">
                <a16:creationId xmlns:a16="http://schemas.microsoft.com/office/drawing/2014/main" id="{38459DA4-8ED5-4EC9-91D4-5B3A2BA0EC95}"/>
              </a:ext>
            </a:extLst>
          </p:cNvPr>
          <p:cNvSpPr>
            <a:spLocks noGrp="1"/>
          </p:cNvSpPr>
          <p:nvPr/>
        </p:nvSpPr>
        <p:spPr>
          <a:xfrm>
            <a:off x="8305800" y="3886200"/>
            <a:ext cx="219075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异常输入测试</a:t>
            </a:r>
          </a:p>
        </p:txBody>
      </p:sp>
      <p:sp>
        <p:nvSpPr>
          <p:cNvPr id="33" name="check-row4">
            <a:extLst>
              <a:ext uri="{FF2B5EF4-FFF2-40B4-BE49-F238E27FC236}">
                <a16:creationId xmlns:a16="http://schemas.microsoft.com/office/drawing/2014/main" id="{6215B2DE-1B2F-4A2D-927A-3E6BC84418F5}"/>
              </a:ext>
            </a:extLst>
          </p:cNvPr>
          <p:cNvSpPr>
            <a:spLocks noGrp="1"/>
          </p:cNvSpPr>
          <p:nvPr/>
        </p:nvSpPr>
        <p:spPr>
          <a:xfrm>
            <a:off x="838200" y="4457700"/>
            <a:ext cx="10363200" cy="533400"/>
          </a:xfrm>
          <a:prstGeom prst="roundRect">
            <a:avLst>
              <a:gd name="adj" fmla="val 17857"/>
            </a:avLst>
          </a:prstGeom>
          <a:solidFill>
            <a:srgbClr val="F0F5FA"/>
          </a:solidFill>
          <a:ln w="952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EDCE3615-B2F7-428B-A710-3166B9CCFD30}"/>
              </a:ext>
            </a:extLst>
          </p:cNvPr>
          <p:cNvSpPr>
            <a:spLocks noGrp="1"/>
          </p:cNvSpPr>
          <p:nvPr/>
        </p:nvSpPr>
        <p:spPr>
          <a:xfrm>
            <a:off x="1028700" y="4619625"/>
            <a:ext cx="209550" cy="209550"/>
          </a:xfrm>
          <a:prstGeom prst="ellipse">
            <a:avLst/>
          </a:prstGeom>
          <a:solidFill>
            <a:srgbClr val="1E3A8A"/>
          </a:solidFill>
          <a:ln w="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check">
            <a:extLst>
              <a:ext uri="{FF2B5EF4-FFF2-40B4-BE49-F238E27FC236}">
                <a16:creationId xmlns:a16="http://schemas.microsoft.com/office/drawing/2014/main" id="{DD838ED0-062D-4A85-A7AC-F37334EB6964}"/>
              </a:ext>
            </a:extLst>
          </p:cNvPr>
          <p:cNvSpPr>
            <a:spLocks noGrp="1"/>
          </p:cNvSpPr>
          <p:nvPr/>
        </p:nvSpPr>
        <p:spPr>
          <a:xfrm>
            <a:off x="1057275" y="4600575"/>
            <a:ext cx="152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6" name="check-name4">
            <a:extLst>
              <a:ext uri="{FF2B5EF4-FFF2-40B4-BE49-F238E27FC236}">
                <a16:creationId xmlns:a16="http://schemas.microsoft.com/office/drawing/2014/main" id="{50E3177D-3092-44AB-8F4F-CE66B1784956}"/>
              </a:ext>
            </a:extLst>
          </p:cNvPr>
          <p:cNvSpPr>
            <a:spLocks noGrp="1"/>
          </p:cNvSpPr>
          <p:nvPr/>
        </p:nvSpPr>
        <p:spPr>
          <a:xfrm>
            <a:off x="1371600" y="462915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1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15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管理员审计</a:t>
            </a:r>
          </a:p>
        </p:txBody>
      </p:sp>
      <p:sp>
        <p:nvSpPr>
          <p:cNvPr id="37" name="check-point4">
            <a:extLst>
              <a:ext uri="{FF2B5EF4-FFF2-40B4-BE49-F238E27FC236}">
                <a16:creationId xmlns:a16="http://schemas.microsoft.com/office/drawing/2014/main" id="{F6969E85-89AA-49CB-BFA5-A8138AD989C2}"/>
              </a:ext>
            </a:extLst>
          </p:cNvPr>
          <p:cNvSpPr>
            <a:spLocks noGrp="1"/>
          </p:cNvSpPr>
          <p:nvPr/>
        </p:nvSpPr>
        <p:spPr>
          <a:xfrm>
            <a:off x="2781300" y="45910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80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0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可区分真实姓名、昵称、显示策略；日志保留真实身份</a:t>
            </a:r>
          </a:p>
        </p:txBody>
      </p:sp>
      <p:sp>
        <p:nvSpPr>
          <p:cNvPr id="38" name="pill-管理端与日志测试">
            <a:extLst>
              <a:ext uri="{FF2B5EF4-FFF2-40B4-BE49-F238E27FC236}">
                <a16:creationId xmlns:a16="http://schemas.microsoft.com/office/drawing/2014/main" id="{2F74F249-3290-43A2-9BA5-C597F80540B7}"/>
              </a:ext>
            </a:extLst>
          </p:cNvPr>
          <p:cNvSpPr>
            <a:spLocks noGrp="1"/>
          </p:cNvSpPr>
          <p:nvPr/>
        </p:nvSpPr>
        <p:spPr>
          <a:xfrm>
            <a:off x="8305800" y="4591050"/>
            <a:ext cx="219075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管理端与日志测试</a:t>
            </a:r>
          </a:p>
        </p:txBody>
      </p:sp>
      <p:sp>
        <p:nvSpPr>
          <p:cNvPr id="39" name="sync">
            <a:extLst>
              <a:ext uri="{FF2B5EF4-FFF2-40B4-BE49-F238E27FC236}">
                <a16:creationId xmlns:a16="http://schemas.microsoft.com/office/drawing/2014/main" id="{757422DA-218C-45E5-B53E-9C5FB23230CD}"/>
              </a:ext>
            </a:extLst>
          </p:cNvPr>
          <p:cNvSpPr>
            <a:spLocks noGrp="1"/>
          </p:cNvSpPr>
          <p:nvPr/>
        </p:nvSpPr>
        <p:spPr>
          <a:xfrm>
            <a:off x="1809750" y="5467350"/>
            <a:ext cx="8572500" cy="438150"/>
          </a:xfrm>
          <a:prstGeom prst="roundRect">
            <a:avLst>
              <a:gd name="adj" fmla="val 21739"/>
            </a:avLst>
          </a:prstGeom>
          <a:solidFill>
            <a:srgbClr val="EEF3F8"/>
          </a:solidFill>
          <a:ln w="9525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ync-text">
            <a:extLst>
              <a:ext uri="{FF2B5EF4-FFF2-40B4-BE49-F238E27FC236}">
                <a16:creationId xmlns:a16="http://schemas.microsoft.com/office/drawing/2014/main" id="{B5EE9862-0C16-4DB5-961E-CBF5CEA53C47}"/>
              </a:ext>
            </a:extLst>
          </p:cNvPr>
          <p:cNvSpPr>
            <a:spLocks noGrp="1"/>
          </p:cNvSpPr>
          <p:nvPr/>
        </p:nvSpPr>
        <p:spPr>
          <a:xfrm>
            <a:off x="2095500" y="5591175"/>
            <a:ext cx="800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63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同步制品：SRS · 数据字典 · 原型说明 · 测试用例 · 用户手册 · 需求追踪矩阵</a:t>
            </a:r>
          </a:p>
        </p:txBody>
      </p:sp>
    </p:spTree>
    <p:extLst>
      <p:ext uri="{BB962C8B-B14F-4D97-AF65-F5344CB8AC3E}">
        <p14:creationId xmlns:p14="http://schemas.microsoft.com/office/powerpoint/2010/main" val="1645327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left-spine">
            <a:extLst>
              <a:ext uri="{FF2B5EF4-FFF2-40B4-BE49-F238E27FC236}">
                <a16:creationId xmlns:a16="http://schemas.microsoft.com/office/drawing/2014/main" id="{DDA975E2-197E-4801-95DE-281B4139E1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61950" cy="6858000"/>
          </a:xfrm>
          <a:prstGeom prst="rect">
            <a:avLst/>
          </a:prstGeom>
          <a:solidFill>
            <a:srgbClr val="1E3A8A"/>
          </a:solidFill>
          <a:ln w="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spine-num">
            <a:extLst>
              <a:ext uri="{FF2B5EF4-FFF2-40B4-BE49-F238E27FC236}">
                <a16:creationId xmlns:a16="http://schemas.microsoft.com/office/drawing/2014/main" id="{9D58CEFB-31A9-454A-9FE7-5EF050C74E3B}"/>
              </a:ext>
            </a:extLst>
          </p:cNvPr>
          <p:cNvSpPr>
            <a:spLocks noGrp="1"/>
          </p:cNvSpPr>
          <p:nvPr/>
        </p:nvSpPr>
        <p:spPr>
          <a:xfrm>
            <a:off x="66675" y="32385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82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08</a:t>
            </a:r>
            <a:endParaRPr sz="82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section-label">
            <a:extLst>
              <a:ext uri="{FF2B5EF4-FFF2-40B4-BE49-F238E27FC236}">
                <a16:creationId xmlns:a16="http://schemas.microsoft.com/office/drawing/2014/main" id="{6E9878CA-DEBB-44F9-BC53-56041656B662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SOURCES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047B52E4-40AF-44E3-9DBA-979CCE8DC49F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资料来源与汇报口径</a:t>
            </a:r>
          </a:p>
        </p:txBody>
      </p:sp>
      <p:sp>
        <p:nvSpPr>
          <p:cNvPr id="5" name="slide-subtitle">
            <a:extLst>
              <a:ext uri="{FF2B5EF4-FFF2-40B4-BE49-F238E27FC236}">
                <a16:creationId xmlns:a16="http://schemas.microsoft.com/office/drawing/2014/main" id="{249791E2-1D75-4380-9B1F-C5FD7F97B1BD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所有关键事实来自项目需求变更目录中的受控制品和问卷结果。</a:t>
            </a:r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286406ED-DBFD-4794-829E-3C93898F01EA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553700" cy="0"/>
          </a:xfrm>
          <a:prstGeom prst="line">
            <a:avLst/>
          </a:prstGeom>
          <a:noFill/>
          <a:ln w="952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49B0D715-0953-49B6-8D75-7A4A176F507D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13">
                <a:solidFill>
                  <a:srgbClr val="8290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290A2"/>
                </a:solidFill>
                <a:latin typeface="Microsoft YaHei"/>
                <a:ea typeface="Microsoft YaHei"/>
                <a:cs typeface="Microsoft YaHei"/>
              </a:rPr>
              <a:t>AI课程教辅系统 · CR-20260615-002 · 用户资料展示能力增强</a:t>
            </a:r>
          </a:p>
        </p:txBody>
      </p:sp>
      <p:sp>
        <p:nvSpPr>
          <p:cNvPr id="8" name="footer-page">
            <a:extLst>
              <a:ext uri="{FF2B5EF4-FFF2-40B4-BE49-F238E27FC236}">
                <a16:creationId xmlns:a16="http://schemas.microsoft.com/office/drawing/2014/main" id="{023D8C10-BFC1-4C59-B186-60E6A990F681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1">
                <a:solidFill>
                  <a:srgbClr val="8290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290A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9" name="source0">
            <a:extLst>
              <a:ext uri="{FF2B5EF4-FFF2-40B4-BE49-F238E27FC236}">
                <a16:creationId xmlns:a16="http://schemas.microsoft.com/office/drawing/2014/main" id="{C3DAE405-4873-40BC-8C47-5B9E7CEC8BF9}"/>
              </a:ext>
            </a:extLst>
          </p:cNvPr>
          <p:cNvSpPr>
            <a:spLocks noGrp="1"/>
          </p:cNvSpPr>
          <p:nvPr/>
        </p:nvSpPr>
        <p:spPr>
          <a:xfrm>
            <a:off x="876300" y="1638300"/>
            <a:ext cx="10363200" cy="457200"/>
          </a:xfrm>
          <a:prstGeom prst="roundRect">
            <a:avLst>
              <a:gd name="adj" fmla="val 20833"/>
            </a:avLst>
          </a:prstGeom>
          <a:solidFill>
            <a:srgbClr val="F0F5FA"/>
          </a:solidFill>
          <a:ln w="952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ource-name0">
            <a:extLst>
              <a:ext uri="{FF2B5EF4-FFF2-40B4-BE49-F238E27FC236}">
                <a16:creationId xmlns:a16="http://schemas.microsoft.com/office/drawing/2014/main" id="{07EABEE5-C63F-4BE8-AF40-1321289E28D8}"/>
              </a:ext>
            </a:extLst>
          </p:cNvPr>
          <p:cNvSpPr>
            <a:spLocks noGrp="1"/>
          </p:cNvSpPr>
          <p:nvPr/>
        </p:nvSpPr>
        <p:spPr>
          <a:xfrm>
            <a:off x="1162050" y="1771650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需求变更申请报告</a:t>
            </a:r>
          </a:p>
        </p:txBody>
      </p:sp>
      <p:sp>
        <p:nvSpPr>
          <p:cNvPr id="11" name="source-desc0">
            <a:extLst>
              <a:ext uri="{FF2B5EF4-FFF2-40B4-BE49-F238E27FC236}">
                <a16:creationId xmlns:a16="http://schemas.microsoft.com/office/drawing/2014/main" id="{30AEE6CF-3227-41F9-B6FE-7390EE9F6753}"/>
              </a:ext>
            </a:extLst>
          </p:cNvPr>
          <p:cNvSpPr>
            <a:spLocks noGrp="1"/>
          </p:cNvSpPr>
          <p:nvPr/>
        </p:nvSpPr>
        <p:spPr>
          <a:xfrm>
            <a:off x="3638550" y="1771650"/>
            <a:ext cx="704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CR-20260615-002、XM01/XM02内容、业务价值、验收标准</a:t>
            </a:r>
          </a:p>
        </p:txBody>
      </p:sp>
      <p:sp>
        <p:nvSpPr>
          <p:cNvPr id="12" name="source1">
            <a:extLst>
              <a:ext uri="{FF2B5EF4-FFF2-40B4-BE49-F238E27FC236}">
                <a16:creationId xmlns:a16="http://schemas.microsoft.com/office/drawing/2014/main" id="{A713B18A-44C6-4433-855D-6F61F50EF09B}"/>
              </a:ext>
            </a:extLst>
          </p:cNvPr>
          <p:cNvSpPr>
            <a:spLocks noGrp="1"/>
          </p:cNvSpPr>
          <p:nvPr/>
        </p:nvSpPr>
        <p:spPr>
          <a:xfrm>
            <a:off x="876300" y="2286000"/>
            <a:ext cx="10363200" cy="4572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ource-name1">
            <a:extLst>
              <a:ext uri="{FF2B5EF4-FFF2-40B4-BE49-F238E27FC236}">
                <a16:creationId xmlns:a16="http://schemas.microsoft.com/office/drawing/2014/main" id="{69273A8D-AC1E-423C-A79E-62A31BCA9294}"/>
              </a:ext>
            </a:extLst>
          </p:cNvPr>
          <p:cNvSpPr>
            <a:spLocks noGrp="1"/>
          </p:cNvSpPr>
          <p:nvPr/>
        </p:nvSpPr>
        <p:spPr>
          <a:xfrm>
            <a:off x="1162050" y="2419350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需求变更影响分析报告</a:t>
            </a:r>
          </a:p>
        </p:txBody>
      </p:sp>
      <p:sp>
        <p:nvSpPr>
          <p:cNvPr id="14" name="source-desc1">
            <a:extLst>
              <a:ext uri="{FF2B5EF4-FFF2-40B4-BE49-F238E27FC236}">
                <a16:creationId xmlns:a16="http://schemas.microsoft.com/office/drawing/2014/main" id="{3D068DAA-9993-4053-B070-8E9888148B51}"/>
              </a:ext>
            </a:extLst>
          </p:cNvPr>
          <p:cNvSpPr>
            <a:spLocks noGrp="1"/>
          </p:cNvSpPr>
          <p:nvPr/>
        </p:nvSpPr>
        <p:spPr>
          <a:xfrm>
            <a:off x="3638550" y="2419350"/>
            <a:ext cx="704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影响范围、QFD摘要、5.5人日估算、风险与建议方案</a:t>
            </a:r>
          </a:p>
        </p:txBody>
      </p:sp>
      <p:sp>
        <p:nvSpPr>
          <p:cNvPr id="15" name="source2">
            <a:extLst>
              <a:ext uri="{FF2B5EF4-FFF2-40B4-BE49-F238E27FC236}">
                <a16:creationId xmlns:a16="http://schemas.microsoft.com/office/drawing/2014/main" id="{FC3BFF06-33C6-4C11-8FC2-9DC73A38A857}"/>
              </a:ext>
            </a:extLst>
          </p:cNvPr>
          <p:cNvSpPr>
            <a:spLocks noGrp="1"/>
          </p:cNvSpPr>
          <p:nvPr/>
        </p:nvSpPr>
        <p:spPr>
          <a:xfrm>
            <a:off x="876300" y="2933700"/>
            <a:ext cx="10363200" cy="457200"/>
          </a:xfrm>
          <a:prstGeom prst="roundRect">
            <a:avLst>
              <a:gd name="adj" fmla="val 20833"/>
            </a:avLst>
          </a:prstGeom>
          <a:solidFill>
            <a:srgbClr val="F0F5FA"/>
          </a:solidFill>
          <a:ln w="952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ource-name2">
            <a:extLst>
              <a:ext uri="{FF2B5EF4-FFF2-40B4-BE49-F238E27FC236}">
                <a16:creationId xmlns:a16="http://schemas.microsoft.com/office/drawing/2014/main" id="{4768E790-4648-4E38-A877-D9FD552BA4F1}"/>
              </a:ext>
            </a:extLst>
          </p:cNvPr>
          <p:cNvSpPr>
            <a:spLocks noGrp="1"/>
          </p:cNvSpPr>
          <p:nvPr/>
        </p:nvSpPr>
        <p:spPr>
          <a:xfrm>
            <a:off x="1162050" y="3067050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需求登记表 Excel</a:t>
            </a:r>
          </a:p>
        </p:txBody>
      </p:sp>
      <p:sp>
        <p:nvSpPr>
          <p:cNvPr id="17" name="source-desc2">
            <a:extLst>
              <a:ext uri="{FF2B5EF4-FFF2-40B4-BE49-F238E27FC236}">
                <a16:creationId xmlns:a16="http://schemas.microsoft.com/office/drawing/2014/main" id="{CA172D96-F591-409E-87B9-CAEA24F20244}"/>
              </a:ext>
            </a:extLst>
          </p:cNvPr>
          <p:cNvSpPr>
            <a:spLocks noGrp="1"/>
          </p:cNvSpPr>
          <p:nvPr/>
        </p:nvSpPr>
        <p:spPr>
          <a:xfrm>
            <a:off x="3638550" y="3067050"/>
            <a:ext cx="704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XM01/XM02 待处理、负责人 limoi、预计工时各 1.5 人日</a:t>
            </a:r>
          </a:p>
        </p:txBody>
      </p:sp>
      <p:sp>
        <p:nvSpPr>
          <p:cNvPr id="18" name="source3">
            <a:extLst>
              <a:ext uri="{FF2B5EF4-FFF2-40B4-BE49-F238E27FC236}">
                <a16:creationId xmlns:a16="http://schemas.microsoft.com/office/drawing/2014/main" id="{46D42D1D-13B1-4B06-BFCC-FD23FFA62475}"/>
              </a:ext>
            </a:extLst>
          </p:cNvPr>
          <p:cNvSpPr>
            <a:spLocks noGrp="1"/>
          </p:cNvSpPr>
          <p:nvPr/>
        </p:nvSpPr>
        <p:spPr>
          <a:xfrm>
            <a:off x="876300" y="3581400"/>
            <a:ext cx="10363200" cy="4572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ource-name3">
            <a:extLst>
              <a:ext uri="{FF2B5EF4-FFF2-40B4-BE49-F238E27FC236}">
                <a16:creationId xmlns:a16="http://schemas.microsoft.com/office/drawing/2014/main" id="{EEE2856C-F984-450C-9D9F-FED68754F263}"/>
              </a:ext>
            </a:extLst>
          </p:cNvPr>
          <p:cNvSpPr>
            <a:spLocks noGrp="1"/>
          </p:cNvSpPr>
          <p:nvPr/>
        </p:nvSpPr>
        <p:spPr>
          <a:xfrm>
            <a:off x="1162050" y="3714750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QFD问卷 CSV</a:t>
            </a:r>
          </a:p>
        </p:txBody>
      </p:sp>
      <p:sp>
        <p:nvSpPr>
          <p:cNvPr id="20" name="source-desc3">
            <a:extLst>
              <a:ext uri="{FF2B5EF4-FFF2-40B4-BE49-F238E27FC236}">
                <a16:creationId xmlns:a16="http://schemas.microsoft.com/office/drawing/2014/main" id="{5D2E3298-B23E-4EC1-B39A-9AFC79A93D91}"/>
              </a:ext>
            </a:extLst>
          </p:cNvPr>
          <p:cNvSpPr>
            <a:spLocks noGrp="1"/>
          </p:cNvSpPr>
          <p:nvPr/>
        </p:nvSpPr>
        <p:spPr>
          <a:xfrm>
            <a:off x="3638550" y="3714750"/>
            <a:ext cx="704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3份有效样本；XM01利益5.67、损失4.67；XM02利益5.33、损失5.00</a:t>
            </a:r>
          </a:p>
        </p:txBody>
      </p:sp>
      <p:sp>
        <p:nvSpPr>
          <p:cNvPr id="21" name="source4">
            <a:extLst>
              <a:ext uri="{FF2B5EF4-FFF2-40B4-BE49-F238E27FC236}">
                <a16:creationId xmlns:a16="http://schemas.microsoft.com/office/drawing/2014/main" id="{9CAC054B-7FA4-4FD4-8466-6F762D45C0B0}"/>
              </a:ext>
            </a:extLst>
          </p:cNvPr>
          <p:cNvSpPr>
            <a:spLocks noGrp="1"/>
          </p:cNvSpPr>
          <p:nvPr/>
        </p:nvSpPr>
        <p:spPr>
          <a:xfrm>
            <a:off x="876300" y="4229100"/>
            <a:ext cx="10363200" cy="457200"/>
          </a:xfrm>
          <a:prstGeom prst="roundRect">
            <a:avLst>
              <a:gd name="adj" fmla="val 20833"/>
            </a:avLst>
          </a:prstGeom>
          <a:solidFill>
            <a:srgbClr val="F0F5FA"/>
          </a:solidFill>
          <a:ln w="952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ource-name4">
            <a:extLst>
              <a:ext uri="{FF2B5EF4-FFF2-40B4-BE49-F238E27FC236}">
                <a16:creationId xmlns:a16="http://schemas.microsoft.com/office/drawing/2014/main" id="{90397D19-31A8-4E88-8343-99DE8C478E47}"/>
              </a:ext>
            </a:extLst>
          </p:cNvPr>
          <p:cNvSpPr>
            <a:spLocks noGrp="1"/>
          </p:cNvSpPr>
          <p:nvPr/>
        </p:nvSpPr>
        <p:spPr>
          <a:xfrm>
            <a:off x="1162050" y="4362450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CCB章程</a:t>
            </a:r>
          </a:p>
        </p:txBody>
      </p:sp>
      <p:sp>
        <p:nvSpPr>
          <p:cNvPr id="23" name="source-desc4">
            <a:extLst>
              <a:ext uri="{FF2B5EF4-FFF2-40B4-BE49-F238E27FC236}">
                <a16:creationId xmlns:a16="http://schemas.microsoft.com/office/drawing/2014/main" id="{53B06487-A9F2-4DBF-8C09-99649487106D}"/>
              </a:ext>
            </a:extLst>
          </p:cNvPr>
          <p:cNvSpPr>
            <a:spLocks noGrp="1"/>
          </p:cNvSpPr>
          <p:nvPr/>
        </p:nvSpPr>
        <p:spPr>
          <a:xfrm>
            <a:off x="3638550" y="4362450"/>
            <a:ext cx="704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标准变更流程、决策规则、受控制品要求</a:t>
            </a:r>
          </a:p>
        </p:txBody>
      </p:sp>
    </p:spTree>
    <p:extLst>
      <p:ext uri="{BB962C8B-B14F-4D97-AF65-F5344CB8AC3E}">
        <p14:creationId xmlns:p14="http://schemas.microsoft.com/office/powerpoint/2010/main" val="1321732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1F4AEF-F0B5-F8E3-8581-B971A3AC3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left-spine">
            <a:extLst>
              <a:ext uri="{FF2B5EF4-FFF2-40B4-BE49-F238E27FC236}">
                <a16:creationId xmlns:a16="http://schemas.microsoft.com/office/drawing/2014/main" id="{69B68D36-3E95-9EFB-16F6-0CF3B2E50F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61950" cy="6858000"/>
          </a:xfrm>
          <a:prstGeom prst="rect">
            <a:avLst/>
          </a:prstGeom>
          <a:solidFill>
            <a:srgbClr val="1E3A8A"/>
          </a:solidFill>
          <a:ln w="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spine-num">
            <a:extLst>
              <a:ext uri="{FF2B5EF4-FFF2-40B4-BE49-F238E27FC236}">
                <a16:creationId xmlns:a16="http://schemas.microsoft.com/office/drawing/2014/main" id="{B4C111B7-7DB1-BC24-2AC6-069474B9C66B}"/>
              </a:ext>
            </a:extLst>
          </p:cNvPr>
          <p:cNvSpPr>
            <a:spLocks noGrp="1"/>
          </p:cNvSpPr>
          <p:nvPr/>
        </p:nvSpPr>
        <p:spPr>
          <a:xfrm>
            <a:off x="66675" y="32385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82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08</a:t>
            </a:r>
            <a:endParaRPr sz="82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section-label">
            <a:extLst>
              <a:ext uri="{FF2B5EF4-FFF2-40B4-BE49-F238E27FC236}">
                <a16:creationId xmlns:a16="http://schemas.microsoft.com/office/drawing/2014/main" id="{96DAAEDC-F9EF-E109-B760-8B8B1D4DD8D8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dirty="0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SOURCES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EA2FFDC9-B8C6-83B7-11C5-33C6E7FF4E02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00" b="1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700" b="1" dirty="0">
                <a:solidFill>
                  <a:srgbClr val="101827"/>
                </a:solidFill>
                <a:latin typeface="Microsoft YaHei"/>
                <a:ea typeface="Microsoft YaHei"/>
                <a:cs typeface="Microsoft YaHei"/>
              </a:rPr>
              <a:t>小组分工与评分</a:t>
            </a:r>
            <a:endParaRPr sz="2700" b="1" dirty="0">
              <a:solidFill>
                <a:srgbClr val="10182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B1953462-94B6-5096-1521-BB2A03231D79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10553700" cy="0"/>
          </a:xfrm>
          <a:prstGeom prst="line">
            <a:avLst/>
          </a:prstGeom>
          <a:noFill/>
          <a:ln w="9525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0A83B1AD-9634-10E4-2053-498F019305AA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13">
                <a:solidFill>
                  <a:srgbClr val="8290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290A2"/>
                </a:solidFill>
                <a:latin typeface="Microsoft YaHei"/>
                <a:ea typeface="Microsoft YaHei"/>
                <a:cs typeface="Microsoft YaHei"/>
              </a:rPr>
              <a:t>AI课程教辅系统 · CR-20260615-002 · 用户资料展示能力增强</a:t>
            </a:r>
          </a:p>
        </p:txBody>
      </p:sp>
      <p:sp>
        <p:nvSpPr>
          <p:cNvPr id="8" name="footer-page">
            <a:extLst>
              <a:ext uri="{FF2B5EF4-FFF2-40B4-BE49-F238E27FC236}">
                <a16:creationId xmlns:a16="http://schemas.microsoft.com/office/drawing/2014/main" id="{6B01C0EF-3182-E02B-D5BB-473EAD28A20B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1">
                <a:solidFill>
                  <a:srgbClr val="8290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290A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908F5C7D-B26D-DA31-EE74-F52211A6D7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9769594"/>
              </p:ext>
            </p:extLst>
          </p:nvPr>
        </p:nvGraphicFramePr>
        <p:xfrm>
          <a:off x="2484783" y="2316480"/>
          <a:ext cx="8030818" cy="22250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007705">
                  <a:extLst>
                    <a:ext uri="{9D8B030D-6E8A-4147-A177-3AD203B41FA5}">
                      <a16:colId xmlns:a16="http://schemas.microsoft.com/office/drawing/2014/main" val="2084206234"/>
                    </a:ext>
                  </a:extLst>
                </a:gridCol>
                <a:gridCol w="2007705">
                  <a:extLst>
                    <a:ext uri="{9D8B030D-6E8A-4147-A177-3AD203B41FA5}">
                      <a16:colId xmlns:a16="http://schemas.microsoft.com/office/drawing/2014/main" val="2870051738"/>
                    </a:ext>
                  </a:extLst>
                </a:gridCol>
                <a:gridCol w="4015408">
                  <a:extLst>
                    <a:ext uri="{9D8B030D-6E8A-4147-A177-3AD203B41FA5}">
                      <a16:colId xmlns:a16="http://schemas.microsoft.com/office/drawing/2014/main" val="3004714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姓名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分工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分数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9379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林立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ppt</a:t>
                      </a:r>
                      <a:r>
                        <a:rPr lang="zh-CN" altLang="en-US" dirty="0"/>
                        <a:t>优化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93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7732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林永翔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ppt</a:t>
                      </a:r>
                      <a:r>
                        <a:rPr lang="zh-CN" altLang="en-US" dirty="0"/>
                        <a:t>资料整理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94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085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罗树敏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ppt</a:t>
                      </a:r>
                      <a:r>
                        <a:rPr lang="zh-CN" altLang="en-US" dirty="0"/>
                        <a:t>制作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96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1379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李烨斌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ppt</a:t>
                      </a:r>
                      <a:r>
                        <a:rPr lang="zh-CN" altLang="en-US" dirty="0"/>
                        <a:t>资料整理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95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2188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李子骏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ppt</a:t>
                      </a:r>
                      <a:r>
                        <a:rPr lang="zh-CN" altLang="en-US" dirty="0"/>
                        <a:t>优化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92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01288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364993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557</Words>
  <Application>Microsoft Office PowerPoint</Application>
  <DocSecurity>0</DocSecurity>
  <PresentationFormat>宽屏</PresentationFormat>
  <Paragraphs>173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a96766</cp:lastModifiedBy>
  <cp:revision>1</cp:revision>
  <dcterms:created xsi:type="dcterms:W3CDTF">2026-06-16T02:22:39Z</dcterms:created>
  <dcterms:modified xsi:type="dcterms:W3CDTF">2026-06-16T02:44:07Z</dcterms:modified>
</cp:coreProperties>
</file>