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2" r:id="rId36"/>
    <p:sldId id="291" r:id="rId37"/>
  </p:sldIdLst>
  <p:sldSz cx="12192000" cy="6858000"/>
  <p:notesSz cx="6858000" cy="9144000"/>
  <p:embeddedFontLst>
    <p:embeddedFont>
      <p:font typeface="Noto Sans SC" panose="020B0200000000000000" pitchFamily="34" charset="-122"/>
      <p:regular r:id="rId39"/>
      <p:bold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156E289-3329-4741-85B2-98B5BD7403AB}">
  <a:tblStyle styleId="{F156E289-3329-4741-85B2-98B5BD7403A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48" autoAdjust="0"/>
    <p:restoredTop sz="94660"/>
  </p:normalViewPr>
  <p:slideViewPr>
    <p:cSldViewPr snapToGrid="0">
      <p:cViewPr varScale="1">
        <p:scale>
          <a:sx n="90" d="100"/>
          <a:sy n="90" d="100"/>
        </p:scale>
        <p:origin x="808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9" name="Google Shape;599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>
          <a:extLst>
            <a:ext uri="{FF2B5EF4-FFF2-40B4-BE49-F238E27FC236}">
              <a16:creationId xmlns:a16="http://schemas.microsoft.com/office/drawing/2014/main" id="{4ABADF24-2742-88FA-977B-57B25AB8F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34:notes">
            <a:extLst>
              <a:ext uri="{FF2B5EF4-FFF2-40B4-BE49-F238E27FC236}">
                <a16:creationId xmlns:a16="http://schemas.microsoft.com/office/drawing/2014/main" id="{99D3A2DB-C537-9C88-19FF-DC0A5FAF1D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34:notes">
            <a:extLst>
              <a:ext uri="{FF2B5EF4-FFF2-40B4-BE49-F238E27FC236}">
                <a16:creationId xmlns:a16="http://schemas.microsoft.com/office/drawing/2014/main" id="{55AB333F-99A3-8C41-FDC9-9BDB5A50C9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2174124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>
          <a:extLst>
            <a:ext uri="{FF2B5EF4-FFF2-40B4-BE49-F238E27FC236}">
              <a16:creationId xmlns:a16="http://schemas.microsoft.com/office/drawing/2014/main" id="{F7526EAD-D60E-6545-7BA5-7E679234B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34:notes">
            <a:extLst>
              <a:ext uri="{FF2B5EF4-FFF2-40B4-BE49-F238E27FC236}">
                <a16:creationId xmlns:a16="http://schemas.microsoft.com/office/drawing/2014/main" id="{F497EC8E-54A3-B9B8-BCD6-80685AD96C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34:notes">
            <a:extLst>
              <a:ext uri="{FF2B5EF4-FFF2-40B4-BE49-F238E27FC236}">
                <a16:creationId xmlns:a16="http://schemas.microsoft.com/office/drawing/2014/main" id="{FB6D268C-2A18-13B1-1A63-599048F910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072633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9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9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9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9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9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9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9.pn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35.png"/><Relationship Id="rId9" Type="http://schemas.openxmlformats.org/officeDocument/2006/relationships/image" Target="../media/image5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9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9.png"/><Relationship Id="rId7" Type="http://schemas.openxmlformats.org/officeDocument/2006/relationships/image" Target="../media/image7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30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9.png"/><Relationship Id="rId7" Type="http://schemas.openxmlformats.org/officeDocument/2006/relationships/image" Target="../media/image8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Relationship Id="rId9" Type="http://schemas.openxmlformats.org/officeDocument/2006/relationships/image" Target="../media/image40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9.png"/><Relationship Id="rId7" Type="http://schemas.openxmlformats.org/officeDocument/2006/relationships/image" Target="../media/image8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30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image" Target="../media/image9.png"/><Relationship Id="rId7" Type="http://schemas.openxmlformats.org/officeDocument/2006/relationships/image" Target="../media/image9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80.png"/><Relationship Id="rId9" Type="http://schemas.openxmlformats.org/officeDocument/2006/relationships/image" Target="../media/image5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969125" y="1970881"/>
            <a:ext cx="625375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UML基础：静动结合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4000575" y="2753716"/>
            <a:ext cx="4191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深度透析对象图、构件图与包图的实战与应用</a:t>
            </a:r>
            <a:endParaRPr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7AB4C71-D306-834B-21BE-C2073CB732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6020" y="2446553"/>
            <a:ext cx="5159959" cy="51599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2843212"/>
            <a:ext cx="2495550" cy="215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55419" y="2851170"/>
            <a:ext cx="2495550" cy="215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36582" y="2851170"/>
            <a:ext cx="2495550" cy="21526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762000" y="571500"/>
            <a:ext cx="1120140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课中路线：我们的学习路线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762000" y="1200150"/>
            <a:ext cx="10668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762000" y="121920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1000125" y="3729037"/>
            <a:ext cx="1822727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1. 课中重点深度解剖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000125" y="4100512"/>
            <a:ext cx="20193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深度探讨三种核心图符的细微语义、多图关联和经典架构设计决策模式。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4593544" y="3736995"/>
            <a:ext cx="1422677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2. 典型案例实推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4593544" y="4108470"/>
            <a:ext cx="20193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以实际业务（如转账、电商、微服务）为推演背景，培养真实的系统建模与工程设计思维。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074707" y="3736995"/>
            <a:ext cx="1422677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3. 随堂巩固盲测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074707" y="4108470"/>
            <a:ext cx="20193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穿插 5 道学术级自测选择题。题目与解析彻底分流展示，拒绝答案剧透。</a:t>
            </a:r>
            <a:endParaRPr/>
          </a:p>
        </p:txBody>
      </p:sp>
      <p:pic>
        <p:nvPicPr>
          <p:cNvPr id="109" name="Google Shape;109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0125" y="3167062"/>
            <a:ext cx="266848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93544" y="3175020"/>
            <a:ext cx="266848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074707" y="3175020"/>
            <a:ext cx="266848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900362"/>
            <a:ext cx="10668000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762000" y="571500"/>
            <a:ext cx="1120140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 err="1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静态结构图三剑客对比概览</a:t>
            </a:r>
            <a:endParaRPr dirty="0"/>
          </a:p>
        </p:txBody>
      </p:sp>
      <p:sp>
        <p:nvSpPr>
          <p:cNvPr id="120" name="Google Shape;120;p15"/>
          <p:cNvSpPr/>
          <p:nvPr/>
        </p:nvSpPr>
        <p:spPr>
          <a:xfrm>
            <a:off x="762000" y="1257300"/>
            <a:ext cx="10668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762000" y="127635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2" name="Google Shape;122;p15"/>
          <p:cNvGraphicFramePr/>
          <p:nvPr/>
        </p:nvGraphicFramePr>
        <p:xfrm>
          <a:off x="771525" y="2909887"/>
          <a:ext cx="10648950" cy="2076425"/>
        </p:xfrm>
        <a:graphic>
          <a:graphicData uri="http://schemas.openxmlformats.org/drawingml/2006/table">
            <a:tbl>
              <a:tblPr firstRow="1" bandRow="1">
                <a:noFill/>
                <a:tableStyleId>{F156E289-3329-4741-85B2-98B5BD7403AB}</a:tableStyleId>
              </a:tblPr>
              <a:tblGrid>
                <a:gridCol w="1453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9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32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33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9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维度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对象图 (Object Diagram)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构件图 (Component Diagram)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包图 (Package Diagram)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核心观察视角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运行期瞬时微观实例视角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物理实现、可替代模块视角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大规模元素宏观组织管理视角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9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基本建模元素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实例化对象 (Object)、实例化链 (Link)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构件 (Component)、接口、端口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包 (Package)、依赖关系、包导入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架构建模价值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验证类图合理性，阐明复杂测试用例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定义清晰的物理接口，规范组件交付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控制系统可见性，管理多层架构依赖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3" name="Google Shape;123;p15"/>
          <p:cNvSpPr/>
          <p:nvPr/>
        </p:nvSpPr>
        <p:spPr>
          <a:xfrm>
            <a:off x="771525" y="3933825"/>
            <a:ext cx="14531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2224682" y="3933825"/>
            <a:ext cx="312970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5354389" y="3933825"/>
            <a:ext cx="30328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8387208" y="3933825"/>
            <a:ext cx="30332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771525" y="4457700"/>
            <a:ext cx="14531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2224682" y="4457700"/>
            <a:ext cx="312970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5354389" y="4457700"/>
            <a:ext cx="30328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8387208" y="4457700"/>
            <a:ext cx="30332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/>
          <p:nvPr/>
        </p:nvSpPr>
        <p:spPr>
          <a:xfrm>
            <a:off x="5715000" y="2843212"/>
            <a:ext cx="7620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4015740" y="3119437"/>
            <a:ext cx="416052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第一部分：对象图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4551312" y="4024312"/>
            <a:ext cx="3089374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Object Diagrams • 捕捉系统的“精彩瞬间”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109787"/>
            <a:ext cx="51435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762000" y="571500"/>
            <a:ext cx="1120140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什么是对象图？</a:t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762000" y="1200150"/>
            <a:ext cx="10668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762000" y="121920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2119312"/>
            <a:ext cx="512445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1095375" y="2109787"/>
            <a:ext cx="48101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运行期快照：</a:t>
            </a:r>
            <a:r>
              <a:rPr lang="en-US" sz="135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它是类图在系统运行过程中某个特定时刻的实例状态。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1095375" y="2829817"/>
            <a:ext cx="48101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具象表现力：</a:t>
            </a:r>
            <a:r>
              <a:rPr lang="en-US" sz="135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它摒弃了抽象的泛化关系，只关注具象的对象以及真实的链。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1095375" y="3549848"/>
            <a:ext cx="4810125" cy="126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主要建模目的：</a:t>
            </a:r>
            <a:endParaRPr/>
          </a:p>
        </p:txBody>
      </p:sp>
      <p:pic>
        <p:nvPicPr>
          <p:cNvPr id="152" name="Google Shape;152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2128837"/>
            <a:ext cx="13349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2848867"/>
            <a:ext cx="13349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3568898"/>
            <a:ext cx="133498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1428750" y="3824138"/>
            <a:ext cx="44767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通过真实的数据状态辅助理解极其复杂的类间多对多关联。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1428750" y="4269878"/>
            <a:ext cx="44767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作为设计检验工具，检验特定的类图在真实数据流下是否完备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dirty="0"/>
          </a:p>
        </p:txBody>
      </p:sp>
      <p:pic>
        <p:nvPicPr>
          <p:cNvPr id="157" name="Google Shape;157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95375" y="3843188"/>
            <a:ext cx="13349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95375" y="4288928"/>
            <a:ext cx="13349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图片 1" descr="UML图之对象图详解_uml 对象图-CSDN博客">
            <a:extLst>
              <a:ext uri="{FF2B5EF4-FFF2-40B4-BE49-F238E27FC236}">
                <a16:creationId xmlns:a16="http://schemas.microsoft.com/office/drawing/2014/main" id="{DB143BA9-3323-A47F-575D-4C1F298489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8875" y="2109786"/>
            <a:ext cx="5761760" cy="36290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681287"/>
            <a:ext cx="10668000" cy="247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762000" y="571500"/>
            <a:ext cx="1120140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类图与对象图的核心差异对照</a:t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762000" y="1200150"/>
            <a:ext cx="10668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762000" y="121920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8" name="Google Shape;168;p18"/>
          <p:cNvGraphicFramePr/>
          <p:nvPr/>
        </p:nvGraphicFramePr>
        <p:xfrm>
          <a:off x="771525" y="2690812"/>
          <a:ext cx="10648950" cy="2457500"/>
        </p:xfrm>
        <a:graphic>
          <a:graphicData uri="http://schemas.openxmlformats.org/drawingml/2006/table">
            <a:tbl>
              <a:tblPr firstRow="1" bandRow="1">
                <a:noFill/>
                <a:tableStyleId>{F156E289-3329-4741-85B2-98B5BD7403AB}</a:tableStyleId>
              </a:tblPr>
              <a:tblGrid>
                <a:gridCol w="1520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4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63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特征维度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类图 (Class Diagram)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对象图 (Object Diagram)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抽象层级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高度抽象（类模板）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具体实体（特定的实例）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时间维度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恒久静态（描述系统一成不变的规则）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瞬时快照（系统运行某一毫秒的状态）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数量关系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通过“多重度”（如 0..*）说明关联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具体的链（Link），多重度被简化为单一连接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状态承载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无属性值（仅显示属性定义）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显示具体运行状态下的属性赋予值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9" name="Google Shape;169;p18"/>
          <p:cNvSpPr/>
          <p:nvPr/>
        </p:nvSpPr>
        <p:spPr>
          <a:xfrm>
            <a:off x="771525" y="3657600"/>
            <a:ext cx="15201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2291655" y="3657600"/>
            <a:ext cx="42649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6556623" y="3657600"/>
            <a:ext cx="48638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771525" y="4152900"/>
            <a:ext cx="15201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2291655" y="4152900"/>
            <a:ext cx="42649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6556623" y="4152900"/>
            <a:ext cx="48638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771525" y="4648200"/>
            <a:ext cx="15201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2291655" y="4648200"/>
            <a:ext cx="42649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6556623" y="4648200"/>
            <a:ext cx="48638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943225"/>
            <a:ext cx="3403550" cy="195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94150" y="2943225"/>
            <a:ext cx="3403550" cy="195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26300" y="2943225"/>
            <a:ext cx="3403550" cy="195262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9"/>
          <p:cNvSpPr txBox="1"/>
          <p:nvPr/>
        </p:nvSpPr>
        <p:spPr>
          <a:xfrm>
            <a:off x="762000" y="571500"/>
            <a:ext cx="1120140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对象图的三大核心符号要素</a:t>
            </a:r>
            <a:endParaRPr/>
          </a:p>
        </p:txBody>
      </p:sp>
      <p:sp>
        <p:nvSpPr>
          <p:cNvPr id="187" name="Google Shape;187;p19"/>
          <p:cNvSpPr/>
          <p:nvPr/>
        </p:nvSpPr>
        <p:spPr>
          <a:xfrm>
            <a:off x="762000" y="1200150"/>
            <a:ext cx="10668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762000" y="121920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 txBox="1"/>
          <p:nvPr/>
        </p:nvSpPr>
        <p:spPr>
          <a:xfrm>
            <a:off x="1000125" y="3829050"/>
            <a:ext cx="1022627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1. 命名对象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1000125" y="4200525"/>
            <a:ext cx="29273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表示系统中的真实个体，标识必须带有下划线。其命名机制高度结构化，以支持多样化表达。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4632275" y="3829050"/>
            <a:ext cx="822602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2. 属性值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4632275" y="4200525"/>
            <a:ext cx="29273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在属性分区中，列出属性在这一瞬时的具体赋值（如：status = "Paid"），提供完整的数据透视。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8264425" y="3829050"/>
            <a:ext cx="1022471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3. 链 (Link)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8264425" y="4200525"/>
            <a:ext cx="29273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由于关联的本质是类间的连接通道，链作为关联的实例表现为一条双向直实线，无方向限制。</a:t>
            </a:r>
            <a:endParaRPr/>
          </a:p>
        </p:txBody>
      </p:sp>
      <p:pic>
        <p:nvPicPr>
          <p:cNvPr id="195" name="Google Shape;195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00125" y="3267075"/>
            <a:ext cx="266848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32275" y="3267075"/>
            <a:ext cx="266848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264425" y="3267075"/>
            <a:ext cx="266848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008114"/>
            <a:ext cx="5143500" cy="1822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3008114"/>
            <a:ext cx="5143500" cy="1822846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0"/>
          <p:cNvSpPr txBox="1"/>
          <p:nvPr/>
        </p:nvSpPr>
        <p:spPr>
          <a:xfrm>
            <a:off x="762000" y="571500"/>
            <a:ext cx="1120140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对象的命名规范：强类型的表达</a:t>
            </a:r>
            <a:endParaRPr/>
          </a:p>
        </p:txBody>
      </p:sp>
      <p:sp>
        <p:nvSpPr>
          <p:cNvPr id="206" name="Google Shape;206;p20"/>
          <p:cNvSpPr/>
          <p:nvPr/>
        </p:nvSpPr>
        <p:spPr>
          <a:xfrm>
            <a:off x="762000" y="1200150"/>
            <a:ext cx="10668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762000" y="121920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1057275" y="3303389"/>
            <a:ext cx="478059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1. 具名对象（有明确身份）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1057275" y="3751064"/>
            <a:ext cx="4552950" cy="253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表示格式：</a:t>
            </a:r>
            <a:r>
              <a:rPr lang="en-US" sz="1200" b="0" i="0" u="sng" strike="noStrike" cap="non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objectName : ClassName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1057275" y="4099619"/>
            <a:ext cx="4552950" cy="436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在需要对特定对象进行跨快照跟踪时使用。例如，在分布式系统的复杂并发追踪中，标识特定客户端。例如：</a:t>
            </a:r>
            <a:r>
              <a:rPr lang="en-US" sz="1050" b="0" i="0" u="sng" strike="noStrike" cap="non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user12 : User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6581775" y="3303389"/>
            <a:ext cx="478059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2. 匿名对象（省略名字）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6581775" y="3751064"/>
            <a:ext cx="4552950" cy="253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表示格式：</a:t>
            </a:r>
            <a:r>
              <a:rPr lang="en-US" sz="1200" b="0" i="0" u="sng" strike="noStrike" cap="non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: ClassName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6581775" y="4099619"/>
            <a:ext cx="4552950" cy="436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在仅强调类的物理实例化，而不关心它是哪个具体名字个体时使用。例如在大规模微服务测试环境的模型校验。例如：</a:t>
            </a:r>
            <a:r>
              <a:rPr lang="en-US" sz="1050" b="0" i="0" u="sng" strike="noStrike" cap="non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: PaymentService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567136"/>
            <a:ext cx="5143500" cy="2266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567136"/>
            <a:ext cx="5143500" cy="2266652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1"/>
          <p:cNvSpPr txBox="1"/>
          <p:nvPr/>
        </p:nvSpPr>
        <p:spPr>
          <a:xfrm>
            <a:off x="762000" y="571500"/>
            <a:ext cx="1120140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对象图经典建模案例：转账瞬时状态</a:t>
            </a:r>
            <a:endParaRPr/>
          </a:p>
        </p:txBody>
      </p:sp>
      <p:sp>
        <p:nvSpPr>
          <p:cNvPr id="222" name="Google Shape;222;p21"/>
          <p:cNvSpPr/>
          <p:nvPr/>
        </p:nvSpPr>
        <p:spPr>
          <a:xfrm>
            <a:off x="762000" y="1200150"/>
            <a:ext cx="10668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1"/>
          <p:cNvSpPr/>
          <p:nvPr/>
        </p:nvSpPr>
        <p:spPr>
          <a:xfrm>
            <a:off x="762000" y="121920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762000" y="5071913"/>
            <a:ext cx="106680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60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这两个对象通过一个转账链 </a:t>
            </a:r>
            <a:r>
              <a:rPr lang="en-US" sz="1200" b="0" i="0" u="sng" strike="noStrike" cap="none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: TransferLink</a:t>
            </a:r>
            <a:r>
              <a:rPr lang="en-US" sz="1200" b="0" i="0" u="none" strike="noStrike" cap="none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 进行物理关联，展示了数据状态的流转。</a:t>
            </a:r>
            <a:endParaRPr/>
          </a:p>
        </p:txBody>
      </p:sp>
      <p:pic>
        <p:nvPicPr>
          <p:cNvPr id="225" name="Google Shape;225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53667" y="5090963"/>
            <a:ext cx="118616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1"/>
          <p:cNvSpPr txBox="1"/>
          <p:nvPr/>
        </p:nvSpPr>
        <p:spPr>
          <a:xfrm>
            <a:off x="1057275" y="2862411"/>
            <a:ext cx="478059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源账户状态 (srcAcc)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1057275" y="3310086"/>
            <a:ext cx="4552950" cy="253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对象名：</a:t>
            </a:r>
            <a:r>
              <a:rPr lang="en-US" sz="1200" b="0" i="0" u="sng" strike="noStrike" cap="non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srcAcc : Account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1057275" y="3563391"/>
            <a:ext cx="4552950" cy="97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属性组：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- accountId = "CN-99120"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- balance = 2400.00 RMB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- status = "Active"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6581775" y="2862411"/>
            <a:ext cx="478059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目标账户状态 (destAcc)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6581775" y="3310086"/>
            <a:ext cx="4552950" cy="253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对象名：</a:t>
            </a:r>
            <a:r>
              <a:rPr lang="en-US" sz="1200" b="0" i="0" u="sng" strike="noStrike" cap="non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destAcc : Account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6581775" y="3563391"/>
            <a:ext cx="4552950" cy="97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属性组：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- accountId = "CN-88019"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- balance = 15300.00 RMB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- status = "Active"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955131"/>
            <a:ext cx="340355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94150" y="2955131"/>
            <a:ext cx="340355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26300" y="2955131"/>
            <a:ext cx="3403550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2"/>
          <p:cNvSpPr txBox="1"/>
          <p:nvPr/>
        </p:nvSpPr>
        <p:spPr>
          <a:xfrm>
            <a:off x="762000" y="571500"/>
            <a:ext cx="1120140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经典案例：电商订单快照对象图</a:t>
            </a:r>
            <a:endParaRPr/>
          </a:p>
        </p:txBody>
      </p:sp>
      <p:sp>
        <p:nvSpPr>
          <p:cNvPr id="241" name="Google Shape;241;p22"/>
          <p:cNvSpPr/>
          <p:nvPr/>
        </p:nvSpPr>
        <p:spPr>
          <a:xfrm>
            <a:off x="762000" y="1200150"/>
            <a:ext cx="10668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762000" y="121920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2"/>
          <p:cNvSpPr txBox="1"/>
          <p:nvPr/>
        </p:nvSpPr>
        <p:spPr>
          <a:xfrm>
            <a:off x="762000" y="4669631"/>
            <a:ext cx="10668000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解读：</a:t>
            </a:r>
            <a:r>
              <a:rPr lang="en-US" sz="1125" b="0" i="0" u="none" strike="noStrike" cap="non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 该对象图明确表现出：Alice 作为黄金级客户，支付了订单号为 ORD2026 且状态为已支付的订单，信用卡交易已经过批准。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1000125" y="3250406"/>
            <a:ext cx="1956338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sng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currentOrder : Order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1000125" y="3583781"/>
            <a:ext cx="1854844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订单号：orderNo = "ORD2026"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总金额：totalAmount = 599.00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状态：status = "Paid"</a:t>
            </a:r>
            <a:endParaRPr/>
          </a:p>
        </p:txBody>
      </p:sp>
      <p:sp>
        <p:nvSpPr>
          <p:cNvPr id="246" name="Google Shape;246;p22"/>
          <p:cNvSpPr txBox="1"/>
          <p:nvPr/>
        </p:nvSpPr>
        <p:spPr>
          <a:xfrm>
            <a:off x="4632275" y="3250406"/>
            <a:ext cx="2656894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sng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paymentGateway : Payment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4632275" y="3583781"/>
            <a:ext cx="2144017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交易号：transactionNo = "TX_9921"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渠道：method = "CreditCard"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状态：status = "Approved"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8264425" y="3250406"/>
            <a:ext cx="233404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sng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vipCustomer : Customer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8264425" y="3583781"/>
            <a:ext cx="1647527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客户号：custId = "VIP_887"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姓名：name = "Alice"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等级：rank = "Gold"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9754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002184"/>
            <a:ext cx="10668000" cy="3834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52525" y="2950815"/>
            <a:ext cx="9886950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52525" y="3608040"/>
            <a:ext cx="9886950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52525" y="4265265"/>
            <a:ext cx="9886950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52525" y="4922490"/>
            <a:ext cx="9886950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3"/>
          <p:cNvSpPr txBox="1"/>
          <p:nvPr/>
        </p:nvSpPr>
        <p:spPr>
          <a:xfrm>
            <a:off x="762000" y="604621"/>
            <a:ext cx="112014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 err="1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随堂测试</a:t>
            </a:r>
            <a:r>
              <a:rPr lang="en-US" sz="2850" b="1" i="0" u="none" strike="noStrike" cap="none" dirty="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 1：对象名规范</a:t>
            </a:r>
            <a:endParaRPr dirty="0"/>
          </a:p>
        </p:txBody>
      </p:sp>
      <p:sp>
        <p:nvSpPr>
          <p:cNvPr id="261" name="Google Shape;261;p23"/>
          <p:cNvSpPr/>
          <p:nvPr/>
        </p:nvSpPr>
        <p:spPr>
          <a:xfrm>
            <a:off x="762000" y="1200150"/>
            <a:ext cx="10668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3"/>
          <p:cNvSpPr/>
          <p:nvPr/>
        </p:nvSpPr>
        <p:spPr>
          <a:xfrm>
            <a:off x="762000" y="121920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3"/>
          <p:cNvSpPr txBox="1"/>
          <p:nvPr/>
        </p:nvSpPr>
        <p:spPr>
          <a:xfrm>
            <a:off x="1152525" y="2392709"/>
            <a:ext cx="98869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1. 在 UML 对象图中，以下哪种对象名称的表示法完全符合 UML 官方规范？</a:t>
            </a:r>
            <a:endParaRPr/>
          </a:p>
        </p:txBody>
      </p:sp>
      <p:sp>
        <p:nvSpPr>
          <p:cNvPr id="264" name="Google Shape;264;p23"/>
          <p:cNvSpPr txBox="1"/>
          <p:nvPr/>
        </p:nvSpPr>
        <p:spPr>
          <a:xfrm>
            <a:off x="1600348" y="3769965"/>
            <a:ext cx="1130578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sng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order :Order</a:t>
            </a:r>
            <a:endParaRPr u="sng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232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2657475"/>
            <a:ext cx="5191125" cy="252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2657475"/>
            <a:ext cx="519112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3314700"/>
            <a:ext cx="5191125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4000500"/>
            <a:ext cx="519112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2000" y="4657725"/>
            <a:ext cx="5191125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4"/>
          <p:cNvSpPr txBox="1"/>
          <p:nvPr/>
        </p:nvSpPr>
        <p:spPr>
          <a:xfrm>
            <a:off x="762000" y="571500"/>
            <a:ext cx="1120140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随堂测试 1：解析与学术原理</a:t>
            </a:r>
            <a:endParaRPr/>
          </a:p>
        </p:txBody>
      </p:sp>
      <p:sp>
        <p:nvSpPr>
          <p:cNvPr id="276" name="Google Shape;276;p24"/>
          <p:cNvSpPr/>
          <p:nvPr/>
        </p:nvSpPr>
        <p:spPr>
          <a:xfrm>
            <a:off x="762000" y="1200150"/>
            <a:ext cx="10668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4"/>
          <p:cNvSpPr/>
          <p:nvPr/>
        </p:nvSpPr>
        <p:spPr>
          <a:xfrm>
            <a:off x="762000" y="121920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4"/>
          <p:cNvSpPr txBox="1"/>
          <p:nvPr/>
        </p:nvSpPr>
        <p:spPr>
          <a:xfrm>
            <a:off x="6562725" y="3236714"/>
            <a:ext cx="4810601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82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学术解析：</a:t>
            </a:r>
            <a:endParaRPr/>
          </a:p>
        </p:txBody>
      </p:sp>
      <p:sp>
        <p:nvSpPr>
          <p:cNvPr id="279" name="Google Shape;279;p24"/>
          <p:cNvSpPr txBox="1"/>
          <p:nvPr/>
        </p:nvSpPr>
        <p:spPr>
          <a:xfrm>
            <a:off x="6562725" y="3608189"/>
            <a:ext cx="4581525" cy="99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7534E"/>
                </a:solidFill>
                <a:latin typeface="Noto Sans SC"/>
                <a:ea typeface="Noto Sans SC"/>
                <a:cs typeface="Noto Sans SC"/>
                <a:sym typeface="Noto Sans SC"/>
              </a:rPr>
              <a:t>UML 规范（UML Specification）明文规定，对象（作为特定的类实例）在图形化表达中必须以</a:t>
            </a:r>
            <a:r>
              <a:rPr lang="en-US" sz="1200" b="1" i="0" u="none" strike="noStrike" cap="none">
                <a:solidFill>
                  <a:srgbClr val="57534E"/>
                </a:solidFill>
                <a:latin typeface="Noto Sans SC"/>
                <a:ea typeface="Noto Sans SC"/>
                <a:cs typeface="Noto Sans SC"/>
                <a:sym typeface="Noto Sans SC"/>
              </a:rPr>
              <a:t>带下划线</a:t>
            </a:r>
            <a:r>
              <a:rPr lang="en-US" sz="1200" b="0" i="0" u="none" strike="noStrike" cap="none">
                <a:solidFill>
                  <a:srgbClr val="57534E"/>
                </a:solidFill>
                <a:latin typeface="Noto Sans SC"/>
                <a:ea typeface="Noto Sans SC"/>
                <a:cs typeface="Noto Sans SC"/>
                <a:sym typeface="Noto Sans SC"/>
              </a:rPr>
              <a:t>的文本来表示。例如：</a:t>
            </a:r>
            <a:r>
              <a:rPr lang="en-US" sz="1200" b="0" i="0" u="sng" strike="noStrike" cap="none">
                <a:solidFill>
                  <a:srgbClr val="57534E"/>
                </a:solidFill>
                <a:latin typeface="Noto Sans SC"/>
                <a:ea typeface="Noto Sans SC"/>
                <a:cs typeface="Noto Sans SC"/>
                <a:sym typeface="Noto Sans SC"/>
              </a:rPr>
              <a:t>对象名 : 类名</a:t>
            </a:r>
            <a:r>
              <a:rPr lang="en-US" sz="1200" b="0" i="0" u="none" strike="noStrike" cap="none">
                <a:solidFill>
                  <a:srgbClr val="57534E"/>
                </a:solidFill>
                <a:latin typeface="Noto Sans SC"/>
                <a:ea typeface="Noto Sans SC"/>
                <a:cs typeface="Noto Sans SC"/>
                <a:sym typeface="Noto Sans SC"/>
              </a:rPr>
              <a:t> 或 </a:t>
            </a:r>
            <a:r>
              <a:rPr lang="en-US" sz="1200" b="0" i="0" u="sng" strike="noStrike" cap="none">
                <a:solidFill>
                  <a:srgbClr val="57534E"/>
                </a:solidFill>
                <a:latin typeface="Noto Sans SC"/>
                <a:ea typeface="Noto Sans SC"/>
                <a:cs typeface="Noto Sans SC"/>
                <a:sym typeface="Noto Sans SC"/>
              </a:rPr>
              <a:t>: 类名</a:t>
            </a:r>
            <a:r>
              <a:rPr lang="en-US" sz="1200" b="0" i="0" u="none" strike="noStrike" cap="none">
                <a:solidFill>
                  <a:srgbClr val="57534E"/>
                </a:solidFill>
                <a:latin typeface="Noto Sans SC"/>
                <a:ea typeface="Noto Sans SC"/>
                <a:cs typeface="Noto Sans SC"/>
                <a:sym typeface="Noto Sans SC"/>
              </a:rPr>
              <a:t>（匿名对象）。下划线是静态结构建模中，区分“抽象模板类”与“运行期具体对象”最核心的视觉标识。</a:t>
            </a:r>
            <a:endParaRPr/>
          </a:p>
        </p:txBody>
      </p:sp>
      <p:sp>
        <p:nvSpPr>
          <p:cNvPr id="281" name="Google Shape;281;p24"/>
          <p:cNvSpPr txBox="1"/>
          <p:nvPr/>
        </p:nvSpPr>
        <p:spPr>
          <a:xfrm>
            <a:off x="1209823" y="3495674"/>
            <a:ext cx="1097656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sng" strike="noStrike" cap="none" dirty="0">
                <a:solidFill>
                  <a:srgbClr val="047857"/>
                </a:solidFill>
                <a:latin typeface="Noto Sans SC"/>
                <a:ea typeface="Noto Sans SC"/>
                <a:cs typeface="Noto Sans SC"/>
                <a:sym typeface="Noto Sans SC"/>
              </a:rPr>
              <a:t>order : Order</a:t>
            </a:r>
            <a:endParaRPr u="sng" dirty="0"/>
          </a:p>
        </p:txBody>
      </p:sp>
      <p:pic>
        <p:nvPicPr>
          <p:cNvPr id="282" name="Google Shape;282;p2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62725" y="3265289"/>
            <a:ext cx="148232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5"/>
          <p:cNvSpPr/>
          <p:nvPr/>
        </p:nvSpPr>
        <p:spPr>
          <a:xfrm>
            <a:off x="5715000" y="2843212"/>
            <a:ext cx="7620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5"/>
          <p:cNvSpPr txBox="1"/>
          <p:nvPr/>
        </p:nvSpPr>
        <p:spPr>
          <a:xfrm>
            <a:off x="4015740" y="3119437"/>
            <a:ext cx="416052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第二部分：构件图</a:t>
            </a:r>
            <a:endParaRPr/>
          </a:p>
        </p:txBody>
      </p:sp>
      <p:sp>
        <p:nvSpPr>
          <p:cNvPr id="290" name="Google Shape;290;p25"/>
          <p:cNvSpPr txBox="1"/>
          <p:nvPr/>
        </p:nvSpPr>
        <p:spPr>
          <a:xfrm>
            <a:off x="4412902" y="4024312"/>
            <a:ext cx="336604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Component Diagrams • 软件系统的物理拼图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109787"/>
            <a:ext cx="51435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6"/>
          <p:cNvSpPr txBox="1"/>
          <p:nvPr/>
        </p:nvSpPr>
        <p:spPr>
          <a:xfrm>
            <a:off x="762000" y="571500"/>
            <a:ext cx="1120140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什么是构件 (Component)？</a:t>
            </a:r>
            <a:endParaRPr/>
          </a:p>
        </p:txBody>
      </p:sp>
      <p:sp>
        <p:nvSpPr>
          <p:cNvPr id="298" name="Google Shape;298;p26"/>
          <p:cNvSpPr/>
          <p:nvPr/>
        </p:nvSpPr>
        <p:spPr>
          <a:xfrm>
            <a:off x="762000" y="1200150"/>
            <a:ext cx="10668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6"/>
          <p:cNvSpPr/>
          <p:nvPr/>
        </p:nvSpPr>
        <p:spPr>
          <a:xfrm>
            <a:off x="762000" y="121920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0" name="Google Shape;300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2119312"/>
            <a:ext cx="512445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6"/>
          <p:cNvSpPr txBox="1"/>
          <p:nvPr/>
        </p:nvSpPr>
        <p:spPr>
          <a:xfrm>
            <a:off x="1095375" y="2109787"/>
            <a:ext cx="48101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软件物理单元：</a:t>
            </a:r>
            <a:r>
              <a:rPr lang="en-US" sz="135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构件是软件系统中可交付、可独立替换的物理实现块。</a:t>
            </a:r>
            <a:endParaRPr/>
          </a:p>
        </p:txBody>
      </p:sp>
      <p:sp>
        <p:nvSpPr>
          <p:cNvPr id="302" name="Google Shape;302;p26"/>
          <p:cNvSpPr txBox="1"/>
          <p:nvPr/>
        </p:nvSpPr>
        <p:spPr>
          <a:xfrm>
            <a:off x="1095375" y="2829817"/>
            <a:ext cx="48101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逻辑的物理外壳：</a:t>
            </a:r>
            <a:r>
              <a:rPr lang="en-US" sz="135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它不单是一个类，通常是一组协同工作的类、文件或库（如：DLL, .jar, microservice 实例）。</a:t>
            </a:r>
            <a:endParaRPr/>
          </a:p>
        </p:txBody>
      </p:sp>
      <p:sp>
        <p:nvSpPr>
          <p:cNvPr id="303" name="Google Shape;303;p26"/>
          <p:cNvSpPr txBox="1"/>
          <p:nvPr/>
        </p:nvSpPr>
        <p:spPr>
          <a:xfrm>
            <a:off x="1095375" y="3549848"/>
            <a:ext cx="48101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独立自治：</a:t>
            </a:r>
            <a:r>
              <a:rPr lang="en-US" sz="135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它具有高内聚性，包装了内部实现，仅对外暴露出精确的控制契约和通信接口。</a:t>
            </a:r>
            <a:endParaRPr/>
          </a:p>
        </p:txBody>
      </p:sp>
      <p:pic>
        <p:nvPicPr>
          <p:cNvPr id="304" name="Google Shape;304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2128837"/>
            <a:ext cx="13349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2848867"/>
            <a:ext cx="13349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3568898"/>
            <a:ext cx="13349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D8200C0E-A0D0-AD97-C7B1-B49BA305BD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6025" y="2128837"/>
            <a:ext cx="5257033" cy="35909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843212"/>
            <a:ext cx="3403550" cy="215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94150" y="2843212"/>
            <a:ext cx="3403550" cy="215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26300" y="2843212"/>
            <a:ext cx="3403550" cy="215265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7"/>
          <p:cNvSpPr txBox="1"/>
          <p:nvPr/>
        </p:nvSpPr>
        <p:spPr>
          <a:xfrm>
            <a:off x="762000" y="571500"/>
            <a:ext cx="1120140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构件的特征：物理可替换与解耦</a:t>
            </a:r>
            <a:endParaRPr/>
          </a:p>
        </p:txBody>
      </p:sp>
      <p:sp>
        <p:nvSpPr>
          <p:cNvPr id="316" name="Google Shape;316;p27"/>
          <p:cNvSpPr/>
          <p:nvPr/>
        </p:nvSpPr>
        <p:spPr>
          <a:xfrm>
            <a:off x="762000" y="1200150"/>
            <a:ext cx="10668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7"/>
          <p:cNvSpPr/>
          <p:nvPr/>
        </p:nvSpPr>
        <p:spPr>
          <a:xfrm>
            <a:off x="762000" y="121920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7"/>
          <p:cNvSpPr txBox="1"/>
          <p:nvPr/>
        </p:nvSpPr>
        <p:spPr>
          <a:xfrm>
            <a:off x="1000125" y="3729037"/>
            <a:ext cx="1200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物理可替代性</a:t>
            </a:r>
            <a:endParaRPr/>
          </a:p>
        </p:txBody>
      </p:sp>
      <p:sp>
        <p:nvSpPr>
          <p:cNvPr id="319" name="Google Shape;319;p27"/>
          <p:cNvSpPr txBox="1"/>
          <p:nvPr/>
        </p:nvSpPr>
        <p:spPr>
          <a:xfrm>
            <a:off x="1000125" y="4100512"/>
            <a:ext cx="29273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只要保持接口功能和定义一成不变，任何一个构件都可以直接由更新的版本或其它架构实现直接替换。</a:t>
            </a:r>
            <a:endParaRPr/>
          </a:p>
        </p:txBody>
      </p:sp>
      <p:sp>
        <p:nvSpPr>
          <p:cNvPr id="320" name="Google Shape;320;p27"/>
          <p:cNvSpPr txBox="1"/>
          <p:nvPr/>
        </p:nvSpPr>
        <p:spPr>
          <a:xfrm>
            <a:off x="4632275" y="3729037"/>
            <a:ext cx="14001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严格的信息隐蔽</a:t>
            </a:r>
            <a:endParaRPr/>
          </a:p>
        </p:txBody>
      </p:sp>
      <p:sp>
        <p:nvSpPr>
          <p:cNvPr id="321" name="Google Shape;321;p27"/>
          <p:cNvSpPr txBox="1"/>
          <p:nvPr/>
        </p:nvSpPr>
        <p:spPr>
          <a:xfrm>
            <a:off x="4632275" y="4100512"/>
            <a:ext cx="29273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构件的外部调用方完全不需要知道构件内部逻辑。例如内部是用 Java 还是 Go，调用方一概不关心。</a:t>
            </a:r>
            <a:endParaRPr/>
          </a:p>
        </p:txBody>
      </p:sp>
      <p:sp>
        <p:nvSpPr>
          <p:cNvPr id="322" name="Google Shape;322;p27"/>
          <p:cNvSpPr txBox="1"/>
          <p:nvPr/>
        </p:nvSpPr>
        <p:spPr>
          <a:xfrm>
            <a:off x="8264425" y="3729037"/>
            <a:ext cx="10001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契约式设计</a:t>
            </a:r>
            <a:endParaRPr/>
          </a:p>
        </p:txBody>
      </p:sp>
      <p:sp>
        <p:nvSpPr>
          <p:cNvPr id="323" name="Google Shape;323;p27"/>
          <p:cNvSpPr txBox="1"/>
          <p:nvPr/>
        </p:nvSpPr>
        <p:spPr>
          <a:xfrm>
            <a:off x="8264425" y="4100512"/>
            <a:ext cx="29273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通过“提供”与“需求”接口双向约束行为，使异构分布式系统能够完成可拆卸式的无缝组装。</a:t>
            </a:r>
            <a:endParaRPr/>
          </a:p>
        </p:txBody>
      </p:sp>
      <p:pic>
        <p:nvPicPr>
          <p:cNvPr id="324" name="Google Shape;324;p2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00125" y="3167062"/>
            <a:ext cx="266848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2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32275" y="3167062"/>
            <a:ext cx="266848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2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264425" y="3167062"/>
            <a:ext cx="266848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029991"/>
            <a:ext cx="5143500" cy="17790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3029991"/>
            <a:ext cx="5143500" cy="1779091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8"/>
          <p:cNvSpPr txBox="1"/>
          <p:nvPr/>
        </p:nvSpPr>
        <p:spPr>
          <a:xfrm>
            <a:off x="762000" y="571500"/>
            <a:ext cx="1120140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构件图的基本元素与表示法</a:t>
            </a:r>
            <a:endParaRPr/>
          </a:p>
        </p:txBody>
      </p:sp>
      <p:sp>
        <p:nvSpPr>
          <p:cNvPr id="335" name="Google Shape;335;p28"/>
          <p:cNvSpPr/>
          <p:nvPr/>
        </p:nvSpPr>
        <p:spPr>
          <a:xfrm>
            <a:off x="762000" y="1200150"/>
            <a:ext cx="10668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8"/>
          <p:cNvSpPr/>
          <p:nvPr/>
        </p:nvSpPr>
        <p:spPr>
          <a:xfrm>
            <a:off x="762000" y="121920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8"/>
          <p:cNvSpPr txBox="1"/>
          <p:nvPr/>
        </p:nvSpPr>
        <p:spPr>
          <a:xfrm>
            <a:off x="1057275" y="3325266"/>
            <a:ext cx="478059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1. 构件体 (Component Symbol)</a:t>
            </a:r>
            <a:endParaRPr/>
          </a:p>
        </p:txBody>
      </p:sp>
      <p:sp>
        <p:nvSpPr>
          <p:cNvPr id="338" name="Google Shape;338;p28"/>
          <p:cNvSpPr txBox="1"/>
          <p:nvPr/>
        </p:nvSpPr>
        <p:spPr>
          <a:xfrm>
            <a:off x="1057275" y="3772941"/>
            <a:ext cx="4552950" cy="740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在 UML 2.x 中，表现为一个标准的矩形，右上角贴着带有两个凸起小矩形的旧版构件图标。或者，可以使用显式的元类关键字标记：&lt;&gt;。</a:t>
            </a:r>
            <a:endParaRPr/>
          </a:p>
        </p:txBody>
      </p:sp>
      <p:sp>
        <p:nvSpPr>
          <p:cNvPr id="339" name="Google Shape;339;p28"/>
          <p:cNvSpPr txBox="1"/>
          <p:nvPr/>
        </p:nvSpPr>
        <p:spPr>
          <a:xfrm>
            <a:off x="6581775" y="3330029"/>
            <a:ext cx="478059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2. 端口 (Port)</a:t>
            </a:r>
            <a:endParaRPr/>
          </a:p>
        </p:txBody>
      </p:sp>
      <p:sp>
        <p:nvSpPr>
          <p:cNvPr id="340" name="Google Shape;340;p28"/>
          <p:cNvSpPr txBox="1"/>
          <p:nvPr/>
        </p:nvSpPr>
        <p:spPr>
          <a:xfrm>
            <a:off x="6581775" y="3777704"/>
            <a:ext cx="455295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在构件边界上表示为一个</a:t>
            </a:r>
            <a:r>
              <a:rPr lang="en-US" sz="1200" b="1" i="0" u="none" strike="noStrike" cap="non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小正方形</a:t>
            </a:r>
            <a:r>
              <a:rPr lang="en-US" sz="1200" b="0" i="0" u="none" strike="noStrike" cap="non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，用于隔离内部细节。所有的对外及对外接口都是附着在端口之上的，用于规范化通信通道，实现高度封装。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Google Shape;345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9"/>
          <p:cNvSpPr txBox="1"/>
          <p:nvPr/>
        </p:nvSpPr>
        <p:spPr>
          <a:xfrm>
            <a:off x="762000" y="571500"/>
            <a:ext cx="1120140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构件的核心契约：提供与需求接口</a:t>
            </a:r>
            <a:endParaRPr/>
          </a:p>
        </p:txBody>
      </p:sp>
      <p:sp>
        <p:nvSpPr>
          <p:cNvPr id="347" name="Google Shape;347;p29"/>
          <p:cNvSpPr/>
          <p:nvPr/>
        </p:nvSpPr>
        <p:spPr>
          <a:xfrm>
            <a:off x="762000" y="1200150"/>
            <a:ext cx="10668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9"/>
          <p:cNvSpPr/>
          <p:nvPr/>
        </p:nvSpPr>
        <p:spPr>
          <a:xfrm>
            <a:off x="762000" y="121920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9"/>
          <p:cNvSpPr txBox="1"/>
          <p:nvPr/>
        </p:nvSpPr>
        <p:spPr>
          <a:xfrm>
            <a:off x="1095375" y="3062287"/>
            <a:ext cx="4810125" cy="126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提供接口 (Provided Interface)：</a:t>
            </a:r>
            <a:endParaRPr/>
          </a:p>
        </p:txBody>
      </p:sp>
      <p:sp>
        <p:nvSpPr>
          <p:cNvPr id="350" name="Google Shape;350;p29"/>
          <p:cNvSpPr txBox="1"/>
          <p:nvPr/>
        </p:nvSpPr>
        <p:spPr>
          <a:xfrm>
            <a:off x="6619875" y="3062287"/>
            <a:ext cx="4810125" cy="1542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需求接口 (Required Interface)：</a:t>
            </a:r>
            <a:endParaRPr/>
          </a:p>
        </p:txBody>
      </p:sp>
      <p:pic>
        <p:nvPicPr>
          <p:cNvPr id="351" name="Google Shape;351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081337"/>
            <a:ext cx="13349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3081337"/>
            <a:ext cx="133498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29"/>
          <p:cNvSpPr txBox="1"/>
          <p:nvPr/>
        </p:nvSpPr>
        <p:spPr>
          <a:xfrm>
            <a:off x="1428750" y="3336577"/>
            <a:ext cx="44767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“棒棒糖”图形（圆圈）：</a:t>
            </a:r>
            <a:r>
              <a:rPr lang="en-US" sz="135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构件本身能够交付和执行的接口。</a:t>
            </a:r>
            <a:endParaRPr/>
          </a:p>
        </p:txBody>
      </p:sp>
      <p:sp>
        <p:nvSpPr>
          <p:cNvPr id="354" name="Google Shape;354;p29"/>
          <p:cNvSpPr txBox="1"/>
          <p:nvPr/>
        </p:nvSpPr>
        <p:spPr>
          <a:xfrm>
            <a:off x="1428750" y="4056608"/>
            <a:ext cx="44767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语义含义：</a:t>
            </a:r>
            <a:r>
              <a:rPr lang="en-US" sz="135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“我可以做这个服务，随时来调用我”。</a:t>
            </a:r>
            <a:endParaRPr/>
          </a:p>
        </p:txBody>
      </p:sp>
      <p:sp>
        <p:nvSpPr>
          <p:cNvPr id="355" name="Google Shape;355;p29"/>
          <p:cNvSpPr txBox="1"/>
          <p:nvPr/>
        </p:nvSpPr>
        <p:spPr>
          <a:xfrm>
            <a:off x="6953250" y="3336577"/>
            <a:ext cx="44767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“半圆弧线”图形（Socket/插座）：</a:t>
            </a:r>
            <a:r>
              <a:rPr lang="en-US" sz="135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构件为了正常工作，必须依赖的外部接口。</a:t>
            </a:r>
            <a:endParaRPr/>
          </a:p>
        </p:txBody>
      </p:sp>
      <p:sp>
        <p:nvSpPr>
          <p:cNvPr id="356" name="Google Shape;356;p29"/>
          <p:cNvSpPr txBox="1"/>
          <p:nvPr/>
        </p:nvSpPr>
        <p:spPr>
          <a:xfrm>
            <a:off x="6953250" y="4056608"/>
            <a:ext cx="44767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语义含义：</a:t>
            </a:r>
            <a:r>
              <a:rPr lang="en-US" sz="135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“如果没有这个第三方服务的支持，我就无法正常运作”。</a:t>
            </a:r>
            <a:endParaRPr/>
          </a:p>
        </p:txBody>
      </p:sp>
      <p:pic>
        <p:nvPicPr>
          <p:cNvPr id="357" name="Google Shape;357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5375" y="3355627"/>
            <a:ext cx="13349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5375" y="4075658"/>
            <a:ext cx="13349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19875" y="3355627"/>
            <a:ext cx="13349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19875" y="4075658"/>
            <a:ext cx="133498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109912"/>
            <a:ext cx="2453580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00139" y="3109912"/>
            <a:ext cx="2453580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3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279" y="3109912"/>
            <a:ext cx="2453580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3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976419" y="3109912"/>
            <a:ext cx="2453580" cy="1619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0"/>
          <p:cNvSpPr txBox="1"/>
          <p:nvPr/>
        </p:nvSpPr>
        <p:spPr>
          <a:xfrm>
            <a:off x="762000" y="571500"/>
            <a:ext cx="1120140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案例分析：三层经典架构构件组装</a:t>
            </a:r>
            <a:endParaRPr/>
          </a:p>
        </p:txBody>
      </p:sp>
      <p:sp>
        <p:nvSpPr>
          <p:cNvPr id="371" name="Google Shape;371;p30"/>
          <p:cNvSpPr/>
          <p:nvPr/>
        </p:nvSpPr>
        <p:spPr>
          <a:xfrm>
            <a:off x="762000" y="1200150"/>
            <a:ext cx="10668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0"/>
          <p:cNvSpPr/>
          <p:nvPr/>
        </p:nvSpPr>
        <p:spPr>
          <a:xfrm>
            <a:off x="762000" y="121920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30"/>
          <p:cNvSpPr txBox="1"/>
          <p:nvPr/>
        </p:nvSpPr>
        <p:spPr>
          <a:xfrm>
            <a:off x="990600" y="3376612"/>
            <a:ext cx="2096199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1. UserInterface</a:t>
            </a:r>
            <a:endParaRPr/>
          </a:p>
        </p:txBody>
      </p:sp>
      <p:sp>
        <p:nvSpPr>
          <p:cNvPr id="374" name="Google Shape;374;p30"/>
          <p:cNvSpPr txBox="1"/>
          <p:nvPr/>
        </p:nvSpPr>
        <p:spPr>
          <a:xfrm>
            <a:off x="990600" y="3671887"/>
            <a:ext cx="199638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UI呈现与交互构件。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1" i="0" u="none" strike="noStrike" cap="non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需求接口：</a:t>
            </a:r>
            <a:r>
              <a:rPr lang="en-US" sz="1050" b="0" i="0" u="none" strike="noStrike" cap="non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IOrderAction 控制器层。</a:t>
            </a:r>
            <a:endParaRPr/>
          </a:p>
        </p:txBody>
      </p:sp>
      <p:sp>
        <p:nvSpPr>
          <p:cNvPr id="375" name="Google Shape;375;p30"/>
          <p:cNvSpPr txBox="1"/>
          <p:nvPr/>
        </p:nvSpPr>
        <p:spPr>
          <a:xfrm>
            <a:off x="3728739" y="3376612"/>
            <a:ext cx="2096199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2. BusinessService</a:t>
            </a:r>
            <a:endParaRPr/>
          </a:p>
        </p:txBody>
      </p:sp>
      <p:sp>
        <p:nvSpPr>
          <p:cNvPr id="376" name="Google Shape;376;p30"/>
          <p:cNvSpPr txBox="1"/>
          <p:nvPr/>
        </p:nvSpPr>
        <p:spPr>
          <a:xfrm>
            <a:off x="3728739" y="3671887"/>
            <a:ext cx="199638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核心业务逻辑控制器。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1" i="0" u="none" strike="noStrike" cap="non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提供接口：</a:t>
            </a:r>
            <a:r>
              <a:rPr lang="en-US" sz="1050" b="0" i="0" u="none" strike="noStrike" cap="non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IOrderAction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1" i="0" u="none" strike="noStrike" cap="non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需求接口：</a:t>
            </a:r>
            <a:r>
              <a:rPr lang="en-US" sz="1050" b="0" i="0" u="none" strike="noStrike" cap="non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IDbQuery</a:t>
            </a:r>
            <a:endParaRPr/>
          </a:p>
        </p:txBody>
      </p:sp>
      <p:sp>
        <p:nvSpPr>
          <p:cNvPr id="377" name="Google Shape;377;p30"/>
          <p:cNvSpPr txBox="1"/>
          <p:nvPr/>
        </p:nvSpPr>
        <p:spPr>
          <a:xfrm>
            <a:off x="6466879" y="3376612"/>
            <a:ext cx="2096199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3. DatabaseAccess</a:t>
            </a:r>
            <a:endParaRPr/>
          </a:p>
        </p:txBody>
      </p:sp>
      <p:sp>
        <p:nvSpPr>
          <p:cNvPr id="378" name="Google Shape;378;p30"/>
          <p:cNvSpPr txBox="1"/>
          <p:nvPr/>
        </p:nvSpPr>
        <p:spPr>
          <a:xfrm>
            <a:off x="6466879" y="3671887"/>
            <a:ext cx="199638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持久化仓储管理构件。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1" i="0" u="none" strike="noStrike" cap="non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提供接口：</a:t>
            </a:r>
            <a:r>
              <a:rPr lang="en-US" sz="1050" b="0" i="0" u="none" strike="noStrike" cap="non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IDbQuery</a:t>
            </a:r>
            <a:endParaRPr/>
          </a:p>
        </p:txBody>
      </p:sp>
      <p:sp>
        <p:nvSpPr>
          <p:cNvPr id="379" name="Google Shape;379;p30"/>
          <p:cNvSpPr txBox="1"/>
          <p:nvPr/>
        </p:nvSpPr>
        <p:spPr>
          <a:xfrm>
            <a:off x="9205019" y="3376612"/>
            <a:ext cx="209619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4. 替代优势</a:t>
            </a:r>
            <a:endParaRPr/>
          </a:p>
        </p:txBody>
      </p:sp>
      <p:sp>
        <p:nvSpPr>
          <p:cNvPr id="380" name="Google Shape;380;p30"/>
          <p:cNvSpPr txBox="1"/>
          <p:nvPr/>
        </p:nvSpPr>
        <p:spPr>
          <a:xfrm>
            <a:off x="9205019" y="3700462"/>
            <a:ext cx="199638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如果未来数据库改用 Non-SQL，只需替换第 3 步构件，只要 IDbQuery 接口不变，上层业务逻辑层完全不需改写！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31"/>
          <p:cNvSpPr txBox="1"/>
          <p:nvPr/>
        </p:nvSpPr>
        <p:spPr>
          <a:xfrm>
            <a:off x="762000" y="571500"/>
            <a:ext cx="1120140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现代云原生：微服务与构件图</a:t>
            </a:r>
            <a:endParaRPr/>
          </a:p>
        </p:txBody>
      </p:sp>
      <p:sp>
        <p:nvSpPr>
          <p:cNvPr id="387" name="Google Shape;387;p31"/>
          <p:cNvSpPr/>
          <p:nvPr/>
        </p:nvSpPr>
        <p:spPr>
          <a:xfrm>
            <a:off x="762000" y="1200150"/>
            <a:ext cx="10668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31"/>
          <p:cNvSpPr/>
          <p:nvPr/>
        </p:nvSpPr>
        <p:spPr>
          <a:xfrm>
            <a:off x="762000" y="121920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1"/>
          <p:cNvSpPr txBox="1"/>
          <p:nvPr/>
        </p:nvSpPr>
        <p:spPr>
          <a:xfrm>
            <a:off x="1095375" y="2839491"/>
            <a:ext cx="48101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服务就是构件：</a:t>
            </a:r>
            <a:r>
              <a:rPr lang="en-US" sz="135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在容器化与 K8s 微服务大行其道的时代，构件图找到了最契合的落地模型。</a:t>
            </a:r>
            <a:endParaRPr/>
          </a:p>
        </p:txBody>
      </p:sp>
      <p:sp>
        <p:nvSpPr>
          <p:cNvPr id="390" name="Google Shape;390;p31"/>
          <p:cNvSpPr txBox="1"/>
          <p:nvPr/>
        </p:nvSpPr>
        <p:spPr>
          <a:xfrm>
            <a:off x="1095375" y="3559522"/>
            <a:ext cx="48101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接口对应 API：</a:t>
            </a:r>
            <a:r>
              <a:rPr lang="en-US" sz="135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构件对外的提供接口直接对应为 RESTful API / gRPC 接口。</a:t>
            </a:r>
            <a:endParaRPr/>
          </a:p>
        </p:txBody>
      </p:sp>
      <p:sp>
        <p:nvSpPr>
          <p:cNvPr id="391" name="Google Shape;391;p31"/>
          <p:cNvSpPr txBox="1"/>
          <p:nvPr/>
        </p:nvSpPr>
        <p:spPr>
          <a:xfrm>
            <a:off x="1095375" y="4279552"/>
            <a:ext cx="48101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松耦合架构：</a:t>
            </a:r>
            <a:r>
              <a:rPr lang="en-US" sz="135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极其清晰地展现出哪些微服务在单向或双向调用哪些第三方应用。</a:t>
            </a:r>
            <a:endParaRPr/>
          </a:p>
        </p:txBody>
      </p:sp>
      <p:sp>
        <p:nvSpPr>
          <p:cNvPr id="392" name="Google Shape;392;p31"/>
          <p:cNvSpPr txBox="1"/>
          <p:nvPr/>
        </p:nvSpPr>
        <p:spPr>
          <a:xfrm>
            <a:off x="6619875" y="2839491"/>
            <a:ext cx="48101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端口约束流量：</a:t>
            </a:r>
            <a:r>
              <a:rPr lang="en-US" sz="135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端口定义了进入容器的特定物理端口和网络协议。</a:t>
            </a:r>
            <a:endParaRPr/>
          </a:p>
        </p:txBody>
      </p:sp>
      <p:sp>
        <p:nvSpPr>
          <p:cNvPr id="393" name="Google Shape;393;p31"/>
          <p:cNvSpPr txBox="1"/>
          <p:nvPr/>
        </p:nvSpPr>
        <p:spPr>
          <a:xfrm>
            <a:off x="6619875" y="3559522"/>
            <a:ext cx="48101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部署前的重要一步：</a:t>
            </a:r>
            <a:r>
              <a:rPr lang="en-US" sz="135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它是编写 Dockerfile 与 Kubernetes YAML 排布和部署的物理先导蓝图。</a:t>
            </a:r>
            <a:endParaRPr/>
          </a:p>
        </p:txBody>
      </p:sp>
      <p:pic>
        <p:nvPicPr>
          <p:cNvPr id="394" name="Google Shape;394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858541"/>
            <a:ext cx="13349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578572"/>
            <a:ext cx="13349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4298602"/>
            <a:ext cx="13349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858541"/>
            <a:ext cx="13349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3578572"/>
            <a:ext cx="133498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3" name="Google Shape;403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785044"/>
            <a:ext cx="10668000" cy="4268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52525" y="3053655"/>
            <a:ext cx="988695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3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52525" y="3739455"/>
            <a:ext cx="988695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3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52525" y="4425255"/>
            <a:ext cx="988695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3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52525" y="5111055"/>
            <a:ext cx="9886950" cy="5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32"/>
          <p:cNvSpPr txBox="1"/>
          <p:nvPr/>
        </p:nvSpPr>
        <p:spPr>
          <a:xfrm>
            <a:off x="762000" y="604621"/>
            <a:ext cx="112014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 err="1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随堂测试</a:t>
            </a:r>
            <a:r>
              <a:rPr lang="en-US" sz="2850" b="1" i="0" u="none" strike="noStrike" cap="none" dirty="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 2：接口符号</a:t>
            </a:r>
            <a:endParaRPr dirty="0"/>
          </a:p>
        </p:txBody>
      </p:sp>
      <p:sp>
        <p:nvSpPr>
          <p:cNvPr id="410" name="Google Shape;410;p32"/>
          <p:cNvSpPr/>
          <p:nvPr/>
        </p:nvSpPr>
        <p:spPr>
          <a:xfrm>
            <a:off x="762000" y="1200150"/>
            <a:ext cx="10668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32"/>
          <p:cNvSpPr/>
          <p:nvPr/>
        </p:nvSpPr>
        <p:spPr>
          <a:xfrm>
            <a:off x="762000" y="121920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32"/>
          <p:cNvSpPr txBox="1"/>
          <p:nvPr/>
        </p:nvSpPr>
        <p:spPr>
          <a:xfrm>
            <a:off x="1152525" y="2175569"/>
            <a:ext cx="988695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2. 在 UML 构件图中，"半圆形（凹口/Socket）" 符号和 "棒棒糖（圆圈/Lollipop）" 符号分别代表：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" name="Google Shape;417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2594818"/>
            <a:ext cx="5191125" cy="2649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3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2594818"/>
            <a:ext cx="5191125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3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3280618"/>
            <a:ext cx="5191125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3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3966418"/>
            <a:ext cx="5191125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3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2000" y="4652218"/>
            <a:ext cx="5191125" cy="5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3"/>
          <p:cNvSpPr txBox="1"/>
          <p:nvPr/>
        </p:nvSpPr>
        <p:spPr>
          <a:xfrm>
            <a:off x="762000" y="571500"/>
            <a:ext cx="1120140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随堂测试 2：解析与学术原理</a:t>
            </a:r>
            <a:endParaRPr/>
          </a:p>
        </p:txBody>
      </p:sp>
      <p:sp>
        <p:nvSpPr>
          <p:cNvPr id="424" name="Google Shape;424;p33"/>
          <p:cNvSpPr/>
          <p:nvPr/>
        </p:nvSpPr>
        <p:spPr>
          <a:xfrm>
            <a:off x="762000" y="1200150"/>
            <a:ext cx="10668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3"/>
          <p:cNvSpPr/>
          <p:nvPr/>
        </p:nvSpPr>
        <p:spPr>
          <a:xfrm>
            <a:off x="762000" y="121920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33"/>
          <p:cNvSpPr txBox="1"/>
          <p:nvPr/>
        </p:nvSpPr>
        <p:spPr>
          <a:xfrm>
            <a:off x="6562725" y="2880568"/>
            <a:ext cx="4810601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82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学术解析：</a:t>
            </a:r>
            <a:endParaRPr/>
          </a:p>
        </p:txBody>
      </p:sp>
      <p:sp>
        <p:nvSpPr>
          <p:cNvPr id="427" name="Google Shape;427;p33"/>
          <p:cNvSpPr txBox="1"/>
          <p:nvPr/>
        </p:nvSpPr>
        <p:spPr>
          <a:xfrm>
            <a:off x="6562725" y="3252043"/>
            <a:ext cx="4581525" cy="1706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7534E"/>
                </a:solidFill>
                <a:latin typeface="Noto Sans SC"/>
                <a:ea typeface="Noto Sans SC"/>
                <a:cs typeface="Noto Sans SC"/>
                <a:sym typeface="Noto Sans SC"/>
              </a:rPr>
              <a:t>在构件的表示法中：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57534E"/>
                </a:solidFill>
                <a:latin typeface="Noto Sans SC"/>
                <a:ea typeface="Noto Sans SC"/>
                <a:cs typeface="Noto Sans SC"/>
                <a:sym typeface="Noto Sans SC"/>
              </a:rPr>
              <a:t> 1. </a:t>
            </a:r>
            <a:r>
              <a:rPr lang="en-US" sz="1200" b="1" i="0" u="none" strike="noStrike" cap="none">
                <a:solidFill>
                  <a:srgbClr val="57534E"/>
                </a:solidFill>
                <a:latin typeface="Noto Sans SC"/>
                <a:ea typeface="Noto Sans SC"/>
                <a:cs typeface="Noto Sans SC"/>
                <a:sym typeface="Noto Sans SC"/>
              </a:rPr>
              <a:t>圆圈（棒棒糖/Lollipop）</a:t>
            </a:r>
            <a:r>
              <a:rPr lang="en-US" sz="1200" b="0" i="0" u="none" strike="noStrike" cap="none">
                <a:solidFill>
                  <a:srgbClr val="57534E"/>
                </a:solidFill>
                <a:latin typeface="Noto Sans SC"/>
                <a:ea typeface="Noto Sans SC"/>
                <a:cs typeface="Noto Sans SC"/>
                <a:sym typeface="Noto Sans SC"/>
              </a:rPr>
              <a:t> 代表“提供接口”(Provided Interface)，即该物理构件能对外输出的业务服务。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57534E"/>
                </a:solidFill>
                <a:latin typeface="Noto Sans SC"/>
                <a:ea typeface="Noto Sans SC"/>
                <a:cs typeface="Noto Sans SC"/>
                <a:sym typeface="Noto Sans SC"/>
              </a:rPr>
              <a:t> 2. </a:t>
            </a:r>
            <a:r>
              <a:rPr lang="en-US" sz="1200" b="1" i="0" u="none" strike="noStrike" cap="none">
                <a:solidFill>
                  <a:srgbClr val="57534E"/>
                </a:solidFill>
                <a:latin typeface="Noto Sans SC"/>
                <a:ea typeface="Noto Sans SC"/>
                <a:cs typeface="Noto Sans SC"/>
                <a:sym typeface="Noto Sans SC"/>
              </a:rPr>
              <a:t>半圆弧（插座/Socket）</a:t>
            </a:r>
            <a:r>
              <a:rPr lang="en-US" sz="1200" b="0" i="0" u="none" strike="noStrike" cap="none">
                <a:solidFill>
                  <a:srgbClr val="57534E"/>
                </a:solidFill>
                <a:latin typeface="Noto Sans SC"/>
                <a:ea typeface="Noto Sans SC"/>
                <a:cs typeface="Noto Sans SC"/>
                <a:sym typeface="Noto Sans SC"/>
              </a:rPr>
              <a:t> 代表“需求接口”(Required Interface)，即构件为了运行核心逻辑所必须依赖、消费的外部端点。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57534E"/>
                </a:solidFill>
                <a:latin typeface="Noto Sans SC"/>
                <a:ea typeface="Noto Sans SC"/>
                <a:cs typeface="Noto Sans SC"/>
                <a:sym typeface="Noto Sans SC"/>
              </a:rPr>
              <a:t> 凹口和圆球可以像“插拔插座”一样咬合，从而图形化展示物理集成的解耦形态。</a:t>
            </a:r>
            <a:endParaRPr/>
          </a:p>
        </p:txBody>
      </p:sp>
      <p:pic>
        <p:nvPicPr>
          <p:cNvPr id="428" name="Google Shape;428;p3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62725" y="2909143"/>
            <a:ext cx="148232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Google Shape;433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945034"/>
            <a:ext cx="10668000" cy="3949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3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52525" y="2893665"/>
            <a:ext cx="988695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3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52525" y="3579465"/>
            <a:ext cx="988695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3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52525" y="4265265"/>
            <a:ext cx="988695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3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52525" y="4951065"/>
            <a:ext cx="9886950" cy="5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4"/>
          <p:cNvSpPr txBox="1"/>
          <p:nvPr/>
        </p:nvSpPr>
        <p:spPr>
          <a:xfrm>
            <a:off x="762000" y="604621"/>
            <a:ext cx="112014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 err="1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随堂测试</a:t>
            </a:r>
            <a:r>
              <a:rPr lang="en-US" sz="2850" b="1" i="0" u="none" strike="noStrike" cap="none" dirty="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 3：构件图核心视角</a:t>
            </a:r>
            <a:endParaRPr dirty="0"/>
          </a:p>
        </p:txBody>
      </p:sp>
      <p:sp>
        <p:nvSpPr>
          <p:cNvPr id="440" name="Google Shape;440;p34"/>
          <p:cNvSpPr/>
          <p:nvPr/>
        </p:nvSpPr>
        <p:spPr>
          <a:xfrm>
            <a:off x="762000" y="1200150"/>
            <a:ext cx="10668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34"/>
          <p:cNvSpPr/>
          <p:nvPr/>
        </p:nvSpPr>
        <p:spPr>
          <a:xfrm>
            <a:off x="762000" y="121920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34"/>
          <p:cNvSpPr txBox="1"/>
          <p:nvPr/>
        </p:nvSpPr>
        <p:spPr>
          <a:xfrm>
            <a:off x="1152525" y="2335559"/>
            <a:ext cx="98869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3. 构件图（Component Diagram）从本质上讲，主要反映了软件系统的何种设计视角？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7" name="Google Shape;447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2614612"/>
            <a:ext cx="5191125" cy="260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3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2614612"/>
            <a:ext cx="5191125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3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3300412"/>
            <a:ext cx="5191125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3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3986212"/>
            <a:ext cx="5191125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3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2000" y="4672012"/>
            <a:ext cx="5191125" cy="5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35"/>
          <p:cNvSpPr txBox="1"/>
          <p:nvPr/>
        </p:nvSpPr>
        <p:spPr>
          <a:xfrm>
            <a:off x="762000" y="571500"/>
            <a:ext cx="1120140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随堂测试 3：解析与学术原理</a:t>
            </a:r>
            <a:endParaRPr/>
          </a:p>
        </p:txBody>
      </p:sp>
      <p:sp>
        <p:nvSpPr>
          <p:cNvPr id="454" name="Google Shape;454;p35"/>
          <p:cNvSpPr/>
          <p:nvPr/>
        </p:nvSpPr>
        <p:spPr>
          <a:xfrm>
            <a:off x="762000" y="1200150"/>
            <a:ext cx="10668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35"/>
          <p:cNvSpPr/>
          <p:nvPr/>
        </p:nvSpPr>
        <p:spPr>
          <a:xfrm>
            <a:off x="762000" y="121920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35"/>
          <p:cNvSpPr txBox="1"/>
          <p:nvPr/>
        </p:nvSpPr>
        <p:spPr>
          <a:xfrm>
            <a:off x="6562725" y="3124348"/>
            <a:ext cx="4810601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82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学术解析：</a:t>
            </a:r>
            <a:endParaRPr/>
          </a:p>
        </p:txBody>
      </p:sp>
      <p:sp>
        <p:nvSpPr>
          <p:cNvPr id="457" name="Google Shape;457;p35"/>
          <p:cNvSpPr txBox="1"/>
          <p:nvPr/>
        </p:nvSpPr>
        <p:spPr>
          <a:xfrm>
            <a:off x="6562725" y="3495823"/>
            <a:ext cx="4581525" cy="1218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7534E"/>
                </a:solidFill>
                <a:latin typeface="Noto Sans SC"/>
                <a:ea typeface="Noto Sans SC"/>
                <a:cs typeface="Noto Sans SC"/>
                <a:sym typeface="Noto Sans SC"/>
              </a:rPr>
              <a:t>构件图是典型的</a:t>
            </a:r>
            <a:r>
              <a:rPr lang="en-US" sz="1200" b="1" i="0" u="none" strike="noStrike" cap="none">
                <a:solidFill>
                  <a:srgbClr val="57534E"/>
                </a:solidFill>
                <a:latin typeface="Noto Sans SC"/>
                <a:ea typeface="Noto Sans SC"/>
                <a:cs typeface="Noto Sans SC"/>
                <a:sym typeface="Noto Sans SC"/>
              </a:rPr>
              <a:t>物理结构图（Physical Diagram）</a:t>
            </a:r>
            <a:r>
              <a:rPr lang="en-US" sz="1200" b="0" i="0" u="none" strike="noStrike" cap="none">
                <a:solidFill>
                  <a:srgbClr val="57534E"/>
                </a:solidFill>
                <a:latin typeface="Noto Sans SC"/>
                <a:ea typeface="Noto Sans SC"/>
                <a:cs typeface="Noto Sans SC"/>
                <a:sym typeface="Noto Sans SC"/>
              </a:rPr>
              <a:t>。与纯逻辑图（如类图、状态机）不同，构件图聚焦于软件系统的“真实实现形态”（例如可运行文件、动态链接库、组件、容器文件）以及这些二进制单元之间的物理组装机制和接口契约。它直接指导部署、版本替换以及编译期的物理依赖排查。</a:t>
            </a:r>
            <a:endParaRPr/>
          </a:p>
        </p:txBody>
      </p:sp>
      <p:pic>
        <p:nvPicPr>
          <p:cNvPr id="458" name="Google Shape;458;p3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62725" y="3152923"/>
            <a:ext cx="148232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3" name="Google Shape;463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36"/>
          <p:cNvSpPr/>
          <p:nvPr/>
        </p:nvSpPr>
        <p:spPr>
          <a:xfrm>
            <a:off x="5715000" y="2843212"/>
            <a:ext cx="7620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36"/>
          <p:cNvSpPr txBox="1"/>
          <p:nvPr/>
        </p:nvSpPr>
        <p:spPr>
          <a:xfrm>
            <a:off x="4275772" y="3119437"/>
            <a:ext cx="3640455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第三部分：包图</a:t>
            </a:r>
            <a:endParaRPr/>
          </a:p>
        </p:txBody>
      </p:sp>
      <p:sp>
        <p:nvSpPr>
          <p:cNvPr id="466" name="Google Shape;466;p36"/>
          <p:cNvSpPr txBox="1"/>
          <p:nvPr/>
        </p:nvSpPr>
        <p:spPr>
          <a:xfrm>
            <a:off x="4208264" y="4024312"/>
            <a:ext cx="377547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Package Diagrams • 管理大型软件的“虚拟文件夹”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" name="Google Shape;471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109787"/>
            <a:ext cx="51435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37"/>
          <p:cNvSpPr txBox="1"/>
          <p:nvPr/>
        </p:nvSpPr>
        <p:spPr>
          <a:xfrm>
            <a:off x="762000" y="571500"/>
            <a:ext cx="1120140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什么是包 (Package)？</a:t>
            </a:r>
            <a:endParaRPr/>
          </a:p>
        </p:txBody>
      </p:sp>
      <p:sp>
        <p:nvSpPr>
          <p:cNvPr id="474" name="Google Shape;474;p37"/>
          <p:cNvSpPr/>
          <p:nvPr/>
        </p:nvSpPr>
        <p:spPr>
          <a:xfrm>
            <a:off x="762000" y="1200150"/>
            <a:ext cx="10668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37"/>
          <p:cNvSpPr/>
          <p:nvPr/>
        </p:nvSpPr>
        <p:spPr>
          <a:xfrm>
            <a:off x="762000" y="121920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6" name="Google Shape;476;p3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2119312"/>
            <a:ext cx="512445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7"/>
          <p:cNvSpPr txBox="1"/>
          <p:nvPr/>
        </p:nvSpPr>
        <p:spPr>
          <a:xfrm>
            <a:off x="1095375" y="2109787"/>
            <a:ext cx="48101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高层级分组装置：</a:t>
            </a:r>
            <a:r>
              <a:rPr lang="en-US" sz="135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它是对极其复杂的软件模型元素进行打包分类的通用组织机制。</a:t>
            </a:r>
            <a:endParaRPr/>
          </a:p>
        </p:txBody>
      </p:sp>
      <p:sp>
        <p:nvSpPr>
          <p:cNvPr id="478" name="Google Shape;478;p37"/>
          <p:cNvSpPr txBox="1"/>
          <p:nvPr/>
        </p:nvSpPr>
        <p:spPr>
          <a:xfrm>
            <a:off x="1095375" y="2829817"/>
            <a:ext cx="48101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软件文件夹：</a:t>
            </a:r>
            <a:r>
              <a:rPr lang="en-US" sz="135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包可以包含：类、用例、甚至是其它嵌套的包，类似硬盘上的目录树。</a:t>
            </a:r>
            <a:endParaRPr/>
          </a:p>
        </p:txBody>
      </p:sp>
      <p:sp>
        <p:nvSpPr>
          <p:cNvPr id="479" name="Google Shape;479;p37"/>
          <p:cNvSpPr txBox="1"/>
          <p:nvPr/>
        </p:nvSpPr>
        <p:spPr>
          <a:xfrm>
            <a:off x="1095375" y="3549848"/>
            <a:ext cx="48101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包图核心要素：</a:t>
            </a:r>
            <a:r>
              <a:rPr lang="en-US" sz="135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重点展示“包”本身，以及包与包之间的各类</a:t>
            </a:r>
            <a:r>
              <a:rPr lang="en-US" sz="135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依赖（Dependency）</a:t>
            </a:r>
            <a:r>
              <a:rPr lang="en-US" sz="135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/>
          </a:p>
        </p:txBody>
      </p:sp>
      <p:pic>
        <p:nvPicPr>
          <p:cNvPr id="480" name="Google Shape;480;p3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2128837"/>
            <a:ext cx="13349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3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2848867"/>
            <a:ext cx="13349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3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3568898"/>
            <a:ext cx="13349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140073B6-768A-1B4C-3829-89EE50F364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6025" y="1969730"/>
            <a:ext cx="5124450" cy="375955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Google Shape;487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543175"/>
            <a:ext cx="3403550" cy="275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3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94150" y="2543175"/>
            <a:ext cx="3403550" cy="275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3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26300" y="2543175"/>
            <a:ext cx="3403550" cy="2752725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38"/>
          <p:cNvSpPr txBox="1"/>
          <p:nvPr/>
        </p:nvSpPr>
        <p:spPr>
          <a:xfrm>
            <a:off x="762000" y="571500"/>
            <a:ext cx="1120140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包的三大功能：可见性、组织、命名空间</a:t>
            </a:r>
            <a:endParaRPr/>
          </a:p>
        </p:txBody>
      </p:sp>
      <p:sp>
        <p:nvSpPr>
          <p:cNvPr id="492" name="Google Shape;492;p38"/>
          <p:cNvSpPr/>
          <p:nvPr/>
        </p:nvSpPr>
        <p:spPr>
          <a:xfrm>
            <a:off x="762000" y="1200150"/>
            <a:ext cx="10668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38"/>
          <p:cNvSpPr/>
          <p:nvPr/>
        </p:nvSpPr>
        <p:spPr>
          <a:xfrm>
            <a:off x="762000" y="121920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38"/>
          <p:cNvSpPr txBox="1"/>
          <p:nvPr/>
        </p:nvSpPr>
        <p:spPr>
          <a:xfrm>
            <a:off x="1000125" y="3429000"/>
            <a:ext cx="1222652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1. 可见性控制</a:t>
            </a:r>
            <a:endParaRPr/>
          </a:p>
        </p:txBody>
      </p:sp>
      <p:sp>
        <p:nvSpPr>
          <p:cNvPr id="495" name="Google Shape;495;p38"/>
          <p:cNvSpPr txBox="1"/>
          <p:nvPr/>
        </p:nvSpPr>
        <p:spPr>
          <a:xfrm>
            <a:off x="1000125" y="3800475"/>
            <a:ext cx="2927300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包内元素的可见性修饰符：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- + 公有 (Public)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- - 私有 (Private)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- # 受保护 (Protected)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外部包一般只能访问被标记为公有（+）的内部元素。</a:t>
            </a:r>
            <a:endParaRPr/>
          </a:p>
        </p:txBody>
      </p:sp>
      <p:sp>
        <p:nvSpPr>
          <p:cNvPr id="496" name="Google Shape;496;p38"/>
          <p:cNvSpPr txBox="1"/>
          <p:nvPr/>
        </p:nvSpPr>
        <p:spPr>
          <a:xfrm>
            <a:off x="4632275" y="3429000"/>
            <a:ext cx="1422677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2. 建立命名空间</a:t>
            </a:r>
            <a:endParaRPr/>
          </a:p>
        </p:txBody>
      </p:sp>
      <p:sp>
        <p:nvSpPr>
          <p:cNvPr id="497" name="Google Shape;497;p38"/>
          <p:cNvSpPr txBox="1"/>
          <p:nvPr/>
        </p:nvSpPr>
        <p:spPr>
          <a:xfrm>
            <a:off x="4632275" y="3800475"/>
            <a:ext cx="29273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由于包具有隔离性，不同包内即使存在同名类，也不会引发命名冲突。包路径格式采用：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PackageName::ClassName</a:t>
            </a:r>
            <a:endParaRPr/>
          </a:p>
        </p:txBody>
      </p:sp>
      <p:sp>
        <p:nvSpPr>
          <p:cNvPr id="498" name="Google Shape;498;p38"/>
          <p:cNvSpPr txBox="1"/>
          <p:nvPr/>
        </p:nvSpPr>
        <p:spPr>
          <a:xfrm>
            <a:off x="8264425" y="3429000"/>
            <a:ext cx="1422677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3. 大局解耦管理</a:t>
            </a:r>
            <a:endParaRPr/>
          </a:p>
        </p:txBody>
      </p:sp>
      <p:sp>
        <p:nvSpPr>
          <p:cNvPr id="499" name="Google Shape;499;p38"/>
          <p:cNvSpPr txBox="1"/>
          <p:nvPr/>
        </p:nvSpPr>
        <p:spPr>
          <a:xfrm>
            <a:off x="8264425" y="3800475"/>
            <a:ext cx="29273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在数以千计的庞大类簇中，包图为架构师提供了控制模块依赖方向、避免系统“大泥球”退化的最高效手段。</a:t>
            </a:r>
            <a:endParaRPr/>
          </a:p>
        </p:txBody>
      </p:sp>
      <p:pic>
        <p:nvPicPr>
          <p:cNvPr id="500" name="Google Shape;500;p3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00125" y="2867025"/>
            <a:ext cx="266848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3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32275" y="2867025"/>
            <a:ext cx="266848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3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264425" y="2867025"/>
            <a:ext cx="266848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" name="Google Shape;507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39"/>
          <p:cNvSpPr txBox="1"/>
          <p:nvPr/>
        </p:nvSpPr>
        <p:spPr>
          <a:xfrm>
            <a:off x="762000" y="571500"/>
            <a:ext cx="1120140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包之间的依赖：指向被依赖方</a:t>
            </a:r>
            <a:endParaRPr/>
          </a:p>
        </p:txBody>
      </p:sp>
      <p:sp>
        <p:nvSpPr>
          <p:cNvPr id="509" name="Google Shape;509;p39"/>
          <p:cNvSpPr/>
          <p:nvPr/>
        </p:nvSpPr>
        <p:spPr>
          <a:xfrm>
            <a:off x="762000" y="1257300"/>
            <a:ext cx="10668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39"/>
          <p:cNvSpPr/>
          <p:nvPr/>
        </p:nvSpPr>
        <p:spPr>
          <a:xfrm>
            <a:off x="762000" y="127635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39"/>
          <p:cNvSpPr txBox="1"/>
          <p:nvPr/>
        </p:nvSpPr>
        <p:spPr>
          <a:xfrm>
            <a:off x="1095375" y="2868066"/>
            <a:ext cx="48101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依赖的语义：</a:t>
            </a:r>
            <a:r>
              <a:rPr lang="en-US" sz="135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一个源包中的类，在代码级别使用了另一个目标包中类提供的公开方法。</a:t>
            </a:r>
            <a:endParaRPr/>
          </a:p>
        </p:txBody>
      </p:sp>
      <p:sp>
        <p:nvSpPr>
          <p:cNvPr id="512" name="Google Shape;512;p39"/>
          <p:cNvSpPr txBox="1"/>
          <p:nvPr/>
        </p:nvSpPr>
        <p:spPr>
          <a:xfrm>
            <a:off x="1095375" y="3588097"/>
            <a:ext cx="48101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箭头朝向：</a:t>
            </a:r>
            <a:r>
              <a:rPr lang="en-US" sz="135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箭头由</a:t>
            </a:r>
            <a:r>
              <a:rPr lang="en-US" sz="135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源包</a:t>
            </a:r>
            <a:r>
              <a:rPr lang="en-US" sz="135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（使用方/主动方）指向</a:t>
            </a:r>
            <a:r>
              <a:rPr lang="en-US" sz="135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目标包</a:t>
            </a:r>
            <a:r>
              <a:rPr lang="en-US" sz="135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（提供方/被依赖方）。</a:t>
            </a:r>
            <a:endParaRPr/>
          </a:p>
        </p:txBody>
      </p:sp>
      <p:sp>
        <p:nvSpPr>
          <p:cNvPr id="513" name="Google Shape;513;p39"/>
          <p:cNvSpPr txBox="1"/>
          <p:nvPr/>
        </p:nvSpPr>
        <p:spPr>
          <a:xfrm>
            <a:off x="1095375" y="4308127"/>
            <a:ext cx="48101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核心含义：</a:t>
            </a:r>
            <a:r>
              <a:rPr lang="en-US" sz="135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虚线箭头表示“若目标包内部结构发生了重大修改，那么源包可能也必须同步跟着修改”。</a:t>
            </a:r>
            <a:endParaRPr/>
          </a:p>
        </p:txBody>
      </p:sp>
      <p:sp>
        <p:nvSpPr>
          <p:cNvPr id="514" name="Google Shape;514;p39"/>
          <p:cNvSpPr txBox="1"/>
          <p:nvPr/>
        </p:nvSpPr>
        <p:spPr>
          <a:xfrm>
            <a:off x="6619875" y="2868066"/>
            <a:ext cx="48101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单向优于双向：</a:t>
            </a:r>
            <a:r>
              <a:rPr lang="en-US" sz="135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包之间的依赖绝对应当保持单向，否则极容易使两个包之间形成循环关联，难以拆包。</a:t>
            </a:r>
            <a:endParaRPr/>
          </a:p>
        </p:txBody>
      </p:sp>
      <p:sp>
        <p:nvSpPr>
          <p:cNvPr id="515" name="Google Shape;515;p39"/>
          <p:cNvSpPr txBox="1"/>
          <p:nvPr/>
        </p:nvSpPr>
        <p:spPr>
          <a:xfrm>
            <a:off x="6619875" y="3588097"/>
            <a:ext cx="48101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包的自包含原则：</a:t>
            </a:r>
            <a:r>
              <a:rPr lang="en-US" sz="135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包必须尽可能独立，减少跨包的过多无节制依赖。</a:t>
            </a:r>
            <a:endParaRPr/>
          </a:p>
        </p:txBody>
      </p:sp>
      <p:pic>
        <p:nvPicPr>
          <p:cNvPr id="516" name="Google Shape;516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887116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60714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432717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887116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3607147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5" name="Google Shape;525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743200"/>
            <a:ext cx="10668000" cy="2352675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0"/>
          <p:cNvSpPr txBox="1"/>
          <p:nvPr/>
        </p:nvSpPr>
        <p:spPr>
          <a:xfrm>
            <a:off x="762000" y="571500"/>
            <a:ext cx="1120140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导入机制对照：&lt;&gt; vs &lt;&gt;</a:t>
            </a:r>
            <a:endParaRPr/>
          </a:p>
        </p:txBody>
      </p:sp>
      <p:sp>
        <p:nvSpPr>
          <p:cNvPr id="528" name="Google Shape;528;p40"/>
          <p:cNvSpPr/>
          <p:nvPr/>
        </p:nvSpPr>
        <p:spPr>
          <a:xfrm>
            <a:off x="762000" y="1200150"/>
            <a:ext cx="10668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40"/>
          <p:cNvSpPr/>
          <p:nvPr/>
        </p:nvSpPr>
        <p:spPr>
          <a:xfrm>
            <a:off x="762000" y="121920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30" name="Google Shape;530;p40"/>
          <p:cNvGraphicFramePr/>
          <p:nvPr>
            <p:extLst>
              <p:ext uri="{D42A27DB-BD31-4B8C-83A1-F6EECF244321}">
                <p14:modId xmlns:p14="http://schemas.microsoft.com/office/powerpoint/2010/main" val="887310834"/>
              </p:ext>
            </p:extLst>
          </p:nvPr>
        </p:nvGraphicFramePr>
        <p:xfrm>
          <a:off x="771525" y="2752725"/>
          <a:ext cx="10648925" cy="2333625"/>
        </p:xfrm>
        <a:graphic>
          <a:graphicData uri="http://schemas.openxmlformats.org/drawingml/2006/table">
            <a:tbl>
              <a:tblPr firstRow="1" bandRow="1">
                <a:noFill/>
                <a:tableStyleId>{F156E289-3329-4741-85B2-98B5BD7403AB}</a:tableStyleId>
              </a:tblPr>
              <a:tblGrid>
                <a:gridCol w="964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0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36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7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关系原型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依赖方向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是否改变包内可见性（传播性）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核心学术语义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 dirty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&lt;&gt; (</a:t>
                      </a:r>
                      <a:r>
                        <a:rPr lang="en-US" sz="1125" b="1" i="0" u="none" strike="noStrike" cap="none" dirty="0" err="1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公有导入</a:t>
                      </a:r>
                      <a:r>
                        <a:rPr lang="en-US" sz="1125" b="1" i="0" u="none" strike="noStrike" cap="none" dirty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源包指向目标包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有传播性。</a:t>
                      </a:r>
                      <a:r>
                        <a:rPr lang="en-US" sz="1125" b="0" i="0" u="none" strike="noStrike" cap="none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 导入后，目标包的公有元素被直接提升，变为源包的</a:t>
                      </a:r>
                      <a:r>
                        <a:rPr lang="en-US" sz="1125" b="1" i="0" u="none" strike="noStrike" cap="none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公有（Public）</a:t>
                      </a:r>
                      <a:r>
                        <a:rPr lang="en-US" sz="1125" b="0" i="0" u="none" strike="noStrike" cap="none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元素。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当第三方包 &lt;&gt; 引入本源包时，可以直接获取被导入的孙子元素，允许链路传播。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 dirty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&lt;&gt;(</a:t>
                      </a:r>
                      <a:r>
                        <a:rPr lang="en-US" sz="1125" b="1" i="0" u="none" strike="noStrike" cap="none" dirty="0" err="1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私有导入</a:t>
                      </a:r>
                      <a:r>
                        <a:rPr lang="en-US" sz="1125" b="1" i="0" u="none" strike="noStrike" cap="none" dirty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源包指向目标包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无传播性。</a:t>
                      </a:r>
                      <a:r>
                        <a:rPr lang="en-US" sz="1125" b="0" i="0" u="none" strike="noStrike" cap="none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 导入后，目标包的公有元素在源包中，强制隐退并下降为</a:t>
                      </a:r>
                      <a:r>
                        <a:rPr lang="en-US" sz="1125" b="1" i="0" u="none" strike="noStrike" cap="none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私有（Private）</a:t>
                      </a:r>
                      <a:r>
                        <a:rPr lang="en-US" sz="1125" b="0" i="0" u="none" strike="noStrike" cap="none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元素。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 dirty="0" err="1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任何第三方包导入本源包后，都</a:t>
                      </a:r>
                      <a:r>
                        <a:rPr lang="en-US" sz="1125" b="1" i="0" u="none" strike="noStrike" cap="none" dirty="0" err="1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无法</a:t>
                      </a:r>
                      <a:r>
                        <a:rPr lang="en-US" sz="1125" b="0" i="0" u="none" strike="noStrike" cap="none" dirty="0" err="1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访问本源包通过</a:t>
                      </a:r>
                      <a:r>
                        <a:rPr lang="en-US" sz="1125" b="0" i="0" u="none" strike="noStrike" cap="none" dirty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 &lt;&gt; </a:t>
                      </a:r>
                      <a:r>
                        <a:rPr lang="en-US" sz="1125" b="0" i="0" u="none" strike="noStrike" cap="none" dirty="0" err="1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引入的那部分元素</a:t>
                      </a:r>
                      <a:r>
                        <a:rPr lang="en-US" sz="1125" b="0" i="0" u="none" strike="noStrike" cap="none" dirty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。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31" name="Google Shape;531;p40"/>
          <p:cNvSpPr/>
          <p:nvPr/>
        </p:nvSpPr>
        <p:spPr>
          <a:xfrm>
            <a:off x="771525" y="4243387"/>
            <a:ext cx="9648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40"/>
          <p:cNvSpPr/>
          <p:nvPr/>
        </p:nvSpPr>
        <p:spPr>
          <a:xfrm>
            <a:off x="1736377" y="4243387"/>
            <a:ext cx="1170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40"/>
          <p:cNvSpPr/>
          <p:nvPr/>
        </p:nvSpPr>
        <p:spPr>
          <a:xfrm>
            <a:off x="2907357" y="4243387"/>
            <a:ext cx="45767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40"/>
          <p:cNvSpPr/>
          <p:nvPr/>
        </p:nvSpPr>
        <p:spPr>
          <a:xfrm>
            <a:off x="7484119" y="4243387"/>
            <a:ext cx="39363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9" name="Google Shape;539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41"/>
          <p:cNvSpPr txBox="1"/>
          <p:nvPr/>
        </p:nvSpPr>
        <p:spPr>
          <a:xfrm>
            <a:off x="762000" y="571500"/>
            <a:ext cx="1120140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经典包架构模式：非循环分层依赖</a:t>
            </a:r>
            <a:endParaRPr/>
          </a:p>
        </p:txBody>
      </p:sp>
      <p:sp>
        <p:nvSpPr>
          <p:cNvPr id="541" name="Google Shape;541;p41"/>
          <p:cNvSpPr/>
          <p:nvPr/>
        </p:nvSpPr>
        <p:spPr>
          <a:xfrm>
            <a:off x="762000" y="1200150"/>
            <a:ext cx="10668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41"/>
          <p:cNvSpPr/>
          <p:nvPr/>
        </p:nvSpPr>
        <p:spPr>
          <a:xfrm>
            <a:off x="762000" y="121920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41"/>
          <p:cNvSpPr txBox="1"/>
          <p:nvPr/>
        </p:nvSpPr>
        <p:spPr>
          <a:xfrm>
            <a:off x="1095375" y="3014662"/>
            <a:ext cx="48101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高层包单向依赖低层：</a:t>
            </a:r>
            <a:r>
              <a:rPr lang="en-US" sz="135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典型的分层系统：</a:t>
            </a:r>
            <a:endParaRPr/>
          </a:p>
        </p:txBody>
      </p:sp>
      <p:sp>
        <p:nvSpPr>
          <p:cNvPr id="544" name="Google Shape;544;p41"/>
          <p:cNvSpPr txBox="1"/>
          <p:nvPr/>
        </p:nvSpPr>
        <p:spPr>
          <a:xfrm>
            <a:off x="1095375" y="4142333"/>
            <a:ext cx="48101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物理隔离：</a:t>
            </a:r>
            <a:r>
              <a:rPr lang="en-US" sz="135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确保数据库访问层和界面层完全物理隔绝，逻辑内聚最大化。</a:t>
            </a:r>
            <a:endParaRPr/>
          </a:p>
        </p:txBody>
      </p:sp>
      <p:sp>
        <p:nvSpPr>
          <p:cNvPr id="545" name="Google Shape;545;p41"/>
          <p:cNvSpPr txBox="1"/>
          <p:nvPr/>
        </p:nvSpPr>
        <p:spPr>
          <a:xfrm>
            <a:off x="6619875" y="2976562"/>
            <a:ext cx="48101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严格控制传播性：</a:t>
            </a:r>
            <a:r>
              <a:rPr lang="en-US" sz="135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下层包对上层包完全不可见，保证了业务规则的高度复用和安全隔离。</a:t>
            </a:r>
            <a:endParaRPr/>
          </a:p>
        </p:txBody>
      </p:sp>
      <p:sp>
        <p:nvSpPr>
          <p:cNvPr id="546" name="Google Shape;546;p41"/>
          <p:cNvSpPr txBox="1"/>
          <p:nvPr/>
        </p:nvSpPr>
        <p:spPr>
          <a:xfrm>
            <a:off x="6619874" y="4161383"/>
            <a:ext cx="48101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依赖倒置契约</a:t>
            </a:r>
            <a:r>
              <a:rPr lang="en-US" sz="1350" b="1" i="0" u="none" strike="noStrike" cap="none" dirty="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通过引入第三方契约包（抽象接口层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），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可以将具体的耦合解开，颠覆复杂的依赖流向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dirty="0"/>
          </a:p>
        </p:txBody>
      </p:sp>
      <p:pic>
        <p:nvPicPr>
          <p:cNvPr id="547" name="Google Shape;547;p4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995612"/>
            <a:ext cx="13349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" name="Google Shape;548;p4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4161383"/>
            <a:ext cx="13349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" name="Google Shape;549;p4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995612"/>
            <a:ext cx="13349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p4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5951" y="4261395"/>
            <a:ext cx="133498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41"/>
          <p:cNvSpPr txBox="1"/>
          <p:nvPr/>
        </p:nvSpPr>
        <p:spPr>
          <a:xfrm>
            <a:off x="1095376" y="3376613"/>
            <a:ext cx="44767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UI_Package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→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依赖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50" b="1" i="0" u="none" strike="noStrike" cap="none" dirty="0" err="1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Domain_Package</a:t>
            </a:r>
            <a:endParaRPr dirty="0"/>
          </a:p>
        </p:txBody>
      </p:sp>
      <p:sp>
        <p:nvSpPr>
          <p:cNvPr id="552" name="Google Shape;552;p41"/>
          <p:cNvSpPr txBox="1"/>
          <p:nvPr/>
        </p:nvSpPr>
        <p:spPr>
          <a:xfrm>
            <a:off x="1095376" y="3772520"/>
            <a:ext cx="44767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Domain_Package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→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依赖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50" b="1" i="0" u="none" strike="noStrike" cap="none" dirty="0" err="1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Infrastructure_Package</a:t>
            </a:r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9" name="Google Shape;559;p4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42"/>
          <p:cNvSpPr txBox="1"/>
          <p:nvPr/>
        </p:nvSpPr>
        <p:spPr>
          <a:xfrm>
            <a:off x="762000" y="571500"/>
            <a:ext cx="1120140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避免依赖地狱：消除循环依赖的艺术</a:t>
            </a:r>
            <a:endParaRPr/>
          </a:p>
        </p:txBody>
      </p:sp>
      <p:sp>
        <p:nvSpPr>
          <p:cNvPr id="561" name="Google Shape;561;p42"/>
          <p:cNvSpPr/>
          <p:nvPr/>
        </p:nvSpPr>
        <p:spPr>
          <a:xfrm>
            <a:off x="762000" y="1200150"/>
            <a:ext cx="10668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42"/>
          <p:cNvSpPr/>
          <p:nvPr/>
        </p:nvSpPr>
        <p:spPr>
          <a:xfrm>
            <a:off x="762000" y="121920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42"/>
          <p:cNvSpPr txBox="1"/>
          <p:nvPr/>
        </p:nvSpPr>
        <p:spPr>
          <a:xfrm>
            <a:off x="762000" y="4413944"/>
            <a:ext cx="106680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消解重构手段：</a:t>
            </a:r>
            <a:r>
              <a:rPr lang="en-US" sz="1200" b="0" i="0" u="none" strike="noStrike" cap="non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1. 抽取共同依赖的核心元素形成一个全新的子依赖包； 2. 在包之间部署高阶设计模式中的接口层，使逆向依赖发生</a:t>
            </a:r>
            <a:r>
              <a:rPr lang="en-US" sz="1200" b="1" i="0" u="none" strike="noStrike" cap="non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倒置（Dependency Inversion）</a:t>
            </a:r>
            <a:r>
              <a:rPr lang="en-US" sz="1200" b="0" i="0" u="none" strike="noStrike" cap="non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/>
          </a:p>
        </p:txBody>
      </p:sp>
      <p:sp>
        <p:nvSpPr>
          <p:cNvPr id="564" name="Google Shape;564;p42"/>
          <p:cNvSpPr txBox="1"/>
          <p:nvPr/>
        </p:nvSpPr>
        <p:spPr>
          <a:xfrm>
            <a:off x="1809750" y="2937569"/>
            <a:ext cx="85725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1" u="none" strike="noStrike" cap="none" dirty="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 A </a:t>
            </a:r>
            <a:r>
              <a:rPr lang="en-US" sz="2100" b="0" i="1" u="none" strike="noStrike" cap="none" dirty="0" err="1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依赖</a:t>
            </a:r>
            <a:r>
              <a:rPr lang="en-US" sz="2100" b="0" i="1" u="none" strike="noStrike" cap="none" dirty="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 B，B </a:t>
            </a:r>
            <a:r>
              <a:rPr lang="en-US" sz="2100" b="0" i="1" u="none" strike="noStrike" cap="none" dirty="0" err="1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依赖</a:t>
            </a:r>
            <a:r>
              <a:rPr lang="en-US" sz="2100" b="0" i="1" u="none" strike="noStrike" cap="none" dirty="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2100" b="0" i="1" u="none" strike="noStrike" cap="none" dirty="0" err="1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C，而</a:t>
            </a:r>
            <a:r>
              <a:rPr lang="en-US" sz="2100" b="0" i="1" u="none" strike="noStrike" cap="none" dirty="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 C </a:t>
            </a:r>
            <a:r>
              <a:rPr lang="en-US" sz="2100" b="0" i="1" u="none" strike="noStrike" cap="none" dirty="0" err="1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居然又悄无声息地反过来依赖了</a:t>
            </a:r>
            <a:r>
              <a:rPr lang="en-US" sz="2100" b="0" i="1" u="none" strike="noStrike" cap="none" dirty="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2100" b="0" i="1" u="none" strike="noStrike" cap="none" dirty="0" err="1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A。这便是软件架构噩梦：循环依赖（Circular</a:t>
            </a:r>
            <a:r>
              <a:rPr lang="en-US" sz="2100" b="0" i="1" u="none" strike="noStrike" cap="none" dirty="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 Dependency）。 </a:t>
            </a:r>
            <a:endParaRPr dirty="0"/>
          </a:p>
        </p:txBody>
      </p:sp>
      <p:sp>
        <p:nvSpPr>
          <p:cNvPr id="565" name="Google Shape;565;p42"/>
          <p:cNvSpPr txBox="1"/>
          <p:nvPr/>
        </p:nvSpPr>
        <p:spPr>
          <a:xfrm>
            <a:off x="4039344" y="3937694"/>
            <a:ext cx="4113162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—— 依赖非循环原则 (ADP - Acyclic Dependencies Principle)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1" name="Google Shape;571;p4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p4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945034"/>
            <a:ext cx="10668000" cy="3949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p4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52525" y="2893665"/>
            <a:ext cx="988695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p4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52525" y="3579465"/>
            <a:ext cx="988695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p4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52525" y="4265265"/>
            <a:ext cx="988695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" name="Google Shape;576;p4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52525" y="4951065"/>
            <a:ext cx="9886950" cy="5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43"/>
          <p:cNvSpPr txBox="1"/>
          <p:nvPr/>
        </p:nvSpPr>
        <p:spPr>
          <a:xfrm>
            <a:off x="762000" y="604621"/>
            <a:ext cx="112014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 err="1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随堂测试</a:t>
            </a:r>
            <a:r>
              <a:rPr lang="en-US" sz="2850" b="1" i="0" u="none" strike="noStrike" cap="none" dirty="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 4：包导入可见性</a:t>
            </a:r>
            <a:endParaRPr dirty="0"/>
          </a:p>
        </p:txBody>
      </p:sp>
      <p:sp>
        <p:nvSpPr>
          <p:cNvPr id="578" name="Google Shape;578;p43"/>
          <p:cNvSpPr/>
          <p:nvPr/>
        </p:nvSpPr>
        <p:spPr>
          <a:xfrm>
            <a:off x="762000" y="1200150"/>
            <a:ext cx="10668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43"/>
          <p:cNvSpPr/>
          <p:nvPr/>
        </p:nvSpPr>
        <p:spPr>
          <a:xfrm>
            <a:off x="762000" y="121920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43"/>
          <p:cNvSpPr txBox="1"/>
          <p:nvPr/>
        </p:nvSpPr>
        <p:spPr>
          <a:xfrm>
            <a:off x="1152525" y="2335559"/>
            <a:ext cx="98869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4. 关于包图中的 &lt;&gt;（私有导入）依赖，以下哪种说法完全正确？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5" name="Google Shape;585;p4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6" name="Google Shape;586;p4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2500312"/>
            <a:ext cx="5191125" cy="283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7" name="Google Shape;587;p4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2500312"/>
            <a:ext cx="5191125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" name="Google Shape;588;p4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3186112"/>
            <a:ext cx="5191125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9" name="Google Shape;589;p4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4100512"/>
            <a:ext cx="5191125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p4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2000" y="4786312"/>
            <a:ext cx="5191125" cy="5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762000" y="571500"/>
            <a:ext cx="1120140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随堂测试 4：解析与学术原理</a:t>
            </a:r>
            <a:endParaRPr/>
          </a:p>
        </p:txBody>
      </p:sp>
      <p:sp>
        <p:nvSpPr>
          <p:cNvPr id="592" name="Google Shape;592;p44"/>
          <p:cNvSpPr/>
          <p:nvPr/>
        </p:nvSpPr>
        <p:spPr>
          <a:xfrm>
            <a:off x="762000" y="1200150"/>
            <a:ext cx="10668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44"/>
          <p:cNvSpPr/>
          <p:nvPr/>
        </p:nvSpPr>
        <p:spPr>
          <a:xfrm>
            <a:off x="762000" y="121920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44"/>
          <p:cNvSpPr txBox="1"/>
          <p:nvPr/>
        </p:nvSpPr>
        <p:spPr>
          <a:xfrm>
            <a:off x="6562725" y="3241476"/>
            <a:ext cx="4810601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82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学术解析：</a:t>
            </a:r>
            <a:endParaRPr/>
          </a:p>
        </p:txBody>
      </p:sp>
      <p:sp>
        <p:nvSpPr>
          <p:cNvPr id="595" name="Google Shape;595;p44"/>
          <p:cNvSpPr txBox="1"/>
          <p:nvPr/>
        </p:nvSpPr>
        <p:spPr>
          <a:xfrm>
            <a:off x="6562725" y="3612951"/>
            <a:ext cx="4581525" cy="984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7534E"/>
                </a:solidFill>
                <a:latin typeface="Noto Sans SC"/>
                <a:ea typeface="Noto Sans SC"/>
                <a:cs typeface="Noto Sans SC"/>
                <a:sym typeface="Noto Sans SC"/>
              </a:rPr>
              <a:t>&lt;&gt; 属于</a:t>
            </a:r>
            <a:r>
              <a:rPr lang="en-US" sz="1200" b="1" i="0" u="none" strike="noStrike" cap="none">
                <a:solidFill>
                  <a:srgbClr val="57534E"/>
                </a:solidFill>
                <a:latin typeface="Noto Sans SC"/>
                <a:ea typeface="Noto Sans SC"/>
                <a:cs typeface="Noto Sans SC"/>
                <a:sym typeface="Noto Sans SC"/>
              </a:rPr>
              <a:t>私有导入</a:t>
            </a:r>
            <a:r>
              <a:rPr lang="en-US" sz="1200" b="0" i="0" u="none" strike="noStrike" cap="none">
                <a:solidFill>
                  <a:srgbClr val="57534E"/>
                </a:solidFill>
                <a:latin typeface="Noto Sans SC"/>
                <a:ea typeface="Noto Sans SC"/>
                <a:cs typeface="Noto Sans SC"/>
                <a:sym typeface="Noto Sans SC"/>
              </a:rPr>
              <a:t>（Private Import）。目标包内部的公开元素被私有导入到源包后，在源包内的地位相当于</a:t>
            </a:r>
            <a:r>
              <a:rPr lang="en-US" sz="1200" b="1" i="0" u="none" strike="noStrike" cap="none">
                <a:solidFill>
                  <a:srgbClr val="57534E"/>
                </a:solidFill>
                <a:latin typeface="Noto Sans SC"/>
                <a:ea typeface="Noto Sans SC"/>
                <a:cs typeface="Noto Sans SC"/>
                <a:sym typeface="Noto Sans SC"/>
              </a:rPr>
              <a:t>私有（Private）</a:t>
            </a:r>
            <a:r>
              <a:rPr lang="en-US" sz="1200" b="0" i="0" u="none" strike="noStrike" cap="none">
                <a:solidFill>
                  <a:srgbClr val="57534E"/>
                </a:solidFill>
                <a:latin typeface="Noto Sans SC"/>
                <a:ea typeface="Noto Sans SC"/>
                <a:cs typeface="Noto Sans SC"/>
                <a:sym typeface="Noto Sans SC"/>
              </a:rPr>
              <a:t>元素。若有第三方的包继续依赖该源包，将无法传递访问这些被私有导入的元素。这有力地防止了大系统模型之间的依赖无休止泛滥和透传。</a:t>
            </a:r>
            <a:endParaRPr/>
          </a:p>
        </p:txBody>
      </p:sp>
      <p:pic>
        <p:nvPicPr>
          <p:cNvPr id="596" name="Google Shape;596;p4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62725" y="3270051"/>
            <a:ext cx="148232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1" name="Google Shape;601;p4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2" name="Google Shape;602;p4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945034"/>
            <a:ext cx="10668000" cy="3949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4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52525" y="2893665"/>
            <a:ext cx="988695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4" name="Google Shape;604;p4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52525" y="3579465"/>
            <a:ext cx="988695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5" name="Google Shape;605;p4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52525" y="4265265"/>
            <a:ext cx="988695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p4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52525" y="4951065"/>
            <a:ext cx="9886950" cy="5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 txBox="1"/>
          <p:nvPr/>
        </p:nvSpPr>
        <p:spPr>
          <a:xfrm>
            <a:off x="762000" y="604621"/>
            <a:ext cx="112014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 err="1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随堂测试</a:t>
            </a:r>
            <a:r>
              <a:rPr lang="en-US" sz="2850" b="1" i="0" u="none" strike="noStrike" cap="none" dirty="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 5：包图核心作用</a:t>
            </a:r>
            <a:endParaRPr dirty="0"/>
          </a:p>
        </p:txBody>
      </p:sp>
      <p:sp>
        <p:nvSpPr>
          <p:cNvPr id="608" name="Google Shape;608;p45"/>
          <p:cNvSpPr/>
          <p:nvPr/>
        </p:nvSpPr>
        <p:spPr>
          <a:xfrm>
            <a:off x="762000" y="1200150"/>
            <a:ext cx="10668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45"/>
          <p:cNvSpPr/>
          <p:nvPr/>
        </p:nvSpPr>
        <p:spPr>
          <a:xfrm>
            <a:off x="762000" y="121920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45"/>
          <p:cNvSpPr txBox="1"/>
          <p:nvPr/>
        </p:nvSpPr>
        <p:spPr>
          <a:xfrm>
            <a:off x="1152525" y="2335559"/>
            <a:ext cx="98869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5. 在大规模工业级软件开发中，包图（Package Diagram）最核心和最重要的作用是：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" name="Google Shape;615;p4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p4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2500312"/>
            <a:ext cx="5191125" cy="283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4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2500312"/>
            <a:ext cx="5191125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8" name="Google Shape;618;p4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3186112"/>
            <a:ext cx="5191125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9" name="Google Shape;619;p4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4100512"/>
            <a:ext cx="5191125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0" name="Google Shape;620;p4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2000" y="4786312"/>
            <a:ext cx="5191125" cy="5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Google Shape;621;p46"/>
          <p:cNvSpPr txBox="1"/>
          <p:nvPr/>
        </p:nvSpPr>
        <p:spPr>
          <a:xfrm>
            <a:off x="762000" y="571500"/>
            <a:ext cx="1120140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随堂测试 5：解析与学术原理</a:t>
            </a:r>
            <a:endParaRPr/>
          </a:p>
        </p:txBody>
      </p:sp>
      <p:sp>
        <p:nvSpPr>
          <p:cNvPr id="622" name="Google Shape;622;p46"/>
          <p:cNvSpPr/>
          <p:nvPr/>
        </p:nvSpPr>
        <p:spPr>
          <a:xfrm>
            <a:off x="762000" y="1200150"/>
            <a:ext cx="10668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46"/>
          <p:cNvSpPr/>
          <p:nvPr/>
        </p:nvSpPr>
        <p:spPr>
          <a:xfrm>
            <a:off x="762000" y="121920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46"/>
          <p:cNvSpPr txBox="1"/>
          <p:nvPr/>
        </p:nvSpPr>
        <p:spPr>
          <a:xfrm>
            <a:off x="6562725" y="3124348"/>
            <a:ext cx="4810601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82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学术解析：</a:t>
            </a:r>
            <a:endParaRPr/>
          </a:p>
        </p:txBody>
      </p:sp>
      <p:sp>
        <p:nvSpPr>
          <p:cNvPr id="625" name="Google Shape;625;p46"/>
          <p:cNvSpPr txBox="1"/>
          <p:nvPr/>
        </p:nvSpPr>
        <p:spPr>
          <a:xfrm>
            <a:off x="6562725" y="3495823"/>
            <a:ext cx="4581525" cy="1218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7534E"/>
                </a:solidFill>
                <a:latin typeface="Noto Sans SC"/>
                <a:ea typeface="Noto Sans SC"/>
                <a:cs typeface="Noto Sans SC"/>
                <a:sym typeface="Noto Sans SC"/>
              </a:rPr>
              <a:t>在大型企业级应用开发中，类、接口的数量动辄成千上万，如果不进行合理的逻辑封装隔离，底层的类图将彻底退化为无法看清的“意粉式设计”。包图提供了高层级分组文件夹，重点通过</a:t>
            </a:r>
            <a:r>
              <a:rPr lang="en-US" sz="1200" b="1" i="0" u="none" strike="noStrike" cap="none">
                <a:solidFill>
                  <a:srgbClr val="57534E"/>
                </a:solidFill>
                <a:latin typeface="Noto Sans SC"/>
                <a:ea typeface="Noto Sans SC"/>
                <a:cs typeface="Noto Sans SC"/>
                <a:sym typeface="Noto Sans SC"/>
              </a:rPr>
              <a:t>包的单向依赖约束</a:t>
            </a:r>
            <a:r>
              <a:rPr lang="en-US" sz="1200" b="0" i="0" u="none" strike="noStrike" cap="none">
                <a:solidFill>
                  <a:srgbClr val="57534E"/>
                </a:solidFill>
                <a:latin typeface="Noto Sans SC"/>
                <a:ea typeface="Noto Sans SC"/>
                <a:cs typeface="Noto Sans SC"/>
                <a:sym typeface="Noto Sans SC"/>
              </a:rPr>
              <a:t>来阻断蔓延修改。这对于消除循环依赖、拆解单体架构有着至关重要的架构建模意义。</a:t>
            </a:r>
            <a:endParaRPr/>
          </a:p>
        </p:txBody>
      </p:sp>
      <p:pic>
        <p:nvPicPr>
          <p:cNvPr id="626" name="Google Shape;626;p4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62725" y="3152923"/>
            <a:ext cx="148232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14">
          <a:extLst>
            <a:ext uri="{FF2B5EF4-FFF2-40B4-BE49-F238E27FC236}">
              <a16:creationId xmlns:a16="http://schemas.microsoft.com/office/drawing/2014/main" id="{D1EF26A2-AAA9-F2A1-3C65-25856747A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" name="Google Shape;615;p46" descr="image.png">
            <a:extLst>
              <a:ext uri="{FF2B5EF4-FFF2-40B4-BE49-F238E27FC236}">
                <a16:creationId xmlns:a16="http://schemas.microsoft.com/office/drawing/2014/main" id="{36E918F2-5558-6E9C-AAE7-0D3450758A8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Google Shape;621;p46">
            <a:extLst>
              <a:ext uri="{FF2B5EF4-FFF2-40B4-BE49-F238E27FC236}">
                <a16:creationId xmlns:a16="http://schemas.microsoft.com/office/drawing/2014/main" id="{33CD0842-6CDF-3FB3-C704-083745B87AF1}"/>
              </a:ext>
            </a:extLst>
          </p:cNvPr>
          <p:cNvSpPr txBox="1"/>
          <p:nvPr/>
        </p:nvSpPr>
        <p:spPr>
          <a:xfrm>
            <a:off x="762000" y="604621"/>
            <a:ext cx="112014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850" b="1" i="0" u="none" strike="noStrike" cap="none" dirty="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参考文献</a:t>
            </a:r>
            <a:endParaRPr lang="zh-CN" altLang="en-US" dirty="0"/>
          </a:p>
        </p:txBody>
      </p:sp>
      <p:sp>
        <p:nvSpPr>
          <p:cNvPr id="622" name="Google Shape;622;p46">
            <a:extLst>
              <a:ext uri="{FF2B5EF4-FFF2-40B4-BE49-F238E27FC236}">
                <a16:creationId xmlns:a16="http://schemas.microsoft.com/office/drawing/2014/main" id="{5DE8EE00-BB82-7DD7-511B-A95F01046451}"/>
              </a:ext>
            </a:extLst>
          </p:cNvPr>
          <p:cNvSpPr/>
          <p:nvPr/>
        </p:nvSpPr>
        <p:spPr>
          <a:xfrm>
            <a:off x="762000" y="1200150"/>
            <a:ext cx="10668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46">
            <a:extLst>
              <a:ext uri="{FF2B5EF4-FFF2-40B4-BE49-F238E27FC236}">
                <a16:creationId xmlns:a16="http://schemas.microsoft.com/office/drawing/2014/main" id="{D9A253CA-0C12-7FE3-DA17-0CDC08C8D3D6}"/>
              </a:ext>
            </a:extLst>
          </p:cNvPr>
          <p:cNvSpPr/>
          <p:nvPr/>
        </p:nvSpPr>
        <p:spPr>
          <a:xfrm>
            <a:off x="762000" y="121920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A0C71D3-2147-16D8-3111-8C3EFB0466CB}"/>
              </a:ext>
            </a:extLst>
          </p:cNvPr>
          <p:cNvSpPr txBox="1"/>
          <p:nvPr/>
        </p:nvSpPr>
        <p:spPr>
          <a:xfrm>
            <a:off x="838200" y="1844255"/>
            <a:ext cx="10591800" cy="4212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00" algn="l" latinLnBrk="1">
              <a:lnSpc>
                <a:spcPts val="2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[1]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贺慧琳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,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王志刚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.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基于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UML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的构件建模方法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[J].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信息技术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, 2005, (12): 38-40. DOI:10.13274/j.cnki.hdzj.2005.12.013 ﻿.</a:t>
            </a:r>
          </a:p>
          <a:p>
            <a:pPr marL="36000" algn="l" latinLnBrk="1">
              <a:lnSpc>
                <a:spcPts val="2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36000" algn="l" latinLnBrk="1">
              <a:lnSpc>
                <a:spcPts val="2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[2]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孔军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,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孙怡宁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,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蒋敏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,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等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.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基于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UML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的系统需求分析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[J].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计算机工程与应用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, 2003, (15): 217-219.</a:t>
            </a:r>
          </a:p>
          <a:p>
            <a:pPr marL="36000" algn="l" latinLnBrk="1">
              <a:lnSpc>
                <a:spcPts val="2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36000" algn="l" latinLnBrk="1">
              <a:lnSpc>
                <a:spcPts val="2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[3]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安建伟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.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基于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UML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的软件系统建模研究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[D].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西南交通大学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, 2002.</a:t>
            </a:r>
          </a:p>
          <a:p>
            <a:pPr marL="36000" algn="l" latinLnBrk="1">
              <a:lnSpc>
                <a:spcPts val="2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36000" algn="l" latinLnBrk="1">
              <a:lnSpc>
                <a:spcPts val="2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[4]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吴水秀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,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戴先宇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,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张石林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.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面向对象的标准建模语言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UML [J].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计算机与现代化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, 2000, (03): 26-29+44.</a:t>
            </a:r>
          </a:p>
          <a:p>
            <a:pPr marL="36000" algn="l" latinLnBrk="1">
              <a:lnSpc>
                <a:spcPts val="2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36000" algn="l" latinLnBrk="1">
              <a:lnSpc>
                <a:spcPts val="2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[5]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王文玲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,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金茂忠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. UML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模型及其应用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[J].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计算机工程与应用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, 1999, (11): 47-50.</a:t>
            </a:r>
          </a:p>
          <a:p>
            <a:pPr marL="36000" algn="l" latinLnBrk="1">
              <a:lnSpc>
                <a:spcPts val="2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36000" algn="l" latinLnBrk="1">
              <a:lnSpc>
                <a:spcPts val="2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[6]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邵维忠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,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梅宏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.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统一建模语言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UML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述评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[J].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计算机研究与发展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, 1999, (04): 2-11.</a:t>
            </a:r>
          </a:p>
        </p:txBody>
      </p:sp>
    </p:spTree>
    <p:extLst>
      <p:ext uri="{BB962C8B-B14F-4D97-AF65-F5344CB8AC3E}">
        <p14:creationId xmlns:p14="http://schemas.microsoft.com/office/powerpoint/2010/main" val="27824417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14">
          <a:extLst>
            <a:ext uri="{FF2B5EF4-FFF2-40B4-BE49-F238E27FC236}">
              <a16:creationId xmlns:a16="http://schemas.microsoft.com/office/drawing/2014/main" id="{267B244B-80FA-F3F2-D79A-237813871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" name="Google Shape;615;p46" descr="image.png">
            <a:extLst>
              <a:ext uri="{FF2B5EF4-FFF2-40B4-BE49-F238E27FC236}">
                <a16:creationId xmlns:a16="http://schemas.microsoft.com/office/drawing/2014/main" id="{50B658D3-EF1B-C903-1022-012B9F9127C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Google Shape;621;p46">
            <a:extLst>
              <a:ext uri="{FF2B5EF4-FFF2-40B4-BE49-F238E27FC236}">
                <a16:creationId xmlns:a16="http://schemas.microsoft.com/office/drawing/2014/main" id="{26C9D066-7028-D841-1BE7-21928CDC5BEF}"/>
              </a:ext>
            </a:extLst>
          </p:cNvPr>
          <p:cNvSpPr txBox="1"/>
          <p:nvPr/>
        </p:nvSpPr>
        <p:spPr>
          <a:xfrm>
            <a:off x="762000" y="604621"/>
            <a:ext cx="112014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850" b="1" i="0" u="none" strike="noStrike" cap="none" dirty="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分工与评分</a:t>
            </a:r>
            <a:endParaRPr dirty="0"/>
          </a:p>
        </p:txBody>
      </p:sp>
      <p:sp>
        <p:nvSpPr>
          <p:cNvPr id="622" name="Google Shape;622;p46">
            <a:extLst>
              <a:ext uri="{FF2B5EF4-FFF2-40B4-BE49-F238E27FC236}">
                <a16:creationId xmlns:a16="http://schemas.microsoft.com/office/drawing/2014/main" id="{7AB84F7E-C9CF-053A-265B-DA3225C13247}"/>
              </a:ext>
            </a:extLst>
          </p:cNvPr>
          <p:cNvSpPr/>
          <p:nvPr/>
        </p:nvSpPr>
        <p:spPr>
          <a:xfrm>
            <a:off x="762000" y="1200150"/>
            <a:ext cx="10668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46">
            <a:extLst>
              <a:ext uri="{FF2B5EF4-FFF2-40B4-BE49-F238E27FC236}">
                <a16:creationId xmlns:a16="http://schemas.microsoft.com/office/drawing/2014/main" id="{79CA3A5B-A719-E3E2-5932-490EF5C6DB4F}"/>
              </a:ext>
            </a:extLst>
          </p:cNvPr>
          <p:cNvSpPr/>
          <p:nvPr/>
        </p:nvSpPr>
        <p:spPr>
          <a:xfrm>
            <a:off x="762000" y="121920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A6EDAB3-E240-21CD-A363-20A0736559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0098" y="2243225"/>
            <a:ext cx="8071804" cy="237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787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1474</Words>
  <Application>Microsoft Office PowerPoint</Application>
  <PresentationFormat>宽屏</PresentationFormat>
  <Paragraphs>203</Paragraphs>
  <Slides>36</Slides>
  <Notes>36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0" baseType="lpstr">
      <vt:lpstr>Noto Sans SC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Office</cp:lastModifiedBy>
  <cp:revision>6</cp:revision>
  <dcterms:modified xsi:type="dcterms:W3CDTF">2026-05-24T11:32:36Z</dcterms:modified>
</cp:coreProperties>
</file>