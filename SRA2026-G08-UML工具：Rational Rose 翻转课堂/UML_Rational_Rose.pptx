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39"/>
  </p:notesMasterIdLst>
  <p:sldIdLst>
    <p:sldId id="256" r:id="rId3"/>
    <p:sldId id="29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89" r:id="rId18"/>
    <p:sldId id="271" r:id="rId19"/>
    <p:sldId id="272" r:id="rId20"/>
    <p:sldId id="273" r:id="rId21"/>
    <p:sldId id="274" r:id="rId22"/>
    <p:sldId id="290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93" r:id="rId37"/>
    <p:sldId id="292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700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9534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0885" y="1969638"/>
            <a:ext cx="10149840" cy="1143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4C7"/>
                </a:solidFill>
              </a:rPr>
              <a:t>UML 工具：Rational Rose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0284C7"/>
                </a:solidFill>
              </a:rPr>
              <a:t>翻转课堂实战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843845" y="347839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4748B"/>
                </a:solidFill>
              </a:rPr>
              <a:t>从理论到实操：构建企业级软件架构模型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1 / 36</a:t>
            </a:r>
            <a:endParaRPr lang="en-US" sz="1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283" y="2969198"/>
            <a:ext cx="3881043" cy="38887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>
            <a:spLocks/>
          </p:cNvSpPr>
          <p:nvPr/>
        </p:nvSpPr>
        <p:spPr>
          <a:xfrm>
            <a:off x="1071397" y="2766621"/>
            <a:ext cx="3008380" cy="6623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4267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267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en-GB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4559832" y="1316765"/>
            <a:ext cx="1192345" cy="666786"/>
            <a:chOff x="2215144" y="927951"/>
            <a:chExt cx="1244730" cy="916847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7">
                <a:latin typeface="Impact" panose="020B0806030902050204" pitchFamily="34" charset="0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927951"/>
              <a:ext cx="1066799" cy="916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3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3733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559832" y="2222918"/>
            <a:ext cx="1192345" cy="672218"/>
            <a:chOff x="2215144" y="1952311"/>
            <a:chExt cx="1244730" cy="924318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7">
                <a:latin typeface="Impact" panose="020B0806030902050204" pitchFamily="34" charset="0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1952311"/>
              <a:ext cx="1066799" cy="916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3" dirty="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733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4559832" y="3158715"/>
            <a:ext cx="1192345" cy="666786"/>
            <a:chOff x="2215144" y="3018134"/>
            <a:chExt cx="1244730" cy="916848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7">
                <a:latin typeface="Impact" panose="020B0806030902050204" pitchFamily="34" charset="0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018134"/>
              <a:ext cx="1066799" cy="916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3" dirty="0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733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4559832" y="4068701"/>
            <a:ext cx="1192345" cy="677512"/>
            <a:chOff x="2215144" y="4047039"/>
            <a:chExt cx="1244730" cy="931598"/>
          </a:xfrm>
        </p:grpSpPr>
        <p:sp>
          <p:nvSpPr>
            <p:cNvPr id="55" name="平行四边形 54"/>
            <p:cNvSpPr/>
            <p:nvPr/>
          </p:nvSpPr>
          <p:spPr>
            <a:xfrm>
              <a:off x="2215144" y="4135856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7">
                <a:latin typeface="Impact" panose="020B0806030902050204" pitchFamily="34" charset="0"/>
              </a:endParaRPr>
            </a:p>
          </p:txBody>
        </p:sp>
        <p:sp>
          <p:nvSpPr>
            <p:cNvPr id="56" name="文本框 12"/>
            <p:cNvSpPr txBox="1"/>
            <p:nvPr/>
          </p:nvSpPr>
          <p:spPr>
            <a:xfrm>
              <a:off x="2393075" y="4047039"/>
              <a:ext cx="1066799" cy="916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3" dirty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  <a:endParaRPr lang="zh-CN" altLang="en-US" sz="3733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4559829" y="5001421"/>
            <a:ext cx="1179315" cy="670313"/>
            <a:chOff x="2215144" y="5107938"/>
            <a:chExt cx="1231128" cy="921702"/>
          </a:xfrm>
        </p:grpSpPr>
        <p:sp>
          <p:nvSpPr>
            <p:cNvPr id="58" name="平行四边形 57"/>
            <p:cNvSpPr/>
            <p:nvPr/>
          </p:nvSpPr>
          <p:spPr>
            <a:xfrm>
              <a:off x="2215144" y="5186859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7">
                <a:latin typeface="Impact" panose="020B0806030902050204" pitchFamily="34" charset="0"/>
              </a:endParaRPr>
            </a:p>
          </p:txBody>
        </p:sp>
        <p:sp>
          <p:nvSpPr>
            <p:cNvPr id="59" name="文本框 13"/>
            <p:cNvSpPr txBox="1"/>
            <p:nvPr/>
          </p:nvSpPr>
          <p:spPr>
            <a:xfrm>
              <a:off x="2379473" y="5107938"/>
              <a:ext cx="1066799" cy="916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3" dirty="0">
                  <a:solidFill>
                    <a:schemeClr val="bg1"/>
                  </a:solidFill>
                  <a:latin typeface="Impact" panose="020B0806030902050204" pitchFamily="34" charset="0"/>
                </a:rPr>
                <a:t>05</a:t>
              </a:r>
              <a:endParaRPr lang="zh-CN" altLang="en-US" sz="3733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5465501" y="1334514"/>
            <a:ext cx="5143000" cy="612920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406783"/>
            </a:xfrm>
            <a:prstGeom prst="rect">
              <a:avLst/>
            </a:prstGeom>
            <a:ln w="15875"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软件概述与建模背景</a:t>
              </a:r>
              <a:endParaRPr lang="en-GB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zh-CN" altLang="en-US" sz="2133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5465501" y="2260052"/>
            <a:ext cx="5143000" cy="612920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406783"/>
            </a:xfrm>
            <a:prstGeom prst="rect">
              <a:avLst/>
            </a:prstGeom>
            <a:ln w="15875"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界面布局与基本操作</a:t>
              </a:r>
              <a:endParaRPr lang="en-GB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zh-CN" altLang="en-US" sz="2133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5465501" y="3185589"/>
            <a:ext cx="5143000" cy="612920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24395"/>
              <a:ext cx="2827146" cy="406783"/>
            </a:xfrm>
            <a:prstGeom prst="rect">
              <a:avLst/>
            </a:prstGeom>
            <a:ln w="15875"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核心建模功能实操</a:t>
              </a:r>
              <a:endParaRPr lang="en-GB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zh-CN" altLang="en-US" sz="2133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5465501" y="4111126"/>
            <a:ext cx="5143000" cy="612920"/>
            <a:chOff x="4315150" y="3035884"/>
            <a:chExt cx="3857250" cy="540057"/>
          </a:xfrm>
        </p:grpSpPr>
        <p:sp>
          <p:nvSpPr>
            <p:cNvPr id="70" name="矩形 69"/>
            <p:cNvSpPr/>
            <p:nvPr/>
          </p:nvSpPr>
          <p:spPr>
            <a:xfrm>
              <a:off x="4841196" y="3118548"/>
              <a:ext cx="2827147" cy="406783"/>
            </a:xfrm>
            <a:prstGeom prst="rect">
              <a:avLst/>
            </a:prstGeom>
            <a:ln w="15875"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高级特性</a:t>
              </a:r>
              <a:r>
                <a: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双向工程</a:t>
              </a:r>
              <a:endParaRPr lang="en-GB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平行四边形 70"/>
            <p:cNvSpPr/>
            <p:nvPr/>
          </p:nvSpPr>
          <p:spPr>
            <a:xfrm>
              <a:off x="4315150" y="3035884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zh-CN" altLang="en-US" sz="2133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5465501" y="5036666"/>
            <a:ext cx="5143000" cy="612920"/>
            <a:chOff x="4315150" y="3730038"/>
            <a:chExt cx="3857250" cy="540057"/>
          </a:xfrm>
        </p:grpSpPr>
        <p:sp>
          <p:nvSpPr>
            <p:cNvPr id="73" name="矩形 72"/>
            <p:cNvSpPr/>
            <p:nvPr/>
          </p:nvSpPr>
          <p:spPr>
            <a:xfrm>
              <a:off x="4841197" y="3812702"/>
              <a:ext cx="2827146" cy="406783"/>
            </a:xfrm>
            <a:prstGeom prst="rect">
              <a:avLst/>
            </a:prstGeom>
            <a:ln w="15875"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总结、对比与思考</a:t>
              </a:r>
              <a:endParaRPr lang="en-GB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平行四边形 73"/>
            <p:cNvSpPr/>
            <p:nvPr/>
          </p:nvSpPr>
          <p:spPr>
            <a:xfrm>
              <a:off x="4315150" y="3730038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zh-CN" altLang="en-US" sz="2133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1" name="等腰三角形 80"/>
          <p:cNvSpPr/>
          <p:nvPr/>
        </p:nvSpPr>
        <p:spPr>
          <a:xfrm>
            <a:off x="-126467" y="4437500"/>
            <a:ext cx="3458403" cy="2584187"/>
          </a:xfrm>
          <a:prstGeom prst="triangle">
            <a:avLst/>
          </a:prstGeom>
          <a:solidFill>
            <a:srgbClr val="005DA2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2" name="等腰三角形 81"/>
          <p:cNvSpPr/>
          <p:nvPr/>
        </p:nvSpPr>
        <p:spPr>
          <a:xfrm>
            <a:off x="1348201" y="5033298"/>
            <a:ext cx="2607127" cy="1948097"/>
          </a:xfrm>
          <a:prstGeom prst="triangle">
            <a:avLst/>
          </a:prstGeom>
          <a:solidFill>
            <a:srgbClr val="005DA2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13933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flip dir="r"/>
      </p:transition>
    </mc:Choice>
    <mc:Fallback xmlns="">
      <p:transition spd="slow" advClick="0" advTm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9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7" dur="500"/>
                                            <p:tgtEl>
                                              <p:spTgt spid="1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9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1" dur="500"/>
                                            <p:tgtEl>
                                              <p:spTgt spid="1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2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1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0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9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grpId="0" nodeType="withEffect" p14:presetBounceEnd="32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59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60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4" fill="hold" grpId="0" nodeType="withEffect" p14:presetBounceEnd="3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63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64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build="p"/>
          <p:bldP spid="81" grpId="0" animBg="1"/>
          <p:bldP spid="8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9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7" dur="500"/>
                                            <p:tgtEl>
                                              <p:spTgt spid="1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9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1" dur="500"/>
                                            <p:tgtEl>
                                              <p:spTgt spid="1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2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1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0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9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4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build="p"/>
          <p:bldP spid="81" grpId="0" animBg="1"/>
          <p:bldP spid="82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4028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01. 软件概述与建模背景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88720" y="3154680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BAE6FD"/>
                </a:solidFill>
              </a:rPr>
              <a:t>为软件工程打下坚实的基石：为什么我们需要建模？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2 / 36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什么是 UML 与 Rational Rose 的关系？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</a:rPr>
              <a:t>UML (统一建模语言)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</a:rPr>
              <a:t>UML 是软件工程的“世界语”。它是一套标准的图形化符号规范，用于描述软件系统的蓝图。但 UML 本身只是“语法”和“草图”。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</a:rPr>
              <a:t>Rational Rose (建模工具)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4846320" cy="1280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</a:rPr>
              <a:t>Rational Rose 是将 UML 规范“落地”的执行者。它将抽象的 UML 语法转化为可视化的设计环境，让开发团队可以真正在电脑上绘制、管理和验证架构图。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3 / 36</a:t>
            </a:r>
            <a:endParaRPr lang="en-US" sz="1000" dirty="0"/>
          </a:p>
        </p:txBody>
      </p:sp>
      <p:pic>
        <p:nvPicPr>
          <p:cNvPr id="25" name="图片 24" descr="post_object_image_32137491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110" y="1325830"/>
            <a:ext cx="5934309" cy="3611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Rational Rose 的历史地位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28" y="1719475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</a:rPr>
              <a:t>作为 IBM 推出的经典企业级工具，Rational Rose 在软件工程史上具有不可替代的里程碑意义。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388" y="2313835"/>
            <a:ext cx="10058400" cy="2468880"/>
          </a:xfrm>
          <a:prstGeom prst="roundRect">
            <a:avLst>
              <a:gd name="adj" fmla="val 1481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80" y="2313869"/>
            <a:ext cx="9729216" cy="24688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• 先驱者：UML 的三位创始人（三剑客）最初就职于 Rational 公司，Rose 是最正统的 UML 官方血脉工具。</a:t>
            </a: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• 企业级重器：在早期的 Java EE 和 C++ 大型企业系统开发中，它是架构师的标准配备。</a:t>
            </a: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• 学习标杆：虽然现在市场上被 EA、StarUML 或各种轻量级插件（如 PlantUML）分流，但 Rose 对 UML 语法的严谨性约束和底层逻辑映射，依然是高校和初学者理解面向对象设计的最佳教科书。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4 / 36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4"/>
          <p:cNvSpPr/>
          <p:nvPr/>
        </p:nvSpPr>
        <p:spPr>
          <a:xfrm>
            <a:off x="5927536" y="1835867"/>
            <a:ext cx="5152773" cy="2123291"/>
          </a:xfrm>
          <a:prstGeom prst="roundRect">
            <a:avLst>
              <a:gd name="adj" fmla="val 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5" name="Shape 4"/>
          <p:cNvSpPr/>
          <p:nvPr/>
        </p:nvSpPr>
        <p:spPr>
          <a:xfrm>
            <a:off x="349691" y="1835840"/>
            <a:ext cx="5152773" cy="2123291"/>
          </a:xfrm>
          <a:prstGeom prst="roundRect">
            <a:avLst>
              <a:gd name="adj" fmla="val 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核心功能概览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492" y="195900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</a:rPr>
              <a:t>1. 可视化绘制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492" y="237048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</a:rPr>
              <a:t>全面支持各类 UML 图表的拖拽式绘制：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52" y="2754534"/>
            <a:ext cx="4114800" cy="10972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• 静态图：用例图、类图、组件图、部署图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• 动态图：时序图、协作图、状态图、活动图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892" y="195900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</a:rPr>
              <a:t>2. 双向工程 (Round-trip)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217892" y="237048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</a:rPr>
              <a:t>Rose 最著名的“杀手锏”功能：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55052" y="2754534"/>
            <a:ext cx="4297680" cy="10972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• 正向工程：UML 模型 ➔ 自动生成代码框架。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• 逆向工程：导入现有代码 ➔ 自动生成 UML 模型。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5 / 36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8BDF8"/>
                </a:solidFill>
              </a:rPr>
              <a:t>翻转互动 Q1：建模的意义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45920"/>
            <a:ext cx="10241280" cy="3703320"/>
          </a:xfrm>
          <a:prstGeom prst="roundRect">
            <a:avLst>
              <a:gd name="adj" fmla="val 1235"/>
            </a:avLst>
          </a:prstGeom>
          <a:solidFill>
            <a:srgbClr val="4C1D95"/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45920"/>
            <a:ext cx="73152" cy="3703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92024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DD6FE"/>
                </a:solidFill>
              </a:rPr>
              <a:t>? 思考与讨论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2514600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8FAFC"/>
                </a:solidFill>
              </a:rPr>
              <a:t>“代码就是最好的文档，直接写代码不比画图快多了吗？”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3291840"/>
            <a:ext cx="9052560" cy="1600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</a:rPr>
              <a:t>请结合你过去参与的小组项目经验，反驳这种观点。在软件生命周期中，如果不使用像 Rational Rose 这样的工具进行前期建模，可能会导致哪些灾难性的后果？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BD5E1"/>
                </a:solidFill>
              </a:rPr>
              <a:t>6 / 36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4028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02. 界面布局与基本操作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88720" y="3154680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BAE6FD"/>
                </a:solidFill>
              </a:rPr>
              <a:t>工欲善其事，必先利其器：认识 Rose 的工作台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7 / 36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4"/>
          <p:cNvSpPr/>
          <p:nvPr/>
        </p:nvSpPr>
        <p:spPr>
          <a:xfrm>
            <a:off x="731496" y="2011680"/>
            <a:ext cx="5152773" cy="2123291"/>
          </a:xfrm>
          <a:prstGeom prst="roundRect">
            <a:avLst>
              <a:gd name="adj" fmla="val 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工作区拆解：三大核心窗口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492" y="1319079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</a:rPr>
              <a:t>初次打开 Rational Rose，其界面主要由三个核心区域构成，它们相互联动：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07" y="1849471"/>
            <a:ext cx="4754880" cy="24688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1. 浏览窗口 (Browser)：位于左侧，以树状结构管理系统中的所有元素（如类、用例）。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2. 图表窗口 (Diagram Window)：位于右侧主区域，是实际拖拽绘图的画布。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3. 文档窗口 (Documentation)：通常位于左下方，用于为当前选中的元素编写详细的文本注释。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8 / 36</a:t>
            </a:r>
            <a:endParaRPr lang="en-US" sz="1000" dirty="0"/>
          </a:p>
        </p:txBody>
      </p:sp>
      <p:pic>
        <p:nvPicPr>
          <p:cNvPr id="14" name="图片 13" descr="post_object_image_15872306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244" y="1319029"/>
            <a:ext cx="6048630" cy="31547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四大视图视角：Use Case &amp; Logical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</a:rPr>
              <a:t>Rose 强制采用架构设计的“4+1视图”理念，在 Browser 的根节点即可看到：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4800600" cy="1920240"/>
          </a:xfrm>
          <a:prstGeom prst="roundRect">
            <a:avLst>
              <a:gd name="adj" fmla="val 1905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066544"/>
            <a:ext cx="4471416" cy="169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1. Use Case View (用例视图)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视角：客户、业务分析师。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功能：聚焦于系统的功能需求。展示“系统能做什么”，包含用例图和系统级交互图。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920240"/>
            <a:ext cx="4800600" cy="1920240"/>
          </a:xfrm>
          <a:prstGeom prst="roundRect">
            <a:avLst>
              <a:gd name="adj" fmla="val 1905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2066544"/>
            <a:ext cx="4471416" cy="169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2. Logical View (逻辑视图)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视角：系统设计师、程序员。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功能：聚焦于词汇与功能内部设计。展现系统的内部静态逻辑结构，主要存放类图和状态图。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9 / 36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四大视图视角：Component &amp; 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4800600" cy="1965960"/>
          </a:xfrm>
          <a:prstGeom prst="roundRect">
            <a:avLst>
              <a:gd name="adj" fmla="val 186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975104"/>
            <a:ext cx="4471416" cy="1737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3. Component View (组件视图)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视角：程序员、配置管理员。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功能：聚焦于软件模块的物理组织。如源代码文件(.java/.cpp)、动态链接库(DLL)文件及其相互编译依赖关系。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4800600" cy="1965960"/>
          </a:xfrm>
          <a:prstGeom prst="roundRect">
            <a:avLst>
              <a:gd name="adj" fmla="val 186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975104"/>
            <a:ext cx="4471416" cy="1737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4. Deployment View (配置视图)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视角：系统工程师、运维人员。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功能：聚焦于系统的硬件物理拓扑。描述软件组件如何部署到实际的服务器集群、网络节点上。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10 / 36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4"/>
          <p:cNvSpPr/>
          <p:nvPr/>
        </p:nvSpPr>
        <p:spPr>
          <a:xfrm>
            <a:off x="731496" y="1325837"/>
            <a:ext cx="5152773" cy="2809134"/>
          </a:xfrm>
          <a:prstGeom prst="roundRect">
            <a:avLst>
              <a:gd name="adj" fmla="val 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建模基本流程 (1/2)：创建与绘制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4677" y="1267392"/>
            <a:ext cx="4846320" cy="2926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1. 新建项目：File -&gt; New，选择合适的框架模板（如 J2EE 或标准 C++）。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2. 选择视图：在左侧 Browser 中，右键点击对应视图（如 Logical View）。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3. 新建图表：选择 New -&gt; Class Diagram（或其他图表）。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4. 使用工具箱：注意，中间的工具栏 (Toolbox) 会随着图表类型自动切换。点击工具栏元素，再点击画布放置。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82512" y="1417320"/>
            <a:ext cx="4937760" cy="3977640"/>
          </a:xfrm>
          <a:prstGeom prst="roundRect">
            <a:avLst>
              <a:gd name="adj" fmla="val 1149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828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CBD5E1"/>
                </a:solidFill>
              </a:rPr>
              <a:t>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11 / 36</a:t>
            </a:r>
            <a:endParaRPr lang="en-US" sz="1000" dirty="0"/>
          </a:p>
        </p:txBody>
      </p:sp>
      <p:pic>
        <p:nvPicPr>
          <p:cNvPr id="11" name="图片 10" descr="post_object_image_20499740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233" y="1667810"/>
            <a:ext cx="4848225" cy="34766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建模基本流程 (2/2)：导出与发布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</a:rPr>
              <a:t>如何将图表放入 Word/PPT 中？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</a:rPr>
              <a:t>画好图表后，我们需要将其导出为文档：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800600" cy="18288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solidFill>
                  <a:srgbClr val="334155"/>
                </a:solidFill>
              </a:rPr>
              <a:t> •</a:t>
            </a:r>
            <a:r>
              <a:rPr lang="en-US" sz="1600" dirty="0">
                <a:solidFill>
                  <a:srgbClr val="334155"/>
                </a:solidFill>
              </a:rPr>
              <a:t>方法一：直接复制。框选所有元素 (Ctrl+A)，复制 (Ctrl+C)，直接粘贴到 Word 中（这是最常用且保持矢量清晰度的方法）。</a:t>
            </a:r>
            <a:endParaRPr lang="en-US" sz="1600" dirty="0"/>
          </a:p>
          <a:p>
            <a:pPr marL="0" indent="0">
              <a:buNone/>
            </a:pPr>
            <a:r>
              <a:rPr lang="en-US" altLang="zh-CN" sz="1600">
                <a:solidFill>
                  <a:srgbClr val="334155"/>
                </a:solidFill>
              </a:rPr>
              <a:t> •</a:t>
            </a:r>
            <a:r>
              <a:rPr lang="en-US" sz="1600">
                <a:solidFill>
                  <a:srgbClr val="334155"/>
                </a:solidFill>
              </a:rPr>
              <a:t>方法二：菜单栏选择 </a:t>
            </a:r>
            <a:r>
              <a:rPr lang="en-US" sz="1600" dirty="0">
                <a:solidFill>
                  <a:srgbClr val="334155"/>
                </a:solidFill>
              </a:rPr>
              <a:t>Edit </a:t>
            </a:r>
            <a:r>
              <a:rPr lang="en-US" sz="1600">
                <a:solidFill>
                  <a:srgbClr val="334155"/>
                </a:solidFill>
              </a:rPr>
              <a:t>-&gt; </a:t>
            </a:r>
            <a:r>
              <a:rPr lang="en-US" altLang="zh-CN" sz="1600">
                <a:solidFill>
                  <a:srgbClr val="334155"/>
                </a:solidFill>
              </a:rPr>
              <a:t>Copy Active</a:t>
            </a:r>
            <a:r>
              <a:rPr lang="en-US" sz="1600">
                <a:solidFill>
                  <a:srgbClr val="334155"/>
                </a:solidFill>
              </a:rPr>
              <a:t> </a:t>
            </a:r>
            <a:r>
              <a:rPr lang="en-US" sz="1600" dirty="0">
                <a:solidFill>
                  <a:srgbClr val="334155"/>
                </a:solidFill>
              </a:rPr>
              <a:t>Diagram...</a:t>
            </a:r>
            <a:r>
              <a:rPr lang="zh-CN" altLang="en-US" sz="1600" dirty="0">
                <a:solidFill>
                  <a:srgbClr val="334155"/>
                </a:solidFill>
              </a:rPr>
              <a:t>。</a:t>
            </a:r>
            <a:endParaRPr lang="en-US" sz="1600" dirty="0">
              <a:solidFill>
                <a:srgbClr val="334155"/>
              </a:solidFill>
            </a:endParaRPr>
          </a:p>
          <a:p>
            <a:pPr marL="0" indent="0">
              <a:buNone/>
            </a:pPr>
            <a:r>
              <a:rPr lang="zh-CN" altLang="en-US" sz="1600" dirty="0"/>
              <a:t> </a:t>
            </a:r>
            <a:r>
              <a:rPr lang="en-US" altLang="zh-CN" sz="1600" dirty="0"/>
              <a:t>• </a:t>
            </a:r>
            <a:r>
              <a:rPr lang="zh-CN" altLang="en-US" sz="1600" dirty="0"/>
              <a:t>方法三：</a:t>
            </a:r>
            <a:r>
              <a:rPr lang="zh-CN" altLang="en-US" sz="1600" dirty="0">
                <a:solidFill>
                  <a:schemeClr val="tx1"/>
                </a:solidFill>
              </a:rPr>
              <a:t>右键diagram</a:t>
            </a:r>
            <a:r>
              <a:rPr lang="en-US" altLang="zh-CN" sz="1600" dirty="0">
                <a:solidFill>
                  <a:schemeClr val="tx1"/>
                </a:solidFill>
              </a:rPr>
              <a:t>-&gt;print diagram</a:t>
            </a:r>
            <a:r>
              <a:rPr lang="zh-CN" altLang="en-US" sz="1600" dirty="0">
                <a:solidFill>
                  <a:schemeClr val="tx1"/>
                </a:solidFill>
              </a:rPr>
              <a:t>保存为</a:t>
            </a:r>
            <a:r>
              <a:rPr lang="en-US" altLang="zh-CN" sz="1600" dirty="0">
                <a:solidFill>
                  <a:schemeClr val="tx1"/>
                </a:solidFill>
              </a:rPr>
              <a:t>pdf</a:t>
            </a:r>
            <a:r>
              <a:rPr lang="zh-CN" altLang="en-US" sz="1600" dirty="0">
                <a:solidFill>
                  <a:schemeClr val="tx1"/>
                </a:solidFill>
              </a:rPr>
              <a:t>。</a:t>
            </a:r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577840" y="1417320"/>
            <a:ext cx="5742432" cy="4185681"/>
          </a:xfrm>
          <a:prstGeom prst="roundRect">
            <a:avLst>
              <a:gd name="adj" fmla="val 1149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12 / 36</a:t>
            </a:r>
            <a:endParaRPr lang="en-US" sz="10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4" y="1417274"/>
            <a:ext cx="3305986" cy="4082801"/>
          </a:xfrm>
          <a:prstGeom prst="rect">
            <a:avLst/>
          </a:prstGeom>
        </p:spPr>
      </p:pic>
      <p:pic>
        <p:nvPicPr>
          <p:cNvPr id="9" name="图片 8" descr="post_object_image_997601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830" y="1417274"/>
            <a:ext cx="2436408" cy="18486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8BDF8"/>
                </a:solidFill>
              </a:rPr>
              <a:t>翻转互动 Q2：视图视角的理解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45920"/>
            <a:ext cx="10241280" cy="3703320"/>
          </a:xfrm>
          <a:prstGeom prst="roundRect">
            <a:avLst>
              <a:gd name="adj" fmla="val 1235"/>
            </a:avLst>
          </a:prstGeom>
          <a:solidFill>
            <a:srgbClr val="4C1D95"/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45920"/>
            <a:ext cx="73152" cy="3703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92024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DD6FE"/>
                </a:solidFill>
              </a:rPr>
              <a:t>讲 场景匹配挑战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2514600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8FAFC"/>
                </a:solidFill>
              </a:rPr>
              <a:t>假设你们团队正在开发一个“高校图书馆管理系统”。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3291840"/>
            <a:ext cx="9052560" cy="1600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</a:rPr>
              <a:t>请问：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</a:rPr>
              <a:t>1. 向学校领导汇报系统包含哪些大功能时，应展示哪个视图下的图表？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</a:rPr>
              <a:t>2. 告诉运维人员需要买几台服务器、怎么连网时，应展示哪个视图？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BD5E1"/>
                </a:solidFill>
              </a:rPr>
              <a:t>13 / 36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4028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03. 核心建模功能实操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88720" y="3154680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BAE6FD"/>
                </a:solidFill>
              </a:rPr>
              <a:t>深度拆解最常用的 UML 图表与实战案例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14 / 36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静态建模：用例图 (Use Case Diagram)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</a:rPr>
              <a:t>界定系统的边界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764792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</a:rPr>
              <a:t>用例图描绘了系统外部的参与者与系统提供的服务之间的关系。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800600" cy="2560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Actor (角色)：触发用例的外部实体（小人图标）。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Use Case (用例)：系统提供的功能模块（椭圆图标）。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包含 (Include)：提取公共步骤。比如“借书”和“还书”都必须 &lt;&lt;include&gt;&gt; “验证读者身份”。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扩展 (Extend)：特殊情况下的附加步骤。比如“缴纳罚款”是“还书”在逾期时的 &lt;&lt;extend&gt;&gt;。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15 / 36</a:t>
            </a:r>
            <a:endParaRPr lang="en-US" sz="1000" dirty="0"/>
          </a:p>
        </p:txBody>
      </p:sp>
      <p:pic>
        <p:nvPicPr>
          <p:cNvPr id="8" name="图片 7" descr="post_object_image_38825097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536" y="1325830"/>
            <a:ext cx="5229378" cy="3836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静态建模：类图 (Class Diagram) 基础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</a:rPr>
              <a:t>面向对象设计的核心基石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764792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</a:rPr>
              <a:t>类图描述了系统的内部静态结构。在 Rose 中，双击一个 Class 节点，会弹出详细的规格设置窗口。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4800600" cy="1371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• 属性 (Attributes)：类的状态数据。可设置可见性（Public +, Private -, Protected #）。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• 方法/操作 (Operations)：类的行为函数。可以详细定义传入参数类型和返回类型。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16 / 36</a:t>
            </a:r>
            <a:endParaRPr lang="en-US" sz="1000" dirty="0"/>
          </a:p>
        </p:txBody>
      </p:sp>
      <p:pic>
        <p:nvPicPr>
          <p:cNvPr id="13" name="图片 12" descr="post_object_image_35301983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819" y="3977598"/>
            <a:ext cx="3295699" cy="2528207"/>
          </a:xfrm>
          <a:prstGeom prst="rect">
            <a:avLst/>
          </a:prstGeom>
        </p:spPr>
      </p:pic>
      <p:pic>
        <p:nvPicPr>
          <p:cNvPr id="14" name="图片 13" descr="post_object_image_4450807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383" y="1325830"/>
            <a:ext cx="5426671" cy="45282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类图的进阶关系 (Relationships)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</a:rPr>
              <a:t>理解 Rose 中类与类之间的连线是架构设计的难点：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22402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74520"/>
            <a:ext cx="21671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关系类型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90088" y="1783080"/>
            <a:ext cx="21488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26664" y="1874520"/>
            <a:ext cx="207568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Rose 图形符号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38928" y="1783080"/>
            <a:ext cx="32918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5504" y="18745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含义解释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30768" y="1783080"/>
            <a:ext cx="27889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7344" y="1874520"/>
            <a:ext cx="271576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经典案例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" y="2221992"/>
            <a:ext cx="2240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2331720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继承/泛化 (Generalization)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990088" y="2221992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35808" y="2331720"/>
            <a:ext cx="2057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实线 + 空心三角箭头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38928" y="2221992"/>
            <a:ext cx="3291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4648" y="233172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子类继承父类的特性 (is-a)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30768" y="2221992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76488" y="2331720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猫 继承自 动物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9808" y="2752344"/>
            <a:ext cx="2240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2862072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关联 (Association)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990088" y="2752344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35808" y="2862072"/>
            <a:ext cx="2057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实线 (可带普通箭头)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138928" y="2752344"/>
            <a:ext cx="3291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2862072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平等的连接关系，互相知道对方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430768" y="2752344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76488" y="2862072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老师 和 学生 的授课关系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49808" y="3282696"/>
            <a:ext cx="2240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" y="3392424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聚合 (Aggregation)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990088" y="3282696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35808" y="3392424"/>
            <a:ext cx="2057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实线 + 空心菱形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138928" y="3282696"/>
            <a:ext cx="3291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3392424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整体与部分的弱关联，部分可独立存在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430768" y="3282696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76488" y="3392424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汽车 和 轮胎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49808" y="3813048"/>
            <a:ext cx="2240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" y="3922776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组合 (Composition)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2990088" y="3813048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5808" y="3922776"/>
            <a:ext cx="2057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实线 + 实心菱形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138928" y="3813048"/>
            <a:ext cx="3291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84648" y="3922776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整体与部分的强关联，同生共死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430768" y="3813048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76488" y="3922776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鸟 和 翅膀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17 / 36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8BDF8"/>
                </a:solidFill>
              </a:rPr>
              <a:t>翻转互动 Q3：类图连线实战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45920"/>
            <a:ext cx="10241280" cy="3703320"/>
          </a:xfrm>
          <a:prstGeom prst="roundRect">
            <a:avLst>
              <a:gd name="adj" fmla="val 1235"/>
            </a:avLst>
          </a:prstGeom>
          <a:solidFill>
            <a:srgbClr val="4C1D95"/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45920"/>
            <a:ext cx="73152" cy="3703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92024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DD6FE"/>
                </a:solidFill>
              </a:rPr>
              <a:t>改 白板纠错题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2514600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8FAFC"/>
                </a:solidFill>
              </a:rPr>
              <a:t>假设我们要设计一个电商系统，包含三个类：Order(主订单)、OrderItem(订单明细项)、Product(商品)。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3291840"/>
            <a:ext cx="9052560" cy="1600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</a:rPr>
              <a:t>请问：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</a:rPr>
              <a:t>1. Order 和 OrderItem 之间应该用什么菱形（空心还是实心）连接？为什么？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</a:rPr>
              <a:t>2. OrderItem 和 Product 之间应该用什么连接线？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BD5E1"/>
                </a:solidFill>
              </a:rPr>
              <a:t>18 / 36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动态建模：时序图 (Sequence Diagram)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</a:rPr>
              <a:t>按时间流逝的消息传递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746504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如果类图是静态的骨架，时序图就是血液的流动。它按时间顺序显示对象之间的交互逻辑，是程序员写代码逻辑的直接依据。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800600" cy="18288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对象生</a:t>
            </a:r>
            <a:r>
              <a:rPr lang="zh-CN" altLang="en-US" sz="1500" dirty="0">
                <a:solidFill>
                  <a:srgbClr val="334155"/>
                </a:solidFill>
              </a:rPr>
              <a:t>命</a:t>
            </a:r>
            <a:r>
              <a:rPr lang="en-US" sz="1500" dirty="0">
                <a:solidFill>
                  <a:srgbClr val="334155"/>
                </a:solidFill>
              </a:rPr>
              <a:t>线 (Lifeline)：垂直向下延伸的虚线，表示对象的生命周期。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控制焦点 (Activation)：生命周期上的矩形块，表示对象正在执行某段代码。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消息 (Message)：对象间的横向实线箭头代表函数调用，虚线箭头代表返回值。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19 / 36</a:t>
            </a:r>
            <a:endParaRPr lang="en-US" sz="1000" dirty="0"/>
          </a:p>
        </p:txBody>
      </p:sp>
      <p:pic>
        <p:nvPicPr>
          <p:cNvPr id="13" name="图片 12" descr="post_object_image_26168640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554" y="1325830"/>
            <a:ext cx="4967491" cy="45282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动态建模：协作图 (Collaboration Diagram)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3" y="160739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</a:rPr>
              <a:t>侧重于对象的拓扑组织关系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83683" y="206459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</a:rPr>
              <a:t>协作图表达的信息与时序图完全等价，只是视角不同。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3" y="2521798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</a:rPr>
              <a:t>时序图强调“时间顺序”（自上而下），而协作图强调参与交互的各对象在空间上的“连接网络”。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92243" y="3481918"/>
            <a:ext cx="4663440" cy="1325880"/>
          </a:xfrm>
          <a:prstGeom prst="roundRect">
            <a:avLst>
              <a:gd name="adj" fmla="val 2759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5" y="3628222"/>
            <a:ext cx="4334256" cy="1097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Rose 神奇小技巧：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在 Rose 中，按 F5 键（或选择 Browse -&gt; Create Collaboration Diagram），可以将画好的时序图一键自动转换为协作图，反之亦然！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20 / 36</a:t>
            </a:r>
            <a:endParaRPr lang="en-US" sz="1000" dirty="0"/>
          </a:p>
        </p:txBody>
      </p:sp>
      <p:pic>
        <p:nvPicPr>
          <p:cNvPr id="5" name="图片 4" descr="post_object_image_32501803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92" y="1607398"/>
            <a:ext cx="5303536" cy="342049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动态建模：状态图 (Statechart Diagram)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</a:rPr>
              <a:t>描述单个复杂对象的生命周期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746504"/>
            <a:ext cx="10378452" cy="34995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</a:rPr>
              <a:t>并非所有类都需要画状态图。它主要针对那些“状态驱动”的核心实体（如：订单、审批单、电梯）。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492" y="2248131"/>
            <a:ext cx="10561323" cy="723287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</a:t>
            </a:r>
            <a:r>
              <a:rPr lang="zh-CN" altLang="en-US" sz="1500" dirty="0">
                <a:solidFill>
                  <a:srgbClr val="334155"/>
                </a:solidFill>
                <a:cs typeface="Arial" panose="020B0604020202020204" pitchFamily="34" charset="0"/>
              </a:rPr>
              <a:t>起点</a:t>
            </a:r>
            <a:r>
              <a:rPr lang="en-US" sz="1500" dirty="0">
                <a:solidFill>
                  <a:srgbClr val="334155"/>
                </a:solidFill>
              </a:rPr>
              <a:t>/</a:t>
            </a:r>
            <a:r>
              <a:rPr lang="zh-CN" altLang="en-US" sz="1500" dirty="0">
                <a:solidFill>
                  <a:srgbClr val="334155"/>
                </a:solidFill>
              </a:rPr>
              <a:t>终点</a:t>
            </a:r>
            <a:r>
              <a:rPr lang="en-US" altLang="zh-CN" sz="1500" dirty="0">
                <a:solidFill>
                  <a:srgbClr val="334155"/>
                </a:solidFill>
              </a:rPr>
              <a:t>:</a:t>
            </a:r>
            <a:r>
              <a:rPr lang="en-US" sz="1500" dirty="0">
                <a:solidFill>
                  <a:srgbClr val="334155"/>
                </a:solidFill>
              </a:rPr>
              <a:t>实心圆点表示开始，牛眼圆表示结束。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状态 (State)：圆角矩形，表示对象当前所处的情况（如：待付款、已发货）。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</a:t>
            </a:r>
            <a:r>
              <a:rPr lang="zh-CN" altLang="en-US" sz="1500" dirty="0">
                <a:solidFill>
                  <a:srgbClr val="334155"/>
                </a:solidFill>
              </a:rPr>
              <a:t>事件</a:t>
            </a:r>
            <a:r>
              <a:rPr lang="en-US" sz="1500" dirty="0">
                <a:solidFill>
                  <a:srgbClr val="334155"/>
                </a:solidFill>
              </a:rPr>
              <a:t>：箭头连接状态。上方可标注触发条件，如 [支付成功]。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21 / 36</a:t>
            </a:r>
            <a:endParaRPr lang="en-US" sz="1000" dirty="0"/>
          </a:p>
        </p:txBody>
      </p:sp>
      <p:pic>
        <p:nvPicPr>
          <p:cNvPr id="13" name="图片 12" descr="post_object_image_39673807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605" y="3103958"/>
            <a:ext cx="8534400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模型检查：Check Model 功能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</a:rPr>
              <a:t>语法与逻辑校验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</a:rPr>
              <a:t>在画图过程中，我们难免会犯一些违反 UML 语法的逻辑错误（比如：子类继承了两个不兼容的父类，或者连线方向画反了）。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</a:rPr>
              <a:t>Rational Rose 提供了自动检查工具，就像代码编译器的语法检查一样：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154680"/>
            <a:ext cx="9875520" cy="1508760"/>
          </a:xfrm>
          <a:prstGeom prst="roundRect">
            <a:avLst>
              <a:gd name="adj" fmla="val 2424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300984"/>
            <a:ext cx="9546336" cy="1280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操作步骤：菜单栏选择 Tools -&gt; Check Model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执行结果：检查完毕后，会在底部的日志窗口 (Log Window) 打印出所有的 Warning（警告）和 Error（错误），帮助我们在导出代码前提前排除隐患。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22 / 36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4028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04. 高级特性：双向工程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88720" y="3154680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BAE6FD"/>
                </a:solidFill>
              </a:rPr>
              <a:t>Rational Rose 的“杀手锏”功能实战拆解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23 / 36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什么是双向工程 (Round-trip Engineering)？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</a:rPr>
              <a:t>双向工程是传统轻量级画图工具（如 Visio、Draw.io）与企业级建模工具（如 Rose、EA）的本质区别所在。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011680"/>
            <a:ext cx="4754880" cy="1965960"/>
          </a:xfrm>
          <a:prstGeom prst="roundRect">
            <a:avLst>
              <a:gd name="adj" fmla="val 186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157984"/>
            <a:ext cx="4425696" cy="1737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正向工程 (Forward)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模型 ➔ 代码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基于绘制好的 UML 类图，一键自动生成指定语言（Java/C++）的空壳代码结构。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4754880" cy="1965960"/>
          </a:xfrm>
          <a:prstGeom prst="roundRect">
            <a:avLst>
              <a:gd name="adj" fmla="val 186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2157984"/>
            <a:ext cx="4425696" cy="1737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逆向工程 (Reverse)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代码 ➔ 模型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读取现有的庞大代码库工程，反向解析其中的类依赖关系，自动生成 UML 类图。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24 / 36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实操演示：正向工程 (Forward Engineering)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</a:rPr>
              <a:t>将设计转化为代码结构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4846320" cy="20116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1. 在 Browser 中选中要生成代码的类或包。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2. 选择 Java/C++ -&gt; Generate Code。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3. 选择生成代码存放的本地硬盘路径。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4. Rose 会根据类图中的属性、方法及其可见性，自动生成 .java 或 .cpp/.h 文件。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02454" y="3840443"/>
            <a:ext cx="1975386" cy="2025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</a:rPr>
              <a:t>注意：Rose 只能生成类的骨架（声明），无法帮你写出方法内部的业务逻辑运算代码！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25 / 36</a:t>
            </a:r>
            <a:endParaRPr lang="en-US" sz="1000" dirty="0"/>
          </a:p>
        </p:txBody>
      </p:sp>
      <p:pic>
        <p:nvPicPr>
          <p:cNvPr id="14" name="图片 13" descr="post_object_image_35795810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21" y="1122016"/>
            <a:ext cx="5280651" cy="4744114"/>
          </a:xfrm>
          <a:prstGeom prst="rect">
            <a:avLst/>
          </a:prstGeom>
        </p:spPr>
      </p:pic>
      <p:pic>
        <p:nvPicPr>
          <p:cNvPr id="15" name="图片 14" descr="post_object_image_8857680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92" y="3840443"/>
            <a:ext cx="2809363" cy="20256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实操演示：逆向工程 (Reverse Engineering)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52" y="1063986"/>
            <a:ext cx="5303520" cy="49379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</a:rPr>
              <a:t>当你接手一个没有设计文档的旧项目时，逆向工程极其有用：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806437" y="1676956"/>
            <a:ext cx="5257800" cy="17768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1. 菜单栏选择 Tools -&gt; Java/C++ -&gt; Reverse Engineer。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2. 选中本地包含源码的文件夹或 Jar 包。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3. 点击导入。Rose 会解析源码，并在左侧 Browser 中生成所有的类节点。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4. 新建一张空白类图，将 Browser 中的类拖拽上去，它们之间的关系连线会自动浮现！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26 / 36</a:t>
            </a:r>
            <a:endParaRPr lang="en-US" sz="1000" dirty="0"/>
          </a:p>
        </p:txBody>
      </p:sp>
      <p:pic>
        <p:nvPicPr>
          <p:cNvPr id="13" name="图片 12" descr="post_object_image_419133006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92" y="1028678"/>
            <a:ext cx="4514339" cy="5254565"/>
          </a:xfrm>
          <a:prstGeom prst="rect">
            <a:avLst/>
          </a:prstGeom>
        </p:spPr>
      </p:pic>
      <p:pic>
        <p:nvPicPr>
          <p:cNvPr id="14" name="图片 13" descr="post_object_image_32341991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37" y="3453788"/>
            <a:ext cx="5303536" cy="29743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代码与模型的同步意义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</a:rPr>
              <a:t>在大型企业开发中，“文档与代码脱节”是最致命的问题。往往文档写好后，程序员在编码时改了接口，却没有回去更新文档，导致文档变成废纸。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</a:rPr>
              <a:t>通过 Rational Rose 的双向同步能力，架构师可以：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788920"/>
            <a:ext cx="9966960" cy="1600200"/>
          </a:xfrm>
          <a:prstGeom prst="roundRect">
            <a:avLst>
              <a:gd name="adj" fmla="val 2286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935224"/>
            <a:ext cx="9637776" cy="1371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• 每天下班前，运行一次逆向工程比对，检查程序员写的代码架构是否偏离了最初的 UML 设计图。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• 如果在设计阶段需要大规模重构基类，可以在 Rose 中直接改图，然后重新正向工程覆盖代码骨架，大大降低重构成本。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27 / 36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8BDF8"/>
                </a:solidFill>
              </a:rPr>
              <a:t>翻转互动 Q4：逆向工程的局限性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45920"/>
            <a:ext cx="10241280" cy="3703320"/>
          </a:xfrm>
          <a:prstGeom prst="roundRect">
            <a:avLst>
              <a:gd name="adj" fmla="val 1235"/>
            </a:avLst>
          </a:prstGeom>
          <a:solidFill>
            <a:srgbClr val="4C1D95"/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45920"/>
            <a:ext cx="73152" cy="3703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92024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DD6FE"/>
                </a:solidFill>
              </a:rPr>
              <a:t>思 深度思考题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2514600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8FAFC"/>
                </a:solidFill>
              </a:rPr>
              <a:t>刚才我们提到，逆向工程可以将代码反向生成 UML 模型。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3291840"/>
            <a:ext cx="9052560" cy="1600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</a:rPr>
              <a:t>请大家思考并讨论：逆向工程通常只能准确生成静态的“类图”。为什么绝大多数建模工具都无法完美地将业务代码反向生成动态的“时序图”或“状态图”呢？这涉及到了代码解析的什么根本性难题？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BD5E1"/>
                </a:solidFill>
              </a:rPr>
              <a:t>28 / 36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4028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05. 总结、对比与思考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88720" y="3154680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BAE6FD"/>
                </a:solidFill>
              </a:rPr>
              <a:t>跳出工具看工具，探讨企业架构设计的未来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29 / 36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工具对比表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101498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</a:rPr>
              <a:t>当今市场上建模工具百花齐放，Rational Rose 已经不是唯一的选择：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18288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7452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特性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78608" y="1783080"/>
            <a:ext cx="26060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15184" y="1874520"/>
            <a:ext cx="253288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Rational Rose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84648" y="1783080"/>
            <a:ext cx="2743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21224" y="1874520"/>
            <a:ext cx="267004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StarUML / EA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27848" y="1783080"/>
            <a:ext cx="28346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64424" y="1874520"/>
            <a:ext cx="276148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PlantUML (代码即图)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" y="2221992"/>
            <a:ext cx="1828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2331720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定位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2578608" y="2221992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2331720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重量级、严谨、企业级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5184648" y="2221992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2331720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轻量/中量级、现代 UI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927848" y="2221992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73568" y="233172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极客风、文本转图表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749808" y="2752344"/>
            <a:ext cx="1828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2862072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跨平台性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2578608" y="2752344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24328" y="2862072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极弱 (以旧版 Windows 为主)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5184648" y="2752344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2862072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较强 (支持 Mac/Linux)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7927848" y="2752344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73568" y="286207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极强 (IDE 插件跨平台)</a:t>
            </a:r>
            <a:endParaRPr lang="en-US" sz="1230" dirty="0"/>
          </a:p>
        </p:txBody>
      </p:sp>
      <p:sp>
        <p:nvSpPr>
          <p:cNvPr id="30" name="Shape 28"/>
          <p:cNvSpPr/>
          <p:nvPr/>
        </p:nvSpPr>
        <p:spPr>
          <a:xfrm>
            <a:off x="749808" y="3282696"/>
            <a:ext cx="1828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" y="339242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双向工程</a:t>
            </a:r>
            <a:endParaRPr lang="en-US" sz="1230" dirty="0"/>
          </a:p>
        </p:txBody>
      </p:sp>
      <p:sp>
        <p:nvSpPr>
          <p:cNvPr id="32" name="Shape 30"/>
          <p:cNvSpPr/>
          <p:nvPr/>
        </p:nvSpPr>
        <p:spPr>
          <a:xfrm>
            <a:off x="2578608" y="3282696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24328" y="3392424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非常强大且严谨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5184648" y="3282696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92424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支持，但深度视插件而定</a:t>
            </a:r>
            <a:endParaRPr lang="en-US" sz="1230" dirty="0"/>
          </a:p>
        </p:txBody>
      </p:sp>
      <p:sp>
        <p:nvSpPr>
          <p:cNvPr id="36" name="Shape 34"/>
          <p:cNvSpPr/>
          <p:nvPr/>
        </p:nvSpPr>
        <p:spPr>
          <a:xfrm>
            <a:off x="7927848" y="3282696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339242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不支持（仅单向绘图）</a:t>
            </a:r>
            <a:endParaRPr lang="en-US" sz="1230" dirty="0"/>
          </a:p>
        </p:txBody>
      </p:sp>
      <p:sp>
        <p:nvSpPr>
          <p:cNvPr id="38" name="Shape 36"/>
          <p:cNvSpPr/>
          <p:nvPr/>
        </p:nvSpPr>
        <p:spPr>
          <a:xfrm>
            <a:off x="749808" y="3813048"/>
            <a:ext cx="1828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" y="3922776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版本控制</a:t>
            </a:r>
            <a:endParaRPr lang="en-US" sz="1230" dirty="0"/>
          </a:p>
        </p:txBody>
      </p:sp>
      <p:sp>
        <p:nvSpPr>
          <p:cNvPr id="40" name="Shape 38"/>
          <p:cNvSpPr/>
          <p:nvPr/>
        </p:nvSpPr>
        <p:spPr>
          <a:xfrm>
            <a:off x="2578608" y="3813048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24328" y="3922776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二进制文件，较难合并</a:t>
            </a:r>
            <a:endParaRPr lang="en-US" sz="1230" dirty="0"/>
          </a:p>
        </p:txBody>
      </p:sp>
      <p:sp>
        <p:nvSpPr>
          <p:cNvPr id="42" name="Shape 40"/>
          <p:cNvSpPr/>
          <p:nvPr/>
        </p:nvSpPr>
        <p:spPr>
          <a:xfrm>
            <a:off x="5184648" y="381304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30368" y="3922776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部分支持 XML 导出合并</a:t>
            </a:r>
            <a:endParaRPr lang="en-US" sz="1230" dirty="0"/>
          </a:p>
        </p:txBody>
      </p:sp>
      <p:sp>
        <p:nvSpPr>
          <p:cNvPr id="44" name="Shape 42"/>
          <p:cNvSpPr/>
          <p:nvPr/>
        </p:nvSpPr>
        <p:spPr>
          <a:xfrm>
            <a:off x="7927848" y="3813048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73568" y="3922776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纯文本，完美融入 Git</a:t>
            </a:r>
            <a:endParaRPr lang="en-US" sz="1230" dirty="0"/>
          </a:p>
        </p:txBody>
      </p:sp>
      <p:sp>
        <p:nvSpPr>
          <p:cNvPr id="46" name="Text 44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30 / 36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84C7"/>
                </a:solidFill>
              </a:rPr>
              <a:t>优缺点总结：理性看待经典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</a:rPr>
              <a:t>核心优点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754880" cy="19202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• 语法严密性：对 UML 规范的支持最为严谨，能强迫你养成正规的设计思维。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• 双向工程：能够驾驭百万级代码工程的模型/代码互转。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• 架构级视角：提供从宏观系统拓扑到微观类方法的完整生命周期管理。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0" y="15087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F4444"/>
                </a:solidFill>
              </a:rPr>
              <a:t>明显缺点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4663440" cy="19202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• 界面极其过时：UI 交互停留在 Windows 2000 时代，体验不佳。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• 太“重”：安装包庞大，系统配置繁琐，占用资源高。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• 协同不便：在如今强调云端协同、网页化编辑的时代，单机版的 Rose 显得格格不入。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31 / 36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8BDF8"/>
                </a:solidFill>
              </a:rPr>
              <a:t>翻转互动 Q5：敏捷时代的终极辩论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45920"/>
            <a:ext cx="10241280" cy="3703320"/>
          </a:xfrm>
          <a:prstGeom prst="roundRect">
            <a:avLst>
              <a:gd name="adj" fmla="val 1235"/>
            </a:avLst>
          </a:prstGeom>
          <a:solidFill>
            <a:srgbClr val="4C1D95"/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45920"/>
            <a:ext cx="73152" cy="3703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92024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7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DD6FE"/>
                </a:solidFill>
              </a:rPr>
              <a:t>辩</a:t>
            </a:r>
            <a:r>
              <a:rPr lang="en-US" sz="2400" b="1" dirty="0">
                <a:solidFill>
                  <a:srgbClr val="DDD6FE"/>
                </a:solidFill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DDD6FE"/>
                </a:solidFill>
              </a:rPr>
              <a:t>课堂终极探讨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2514600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8FAFC"/>
                </a:solidFill>
              </a:rPr>
              <a:t>敏捷开发（Agile）宣言提出：“工作的软件高于详尽的文档”。目前很多互联网大厂的快速迭代团队甚至连画图的时间都没有，直接上手写代码验证业务。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3291840"/>
            <a:ext cx="9052560" cy="1600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</a:rPr>
              <a:t>请问：在这种强调“快”和“拥抱变化”的敏捷时代背景下，像 Rational Rose 这种必须预先进行“重型建模”的理念，是不是彻底过时了？这种工具在今天还有没有存在的价值？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</a:rPr>
              <a:t>（提示：可以从“试错成本低的前端项目”与“不容有失的银行/航天底层系统”两方面对比思考）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BD5E1"/>
                </a:solidFill>
              </a:rPr>
              <a:t>32 / 36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54680" y="2011680"/>
            <a:ext cx="585216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F172A"/>
                </a:solidFill>
              </a:rPr>
              <a:t>Q &amp; 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148840" y="32461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</a:rPr>
              <a:t>感谢各位同学的聆听与互动！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33 / 36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0284C7"/>
                </a:solidFill>
              </a:rPr>
              <a:t>参考文献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3</a:t>
            </a:r>
            <a:r>
              <a:rPr lang="en-US" altLang="zh-CN" sz="1000" b="1" dirty="0">
                <a:solidFill>
                  <a:srgbClr val="94A3B8"/>
                </a:solidFill>
                <a:cs typeface="Arial" panose="020B0604020202020204" pitchFamily="34" charset="0"/>
              </a:rPr>
              <a:t>4</a:t>
            </a:r>
            <a:r>
              <a:rPr lang="en-US" sz="1000" b="1" dirty="0">
                <a:solidFill>
                  <a:srgbClr val="94A3B8"/>
                </a:solidFill>
              </a:rPr>
              <a:t> / 36</a:t>
            </a:r>
            <a:endParaRPr lang="en-US" sz="1000" dirty="0"/>
          </a:p>
        </p:txBody>
      </p:sp>
      <p:sp>
        <p:nvSpPr>
          <p:cNvPr id="10" name="Text 4"/>
          <p:cNvSpPr/>
          <p:nvPr/>
        </p:nvSpPr>
        <p:spPr>
          <a:xfrm>
            <a:off x="792269" y="1865461"/>
            <a:ext cx="10607071" cy="312703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dirty="0"/>
              <a:t>[1]吕云翔,赵天宇. </a:t>
            </a:r>
            <a:r>
              <a:rPr lang="en-US" altLang="zh-CN" sz="1600" dirty="0"/>
              <a:t>UML</a:t>
            </a:r>
            <a:r>
              <a:rPr lang="zh-CN" altLang="en-US" sz="1600" dirty="0"/>
              <a:t>与</a:t>
            </a:r>
            <a:r>
              <a:rPr lang="en-US" altLang="zh-CN" sz="1600" dirty="0"/>
              <a:t>Rose</a:t>
            </a:r>
            <a:r>
              <a:rPr lang="zh-CN" altLang="en-US" sz="1600" dirty="0"/>
              <a:t>建模实用教程[</a:t>
            </a:r>
            <a:r>
              <a:rPr lang="en-US" altLang="zh-CN" sz="1600" dirty="0"/>
              <a:t>M]. </a:t>
            </a:r>
            <a:r>
              <a:rPr lang="zh-CN" altLang="en-US" sz="1600" dirty="0"/>
              <a:t>人民邮电出版社: 202405: 269.</a:t>
            </a:r>
          </a:p>
          <a:p>
            <a:pPr marL="0" indent="0">
              <a:buNone/>
            </a:pPr>
            <a:endParaRPr lang="zh-CN" altLang="en-US" sz="1600" dirty="0"/>
          </a:p>
          <a:p>
            <a:pPr marL="0" indent="0">
              <a:buNone/>
            </a:pPr>
            <a:r>
              <a:rPr lang="zh-CN" altLang="en-US" sz="1600" dirty="0"/>
              <a:t>[2]戴莉萍,王文乐. </a:t>
            </a:r>
            <a:r>
              <a:rPr lang="en-US" altLang="zh-CN" sz="1600" dirty="0"/>
              <a:t>UML</a:t>
            </a:r>
            <a:r>
              <a:rPr lang="zh-CN" altLang="en-US" sz="1600" dirty="0"/>
              <a:t>实验中点放式建模与编程式建模探讨 [</a:t>
            </a:r>
            <a:r>
              <a:rPr lang="en-US" altLang="zh-CN" sz="1600" dirty="0"/>
              <a:t>J]. </a:t>
            </a:r>
            <a:r>
              <a:rPr lang="zh-CN" altLang="en-US" sz="1600" dirty="0"/>
              <a:t>软件导刊, 2021, 20 (08): 221-225.</a:t>
            </a:r>
          </a:p>
          <a:p>
            <a:pPr marL="0" indent="0">
              <a:buNone/>
            </a:pPr>
            <a:endParaRPr lang="zh-CN" altLang="en-US" sz="1600" dirty="0"/>
          </a:p>
          <a:p>
            <a:pPr marL="0" indent="0">
              <a:buNone/>
            </a:pPr>
            <a:r>
              <a:rPr lang="zh-CN" altLang="en-US" sz="1600" dirty="0"/>
              <a:t>[3]郎云海. </a:t>
            </a:r>
            <a:r>
              <a:rPr lang="en-US" altLang="zh-CN" sz="1600" dirty="0"/>
              <a:t>UML</a:t>
            </a:r>
            <a:r>
              <a:rPr lang="zh-CN" altLang="en-US" sz="1600" dirty="0"/>
              <a:t>开发工具的对比 [</a:t>
            </a:r>
            <a:r>
              <a:rPr lang="en-US" altLang="zh-CN" sz="1600" dirty="0"/>
              <a:t>J]. </a:t>
            </a:r>
            <a:r>
              <a:rPr lang="zh-CN" altLang="en-US" sz="1600" dirty="0"/>
              <a:t>通讯世界, 2019, 26 (04): 37-38.</a:t>
            </a:r>
          </a:p>
          <a:p>
            <a:pPr marL="0" indent="0">
              <a:buNone/>
            </a:pPr>
            <a:endParaRPr lang="zh-CN" altLang="en-US" sz="1600" dirty="0"/>
          </a:p>
          <a:p>
            <a:pPr marL="0" indent="0">
              <a:buNone/>
            </a:pPr>
            <a:r>
              <a:rPr lang="zh-CN" altLang="en-US" sz="1600" dirty="0"/>
              <a:t>[4]刘秋香,刘振伟. 浅析几款主流的</a:t>
            </a:r>
            <a:r>
              <a:rPr lang="en-US" altLang="zh-CN" sz="1600" dirty="0"/>
              <a:t>UML</a:t>
            </a:r>
            <a:r>
              <a:rPr lang="zh-CN" altLang="en-US" sz="1600" dirty="0"/>
              <a:t>建模工具 [</a:t>
            </a:r>
            <a:r>
              <a:rPr lang="en-US" altLang="zh-CN" sz="1600" dirty="0"/>
              <a:t>J]. </a:t>
            </a:r>
            <a:r>
              <a:rPr lang="zh-CN" altLang="en-US" sz="1600" dirty="0"/>
              <a:t>电脑知识与技术, 2018, 14 (32): 245+253. </a:t>
            </a:r>
            <a:r>
              <a:rPr lang="en-US" altLang="zh-CN" sz="1600" dirty="0"/>
              <a:t>DOI:10.14004/j.cnki.ckt.2018.3820.</a:t>
            </a:r>
          </a:p>
          <a:p>
            <a:pPr marL="0" indent="0">
              <a:buNone/>
            </a:pP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[5]张景峰,王丽芬,胡晓红. 基于</a:t>
            </a:r>
            <a:r>
              <a:rPr lang="en-US" altLang="zh-CN" sz="1600" dirty="0"/>
              <a:t>UML</a:t>
            </a:r>
            <a:r>
              <a:rPr lang="zh-CN" altLang="en-US" sz="1600" dirty="0"/>
              <a:t>与</a:t>
            </a:r>
            <a:r>
              <a:rPr lang="en-US" altLang="zh-CN" sz="1600" dirty="0"/>
              <a:t>Rose</a:t>
            </a:r>
            <a:r>
              <a:rPr lang="zh-CN" altLang="en-US" sz="1600" dirty="0"/>
              <a:t>的面向对象的软件建模研究 [</a:t>
            </a:r>
            <a:r>
              <a:rPr lang="en-US" altLang="zh-CN" sz="1600" dirty="0"/>
              <a:t>J]. </a:t>
            </a:r>
            <a:r>
              <a:rPr lang="zh-CN" altLang="en-US" sz="1600" dirty="0"/>
              <a:t>电脑知识与技术, 2017, 13 (12): 74-75. </a:t>
            </a:r>
            <a:r>
              <a:rPr lang="en-US" altLang="zh-CN" sz="1600" dirty="0"/>
              <a:t>DOI:10.14004/j.cnki.ckt.2017.1428.</a:t>
            </a:r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0284C7"/>
                </a:solidFill>
              </a:rPr>
              <a:t>小组分工与评价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329184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09960" y="642823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</a:rPr>
              <a:t>3</a:t>
            </a:r>
            <a:r>
              <a:rPr lang="en-US" sz="1000" b="1" dirty="0">
                <a:solidFill>
                  <a:srgbClr val="94A3B8"/>
                </a:solidFill>
                <a:cs typeface="Arial" panose="020B0604020202020204" pitchFamily="34" charset="0"/>
              </a:rPr>
              <a:t>5</a:t>
            </a:r>
            <a:r>
              <a:rPr lang="en-US" sz="1000" b="1" dirty="0">
                <a:solidFill>
                  <a:srgbClr val="94A3B8"/>
                </a:solidFill>
              </a:rPr>
              <a:t> / 36</a:t>
            </a:r>
            <a:endParaRPr lang="en-US" sz="1000" dirty="0"/>
          </a:p>
        </p:txBody>
      </p:sp>
      <p:graphicFrame>
        <p:nvGraphicFramePr>
          <p:cNvPr id="10" name="表格 9"/>
          <p:cNvGraphicFramePr/>
          <p:nvPr/>
        </p:nvGraphicFramePr>
        <p:xfrm>
          <a:off x="731492" y="2286000"/>
          <a:ext cx="1060704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1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7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8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小组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成员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2E6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分工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2E6E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评分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2E6E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林立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ppt</a:t>
                      </a:r>
                      <a:r>
                        <a:rPr lang="zh-CN" altLang="en-US"/>
                        <a:t>制作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97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林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永翔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ppt</a:t>
                      </a:r>
                      <a:r>
                        <a:rPr lang="zh-CN" altLang="en-US"/>
                        <a:t>优化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r>
                        <a:rPr lang="en-US" altLang="zh-CN">
                          <a:cs typeface="Arial" panose="020B0604020202020204" pitchFamily="34" charset="0"/>
                        </a:rPr>
                        <a:t>5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李烨斌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ppt</a:t>
                      </a:r>
                      <a:r>
                        <a:rPr lang="zh-CN" altLang="en-US"/>
                        <a:t>制作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r>
                        <a:rPr lang="en-US" altLang="zh-CN">
                          <a:cs typeface="Arial" panose="020B0604020202020204" pitchFamily="34" charset="0"/>
                        </a:rPr>
                        <a:t>8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李子骏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ppt</a:t>
                      </a:r>
                      <a:r>
                        <a:rPr lang="zh-CN" altLang="en-US"/>
                        <a:t>制作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罗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树</a:t>
                      </a:r>
                      <a:r>
                        <a:rPr lang="zh-CN" altLang="en-US"/>
                        <a:t>敏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ppt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演讲稿编写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r>
                        <a:rPr lang="en-US" altLang="zh-CN">
                          <a:cs typeface="Arial" panose="020B0604020202020204" pitchFamily="34" charset="0"/>
                        </a:rPr>
                        <a:t>4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蜜橘橙">
      <a:dk1>
        <a:srgbClr val="000000"/>
      </a:dk1>
      <a:lt1>
        <a:srgbClr val="FFFFFF"/>
      </a:lt1>
      <a:dk2>
        <a:srgbClr val="4D2900"/>
      </a:dk2>
      <a:lt2>
        <a:srgbClr val="FFF6EB"/>
      </a:lt2>
      <a:accent1>
        <a:srgbClr val="F58300"/>
      </a:accent1>
      <a:accent2>
        <a:srgbClr val="F59300"/>
      </a:accent2>
      <a:accent3>
        <a:srgbClr val="F5A300"/>
      </a:accent3>
      <a:accent4>
        <a:srgbClr val="F5B400"/>
      </a:accent4>
      <a:accent5>
        <a:srgbClr val="F5C400"/>
      </a:accent5>
      <a:accent6>
        <a:srgbClr val="F5D400"/>
      </a:accent6>
      <a:hlink>
        <a:srgbClr val="8F4C00"/>
      </a:hlink>
      <a:folHlink>
        <a:srgbClr val="64492B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1821</Words>
  <Application>Microsoft Office PowerPoint</Application>
  <PresentationFormat>宽屏</PresentationFormat>
  <Paragraphs>321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1" baseType="lpstr">
      <vt:lpstr>微软雅黑</vt:lpstr>
      <vt:lpstr>Arial</vt:lpstr>
      <vt:lpstr>Impact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 工具：Rational Rose 翻转课堂实战</dc:title>
  <dc:subject>PptxGenJS Presentation</dc:subject>
  <dc:creator>OpenAI</dc:creator>
  <cp:lastModifiedBy>子骏 李</cp:lastModifiedBy>
  <cp:revision>1</cp:revision>
  <dcterms:created xsi:type="dcterms:W3CDTF">2026-03-29T09:48:35Z</dcterms:created>
  <dcterms:modified xsi:type="dcterms:W3CDTF">2026-03-29T09:54:50Z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EF32DE42A83CCB5685D7C86904369D87_42</vt:lpwstr>
  </property>
  <property fmtid="{D5CDD505-2E9C-101B-9397-08002B2CF9AE}" pid="3" name="KSOProductBuildVer">
    <vt:lpwstr>2052-12.9.0.25853</vt:lpwstr>
  </property>
</Properties>
</file>